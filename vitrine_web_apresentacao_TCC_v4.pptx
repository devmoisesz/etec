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emf" ContentType="image/x-emf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charts/chart3.xml" ContentType="application/vnd.openxmlformats-officedocument.drawingml.chart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70" r:id="rId3"/>
    <p:sldId id="257" r:id="rId4"/>
    <p:sldId id="260" r:id="rId5"/>
    <p:sldId id="267" r:id="rId6"/>
    <p:sldId id="274" r:id="rId7"/>
    <p:sldId id="261" r:id="rId8"/>
    <p:sldId id="266" r:id="rId9"/>
    <p:sldId id="268" r:id="rId10"/>
    <p:sldId id="263" r:id="rId11"/>
    <p:sldId id="264" r:id="rId12"/>
    <p:sldId id="272" r:id="rId13"/>
    <p:sldId id="273" r:id="rId1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0000"/>
    <a:srgbClr val="8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85" d="100"/>
          <a:sy n="85" d="100"/>
        </p:scale>
        <p:origin x="1554" y="96"/>
      </p:cViewPr>
      <p:guideLst>
        <p:guide orient="horz" pos="221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tableStyles" Target="tableStyles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Número de respostas</c:f>
              <c:strCache>
                <c:ptCount val="1"/>
                <c:pt idx="0">
                  <c:v>Número de respostas</c:v>
                </c:pt>
              </c:strCache>
            </c:strRef>
          </c:tx>
          <c:spPr>
            <a:solidFill>
              <a:srgbClr val="BD0000"/>
            </a:solidFill>
          </c:spPr>
          <c:invertIfNegative val="0"/>
          <c:dLbls>
            <c:numFmt formatCode="ge\ryy\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pt-BR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  <c15:leaderLines/>
              </c:ext>
            </c:extLst>
          </c:dLbls>
          <c:cat>
            <c:strRef>
              <c:f>'Chart Data'!$A$2:$A$3</c:f>
              <c:strCache>
                <c:ptCount val="2"/>
                <c:pt idx="0">
                  <c:v>Não</c:v>
                </c:pt>
                <c:pt idx="1">
                  <c:v>Sim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</c:v>
                </c:pt>
                <c:pt idx="1">
                  <c:v>21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\ryy\l" sourceLinked="1"/>
        <c:majorTickMark val="none"/>
        <c:minorTickMark val="none"/>
        <c:tickLblPos val="nextTo"/>
        <c:spPr>
          <a:ln w="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pt-BR" sz="1350" b="0" i="0" u="none" strike="noStrike" kern="1200" baseline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24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pt-BR" sz="1350" b="0" i="0" u="none" strike="noStrike" kern="1200" baseline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plotVisOnly val="1"/>
    <c:dispBlanksAs val="gap"/>
    <c:showDLblsOverMax val="0"/>
  </c:chart>
  <c:spPr>
    <a:solidFill>
      <a:srgbClr val="FFFFFF"/>
    </a:solidFill>
    <a:ln w="0">
      <a:noFill/>
    </a:ln>
  </c:spPr>
  <c:txPr>
    <a:bodyPr/>
    <a:lstStyle/>
    <a:p>
      <a:pPr>
        <a:defRPr lang="pt-BR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Número de respostas</c:f>
              <c:strCache>
                <c:ptCount val="1"/>
                <c:pt idx="0">
                  <c:v>Número de respostas</c:v>
                </c:pt>
              </c:strCache>
            </c:strRef>
          </c:tx>
          <c:spPr>
            <a:solidFill>
              <a:srgbClr val="BD0000"/>
            </a:solidFill>
          </c:spPr>
          <c:invertIfNegative val="0"/>
          <c:dLbls>
            <c:numFmt formatCode="ge\ryy\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pt-BR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  <c15:leaderLines/>
              </c:ext>
            </c:extLst>
          </c:dLbls>
          <c:cat>
            <c:strRef>
              <c:f>'Chart Data'!$A$2:$A$3</c:f>
              <c:strCache>
                <c:ptCount val="2"/>
                <c:pt idx="0">
                  <c:v>Sim, atrapalha</c:v>
                </c:pt>
                <c:pt idx="1">
                  <c:v>Não atrapalha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4</c:v>
                </c:pt>
                <c:pt idx="1">
                  <c:v>18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\ryy\l" sourceLinked="1"/>
        <c:majorTickMark val="none"/>
        <c:minorTickMark val="none"/>
        <c:tickLblPos val="nextTo"/>
        <c:spPr>
          <a:ln w="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pt-BR" sz="1350" b="0" i="0" u="none" strike="noStrike" kern="1200" baseline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24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pt-BR" sz="1350" b="0" i="0" u="none" strike="noStrike" kern="1200" baseline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plotVisOnly val="1"/>
    <c:dispBlanksAs val="gap"/>
    <c:showDLblsOverMax val="0"/>
  </c:chart>
  <c:spPr>
    <a:solidFill>
      <a:srgbClr val="FFFFFF"/>
    </a:solidFill>
    <a:ln w="0">
      <a:noFill/>
    </a:ln>
  </c:spPr>
  <c:txPr>
    <a:bodyPr/>
    <a:lstStyle/>
    <a:p>
      <a:pPr>
        <a:defRPr lang="pt-BR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Número de respostas</c:f>
              <c:strCache>
                <c:ptCount val="1"/>
                <c:pt idx="0">
                  <c:v>Número de respostas</c:v>
                </c:pt>
              </c:strCache>
            </c:strRef>
          </c:tx>
          <c:spPr>
            <a:solidFill>
              <a:srgbClr val="BD0000"/>
            </a:solidFill>
          </c:spPr>
          <c:invertIfNegative val="0"/>
          <c:dLbls>
            <c:numFmt formatCode="ge\ryy\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pt-BR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  <c15:leaderLines/>
              </c:ext>
            </c:extLst>
          </c:dLbls>
          <c:cat>
            <c:strRef>
              <c:f>'Chart Data'!$A$2:$A$5</c:f>
              <c:strCache>
                <c:ptCount val="4"/>
                <c:pt idx="0">
                  <c:v>Outros</c:v>
                </c:pt>
                <c:pt idx="1">
                  <c:v>Falta de confiança</c:v>
                </c:pt>
                <c:pt idx="2">
                  <c:v>Não poder experimentar</c:v>
                </c:pt>
                <c:pt idx="3">
                  <c:v>Incerteza do tamanho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2</c:v>
                </c:pt>
                <c:pt idx="1">
                  <c:v>5</c:v>
                </c:pt>
                <c:pt idx="2">
                  <c:v>6</c:v>
                </c:pt>
                <c:pt idx="3">
                  <c:v>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\ryy\l" sourceLinked="1"/>
        <c:majorTickMark val="none"/>
        <c:minorTickMark val="none"/>
        <c:tickLblPos val="nextTo"/>
        <c:spPr>
          <a:ln w="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pt-BR" sz="1350" b="0" i="0" u="none" strike="noStrike" kern="1200" baseline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1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pt-BR" sz="1350" b="0" i="0" u="none" strike="noStrike" kern="1200" baseline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plotVisOnly val="1"/>
    <c:dispBlanksAs val="gap"/>
    <c:showDLblsOverMax val="0"/>
  </c:chart>
  <c:spPr>
    <a:solidFill>
      <a:srgbClr val="FFFFFF"/>
    </a:solidFill>
    <a:ln w="0">
      <a:noFill/>
    </a:ln>
  </c:spPr>
  <c:txPr>
    <a:bodyPr/>
    <a:lstStyle/>
    <a:p>
      <a:pPr>
        <a:defRPr lang="pt-BR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  <a:p>
            <a:endParaRPr lang="en-US"/>
          </a:p>
        </p:txBody>
      </p:sp>
      <p:sp>
        <p:nvSpPr>
          <p:cNvPr id="3" name="Espaço Reservado para Data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/>
          <a:p>
            <a:r>
              <a:rPr lang="en-US"/>
              <a:t>*</a:t>
            </a:r>
          </a:p>
        </p:txBody>
      </p:sp>
      <p:sp>
        <p:nvSpPr>
          <p:cNvPr id="4" name="Espaço reservado para imagem do slide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  <a:p>
            <a:endParaRPr lang="en-US"/>
          </a:p>
        </p:txBody>
      </p:sp>
      <p:sp>
        <p:nvSpPr>
          <p:cNvPr id="5" name="Espaço reservado para notas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altLang="en-US"/>
              <a:t>Clique para editar os estilos de texto mestre</a:t>
            </a:r>
            <a:endParaRPr lang="en-US"/>
          </a:p>
          <a:p>
            <a:pPr lvl="1"/>
            <a:r>
              <a:rPr lang="pt-BR" altLang="en-US"/>
              <a:t>Segundo nível</a:t>
            </a:r>
            <a:endParaRPr lang="en-US"/>
          </a:p>
          <a:p>
            <a:pPr lvl="2"/>
            <a:r>
              <a:rPr lang="pt-BR" altLang="en-US"/>
              <a:t>Terceiro nível</a:t>
            </a:r>
            <a:endParaRPr lang="en-US"/>
          </a:p>
          <a:p>
            <a:pPr lvl="3"/>
            <a:r>
              <a:rPr lang="pt-BR" altLang="en-US"/>
              <a:t>Quarto nível</a:t>
            </a:r>
            <a:endParaRPr lang="en-US"/>
          </a:p>
          <a:p>
            <a:pPr lvl="4"/>
            <a:r>
              <a:rPr lang="pt-BR" altLang="en-US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  <a:p>
            <a:endParaRPr lang="en-US"/>
          </a:p>
        </p:txBody>
      </p:sp>
      <p:sp>
        <p:nvSpPr>
          <p:cNvPr id="7" name="Espaço reservado para o número do slide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/>
          <a:p>
            <a:r>
              <a:rPr lang="en-US"/>
              <a:t>#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ço Reservado para Texto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Apresentar o grupo e a Vitrine Web, um catálogo digital para lojas locais. Integrantes em ordem alfabética, conforme nomes fornecidos pelo grupo.</a:t>
            </a:r>
          </a:p>
        </p:txBody>
      </p:sp>
      <p:sp>
        <p:nvSpPr>
          <p:cNvPr id="4" name="Espaço reservado para o número do slid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ço Reservado para Texto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fld id="{1F49F4D1-D57C-43B5-BDEA-10178D6C7921}" type="slidenum">
              <a:t>‹#›</a:t>
            </a:fld>
          </a:p>
        </p:txBody>
      </p:sp>
      <p:sp>
        <p:nvSpPr>
          <p:cNvPr id="4" name="Espaço reservado para o número do slid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ço Reservado para Texto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fld id="{2C9F487F-44D8-4B7A-BFF7-F2C40169783E}" type="slidenum">
              <a:t>‹#›</a:t>
            </a:fld>
          </a:p>
        </p:txBody>
      </p:sp>
      <p:sp>
        <p:nvSpPr>
          <p:cNvPr id="4" name="Espaço reservado para o número do slid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ço Reservado para Texto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fld id="{B3335888-3EE2-4BEB-A3A8-F1D8149BCE59}" type="slidenum">
              <a:t>‹#›</a:t>
            </a:fld>
          </a:p>
        </p:txBody>
      </p:sp>
      <p:sp>
        <p:nvSpPr>
          <p:cNvPr id="4" name="Espaço reservado para o número do slid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ço Reservado para Texto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fld id="{D91A326F-F6F9-468D-A1A8-81A62607A085}" type="slidenum">
              <a:t>‹#›</a:t>
            </a:fld>
          </a:p>
        </p:txBody>
      </p:sp>
      <p:sp>
        <p:nvSpPr>
          <p:cNvPr id="4" name="Espaço reservado para o número do slid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ço Reservado para Texto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fld id="{0D42DBBE-8022-4B6E-9CAC-F946D7428FE8}" type="slidenum">
              <a:t>‹#›</a:t>
            </a:fld>
          </a:p>
        </p:txBody>
      </p:sp>
      <p:sp>
        <p:nvSpPr>
          <p:cNvPr id="4" name="Espaço reservado para o número do slid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ço Reservado para Texto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fld id="{7B226321-E2F5-4F4C-800A-B1794FEBD0EF}" type="slidenum">
              <a:t>‹#›</a:t>
            </a:fld>
          </a:p>
        </p:txBody>
      </p:sp>
      <p:sp>
        <p:nvSpPr>
          <p:cNvPr id="4" name="Espaço reservado para o número do slid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ço Reservado para Texto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fld id="{0D42DBBE-8022-4B6E-9CAC-F946D7428FE8}" type="slidenum">
              <a:t>‹#›</a:t>
            </a:fld>
          </a:p>
        </p:txBody>
      </p:sp>
      <p:sp>
        <p:nvSpPr>
          <p:cNvPr id="4" name="Espaço reservado para o número do slid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ço Reservado para Texto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fld id="{A6F41B08-B7DF-4B48-A923-A75C03765793}" type="slidenum">
              <a:t>‹#›</a:t>
            </a:fld>
          </a:p>
        </p:txBody>
      </p:sp>
      <p:sp>
        <p:nvSpPr>
          <p:cNvPr id="4" name="Espaço reservado para o número do slid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ço Reservado para Texto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fld id="{CD5A3B75-9901-4B35-8847-3ADEAB7B1E12}" type="slidenum">
              <a:t>‹#›</a:t>
            </a:fld>
          </a:p>
        </p:txBody>
      </p:sp>
      <p:sp>
        <p:nvSpPr>
          <p:cNvPr id="4" name="Espaço reservado para o número do slid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ço Reservado para Texto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fld id="{1B510531-59AF-42BC-A325-31D2165F8360}" type="slidenum">
              <a:t>‹#›</a:t>
            </a:fld>
          </a:p>
        </p:txBody>
      </p:sp>
      <p:sp>
        <p:nvSpPr>
          <p:cNvPr id="4" name="Espaço reservado para o número do slid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ço reservado para texto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Espaço reservado para o número do slid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2D8AE207-1366-4601-84DC-1BC4E18313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 noEditPoints="1"/>
          </p:cNvSpPr>
          <p:nvPr>
            <p:ph type="title"/>
          </p:nvPr>
        </p:nvSpPr>
        <p:spPr>
          <a:xfrm>
            <a:off x="41109" y="188168"/>
            <a:ext cx="7951712" cy="925563"/>
          </a:xfrm>
        </p:spPr>
        <p:txBody>
          <a:bodyPr>
            <a:noAutofit/>
          </a:bodyPr>
          <a:lstStyle>
            <a:lvl1pPr algn="l">
              <a:defRPr sz="4000" b="1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 noEditPoints="1"/>
          </p:cNvSpPr>
          <p:nvPr>
            <p:ph idx="1" hasCustomPrompt="1"/>
          </p:nvPr>
        </p:nvSpPr>
        <p:spPr>
          <a:xfrm>
            <a:off x="41109" y="1340768"/>
            <a:ext cx="8928992" cy="45259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7" name="Espaço Reservado para Data 3"/>
          <p:cNvSpPr>
            <a:spLocks noGrp="1" noEditPoints="1"/>
          </p:cNvSpPr>
          <p:nvPr>
            <p:ph type="dt" sz="half" idx="10"/>
          </p:nvPr>
        </p:nvSpPr>
        <p:spPr>
          <a:xfrm>
            <a:off x="2419823" y="6331700"/>
            <a:ext cx="21336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8" name="Espaço Reservado para Número de Slide 5"/>
          <p:cNvSpPr>
            <a:spLocks noGrp="1" noEditPoints="1"/>
          </p:cNvSpPr>
          <p:nvPr>
            <p:ph type="sldNum" sz="quarter" idx="12"/>
          </p:nvPr>
        </p:nvSpPr>
        <p:spPr>
          <a:xfrm>
            <a:off x="7217" y="6356350"/>
            <a:ext cx="2133600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45950755-B738-4D9B-829E-82AFD49363A1}" type="slidenum">
              <a:rPr lang="pt-BR" dirty="0"/>
              <a:t>‹#›</a:t>
            </a:fld>
            <a:endParaRPr lang="pt-BR" dirty="0"/>
          </a:p>
        </p:txBody>
      </p:sp>
    </p:spTree>
  </p:cSld>
  <p:clrMapOvr>
    <a:masterClrMapping/>
  </p:clrMapOvr>
  <p:hf dt="0"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 noEditPoints="1"/>
          </p:cNvSpPr>
          <p:nvPr>
            <p:ph type="dt" sz="half" idx="10"/>
          </p:nvPr>
        </p:nvSpPr>
        <p:spPr>
          <a:xfrm>
            <a:off x="2419823" y="6331700"/>
            <a:ext cx="21336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 noEditPoints="1"/>
          </p:cNvSpPr>
          <p:nvPr>
            <p:ph type="sldNum" sz="quarter" idx="12"/>
          </p:nvPr>
        </p:nvSpPr>
        <p:spPr>
          <a:xfrm>
            <a:off x="7217" y="6356350"/>
            <a:ext cx="2133600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45950755-B738-4D9B-829E-82AFD49363A1}" type="slidenum">
              <a:rPr lang="pt-BR" dirty="0"/>
              <a:t>‹#›</a:t>
            </a:fld>
            <a:endParaRPr lang="pt-BR" dirty="0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1"/>
          <a:srcRect/>
          <a:stretch>
            <a:fillRect/>
          </a:stretch>
        </p:blipFill>
        <p:spPr>
          <a:xfrm>
            <a:off x="7659836" y="-1984"/>
            <a:ext cx="1475656" cy="1229714"/>
          </a:xfrm>
          <a:prstGeom prst="rect">
            <a:avLst/>
          </a:prstGeom>
        </p:spPr>
      </p:pic>
      <p:cxnSp>
        <p:nvCxnSpPr>
          <p:cNvPr id="11" name="Conector Reto 10"/>
          <p:cNvCxnSpPr/>
          <p:nvPr userDrawn="1"/>
        </p:nvCxnSpPr>
        <p:spPr>
          <a:xfrm>
            <a:off x="0" y="1227730"/>
            <a:ext cx="9144000" cy="0"/>
          </a:xfrm>
          <a:prstGeom prst="line">
            <a:avLst/>
          </a:prstGeom>
          <a:ln w="3810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hf dt="0" sldNum="0" hdr="0" ftr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 noEditPoints="1"/>
          </p:cNvSpPr>
          <p:nvPr>
            <p:ph type="title"/>
          </p:nvPr>
        </p:nvSpPr>
        <p:spPr>
          <a:xfrm>
            <a:off x="107504" y="25796"/>
            <a:ext cx="764567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 noEditPoints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 noEditPoints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 panose="020B0604020202020204"/>
                <a:cs typeface="Arial" pitchFamily="34" charset="0" panose="020B0604020202020204"/>
              </a:defRPr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 noEditPoints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 panose="020B0604020202020204"/>
                <a:cs typeface="Arial" pitchFamily="34" charset="0" panose="020B0604020202020204"/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 noEditPoints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 panose="020B0604020202020204"/>
                <a:cs typeface="Arial" pitchFamily="34" charset="0" panose="020B0604020202020204"/>
              </a:defRPr>
            </a:lvl1pPr>
          </a:lstStyle>
          <a:p>
            <a:endParaRPr lang="pt-BR"/>
          </a:p>
        </p:txBody>
      </p:sp>
      <p:cxnSp>
        <p:nvCxnSpPr>
          <p:cNvPr id="8" name="Conector Reto 7"/>
          <p:cNvCxnSpPr/>
          <p:nvPr userDrawn="1"/>
        </p:nvCxnSpPr>
        <p:spPr>
          <a:xfrm>
            <a:off x="0" y="1227730"/>
            <a:ext cx="9144000" cy="0"/>
          </a:xfrm>
          <a:prstGeom prst="line">
            <a:avLst/>
          </a:prstGeom>
          <a:ln w="3810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Retângulo 10"/>
          <p:cNvSpPr/>
          <p:nvPr userDrawn="1"/>
        </p:nvSpPr>
        <p:spPr>
          <a:xfrm>
            <a:off x="0" y="5877274"/>
            <a:ext cx="9135492" cy="980726"/>
          </a:xfrm>
          <a:prstGeom prst="rect">
            <a:avLst/>
          </a:prstGeom>
          <a:solidFill>
            <a:srgbClr val="B400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rial" pitchFamily="34" charset="0" panose="020B0604020202020204"/>
              <a:cs typeface="Arial" pitchFamily="34" charset="0" panose="020B0604020202020204"/>
            </a:endParaRPr>
          </a:p>
        </p:txBody>
      </p:sp>
      <p:pic>
        <p:nvPicPr>
          <p:cNvPr id="10" name="Imagem 9"/>
          <p:cNvPicPr>
            <a:picLocks noChangeAspect="1"/>
          </p:cNvPicPr>
          <p:nvPr userDrawn="1"/>
        </p:nvPicPr>
        <p:blipFill>
          <a:blip r:embed="rId1"/>
          <a:srcRect/>
          <a:stretch>
            <a:fillRect/>
          </a:stretch>
        </p:blipFill>
        <p:spPr>
          <a:xfrm>
            <a:off x="6198122" y="6118495"/>
            <a:ext cx="2843756" cy="602980"/>
          </a:xfrm>
          <a:prstGeom prst="rect">
            <a:avLst/>
          </a:prstGeom>
        </p:spPr>
      </p:pic>
      <p:pic>
        <p:nvPicPr>
          <p:cNvPr id="15" name="Imagem 14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4792617" y="5961054"/>
            <a:ext cx="1176905" cy="790592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7753182" y="38950"/>
            <a:ext cx="1382310" cy="115192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  <p:sldLayoutId id="2147483650" r:id="rId5"/>
  </p:sldLayoutIdLst>
  <p:hf dt="0" sldNum="0" hdr="0" ftr="0"/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tx1"/>
          </a:solidFill>
          <a:latin typeface="Arial" pitchFamily="34" charset="0" panose="020B0604020202020204"/>
          <a:ea typeface="+mj-ea"/>
          <a:cs typeface="Arial" pitchFamily="34" charset="0" panose="020B0604020202020204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 panose="020B0604020202020204"/>
        <a:buChar char="•"/>
        <a:defRPr sz="3200" kern="1200">
          <a:solidFill>
            <a:schemeClr val="tx1"/>
          </a:solidFill>
          <a:latin typeface="Arial" pitchFamily="34" charset="0" panose="020B0604020202020204"/>
          <a:ea typeface="+mn-ea"/>
          <a:cs typeface="Arial" pitchFamily="34" charset="0" panose="020B0604020202020204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 panose="020B0604020202020204"/>
        <a:buChar char="–"/>
        <a:defRPr sz="2800" kern="1200">
          <a:solidFill>
            <a:schemeClr val="tx1"/>
          </a:solidFill>
          <a:latin typeface="Arial" pitchFamily="34" charset="0" panose="020B0604020202020204"/>
          <a:ea typeface="+mn-ea"/>
          <a:cs typeface="Arial" pitchFamily="34" charset="0" panose="020B0604020202020204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 panose="020B0604020202020204"/>
        <a:buChar char="•"/>
        <a:defRPr sz="2400" kern="1200">
          <a:solidFill>
            <a:schemeClr val="tx1"/>
          </a:solidFill>
          <a:latin typeface="Arial" pitchFamily="34" charset="0" panose="020B0604020202020204"/>
          <a:ea typeface="+mn-ea"/>
          <a:cs typeface="Arial" pitchFamily="34" charset="0" panose="020B0604020202020204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 panose="020B0604020202020204"/>
        <a:buChar char="–"/>
        <a:defRPr sz="2000" kern="1200">
          <a:solidFill>
            <a:schemeClr val="tx1"/>
          </a:solidFill>
          <a:latin typeface="Arial" pitchFamily="34" charset="0" panose="020B0604020202020204"/>
          <a:ea typeface="+mn-ea"/>
          <a:cs typeface="Arial" pitchFamily="34" charset="0" panose="020B0604020202020204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 panose="020B0604020202020204"/>
        <a:buChar char="»"/>
        <a:defRPr sz="2000" kern="1200">
          <a:solidFill>
            <a:schemeClr val="tx1"/>
          </a:solidFill>
          <a:latin typeface="Arial" pitchFamily="34" charset="0" panose="020B0604020202020204"/>
          <a:ea typeface="+mn-ea"/>
          <a:cs typeface="Arial" pitchFamily="34" charset="0" panose="020B0604020202020204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hyperlink" Target="https://vitrineweb-app.vercel.app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ENTRO ESTADUAL DE EDUCAÇÃO TECNOLÓGICA&#10;“PAULA SOUZA” – CEET"/>
          <p:cNvSpPr>
            <a:spLocks noGrp="1"/>
          </p:cNvSpPr>
          <p:nvPr/>
        </p:nvSpPr>
        <p:spPr>
          <a:xfrm>
            <a:off x="419100" y="438150"/>
            <a:ext cx="70104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/>
            <a:r>
              <a:rPr sz="1425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CENTRO ESTADUAL DE EDUCAÇÃO TECNOLÓGICA</a:t>
            </a:r>
          </a:p>
          <a:p>
            <a:pPr algn="ctr"/>
            <a:r>
              <a:rPr sz="1425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“PAULA SOUZA” – CEETEPS</a:t>
            </a:r>
          </a:p>
        </p:txBody>
      </p:sp>
      <p:sp>
        <p:nvSpPr>
          <p:cNvPr id="102" name="ESCOLA TÉCNICA ESTADUAL “DR. ADAIL NUNES DA SILVA”"/>
          <p:cNvSpPr>
            <a:spLocks noGrp="1"/>
          </p:cNvSpPr>
          <p:nvPr/>
        </p:nvSpPr>
        <p:spPr>
          <a:xfrm>
            <a:off x="457200" y="1238250"/>
            <a:ext cx="82296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/>
            <a:r>
              <a:rPr sz="1500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ESCOLA TÉCNICA ESTADUAL “DR. ADAIL NUNES DA SILVA”</a:t>
            </a:r>
          </a:p>
        </p:txBody>
      </p:sp>
      <p:sp>
        <p:nvSpPr>
          <p:cNvPr id="103" name="TÉCNICO EM DESENVOLVIMENTO DE SISTEMAS"/>
          <p:cNvSpPr>
            <a:spLocks noGrp="1"/>
          </p:cNvSpPr>
          <p:nvPr/>
        </p:nvSpPr>
        <p:spPr>
          <a:xfrm>
            <a:off x="457200" y="1619250"/>
            <a:ext cx="82296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/>
            <a:r>
              <a:rPr sz="1500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TÉCNICO EM DESENVOLVIMENTO DE SISTEMAS</a:t>
            </a:r>
          </a:p>
        </p:txBody>
      </p:sp>
      <p:sp>
        <p:nvSpPr>
          <p:cNvPr id="104" name="Catálogo Digital: Vitrine Web"/>
          <p:cNvSpPr>
            <a:spLocks noGrp="1"/>
          </p:cNvSpPr>
          <p:nvPr/>
        </p:nvSpPr>
        <p:spPr>
          <a:xfrm>
            <a:off x="457200" y="2333625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/>
            <a:r>
              <a:rPr sz="2925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Catálogo Digital: Vitrine Web</a:t>
            </a:r>
          </a:p>
        </p:txBody>
      </p:sp>
      <p:sp>
        <p:nvSpPr>
          <p:cNvPr id="105" name="Discentes"/>
          <p:cNvSpPr>
            <a:spLocks noGrp="1"/>
          </p:cNvSpPr>
          <p:nvPr/>
        </p:nvSpPr>
        <p:spPr>
          <a:xfrm>
            <a:off x="457200" y="3105150"/>
            <a:ext cx="82296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/>
            <a:r>
              <a:rPr sz="1575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Discentes</a:t>
            </a:r>
          </a:p>
        </p:txBody>
      </p:sp>
      <p:sp>
        <p:nvSpPr>
          <p:cNvPr id="106" name="Gustavo Henrique Pereira"/>
          <p:cNvSpPr>
            <a:spLocks noGrp="1"/>
          </p:cNvSpPr>
          <p:nvPr/>
        </p:nvSpPr>
        <p:spPr>
          <a:xfrm>
            <a:off x="457200" y="3448050"/>
            <a:ext cx="82296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/>
            <a:r>
              <a:rPr sz="172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Gustavo Henrique Pereira</a:t>
            </a:r>
          </a:p>
        </p:txBody>
      </p:sp>
      <p:sp>
        <p:nvSpPr>
          <p:cNvPr id="107" name="Jason Nicolas Pires"/>
          <p:cNvSpPr>
            <a:spLocks noGrp="1"/>
          </p:cNvSpPr>
          <p:nvPr/>
        </p:nvSpPr>
        <p:spPr>
          <a:xfrm>
            <a:off x="457200" y="3743325"/>
            <a:ext cx="82296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/>
            <a:r>
              <a:rPr sz="172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Jason Nicolas Pires</a:t>
            </a:r>
          </a:p>
        </p:txBody>
      </p:sp>
      <p:sp>
        <p:nvSpPr>
          <p:cNvPr id="108" name="Luiz Gustavo Morata Pereira"/>
          <p:cNvSpPr>
            <a:spLocks noGrp="1"/>
          </p:cNvSpPr>
          <p:nvPr/>
        </p:nvSpPr>
        <p:spPr>
          <a:xfrm>
            <a:off x="457200" y="4038600"/>
            <a:ext cx="82296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/>
            <a:r>
              <a:rPr sz="172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Luiz Gustavo Morata Pereira</a:t>
            </a:r>
          </a:p>
        </p:txBody>
      </p:sp>
      <p:sp>
        <p:nvSpPr>
          <p:cNvPr id="109" name="Moisés Figueiredo Santos Machado"/>
          <p:cNvSpPr>
            <a:spLocks noGrp="1"/>
          </p:cNvSpPr>
          <p:nvPr/>
        </p:nvSpPr>
        <p:spPr>
          <a:xfrm>
            <a:off x="457200" y="4333875"/>
            <a:ext cx="82296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/>
            <a:r>
              <a:rPr sz="172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Moisés Figueiredo Santos Machado</a:t>
            </a:r>
          </a:p>
        </p:txBody>
      </p:sp>
      <p:sp>
        <p:nvSpPr>
          <p:cNvPr id="110" name="Orientador: Prof. Leonardo Murilo Hervas"/>
          <p:cNvSpPr>
            <a:spLocks noGrp="1"/>
          </p:cNvSpPr>
          <p:nvPr/>
        </p:nvSpPr>
        <p:spPr>
          <a:xfrm>
            <a:off x="457200" y="4886325"/>
            <a:ext cx="82296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/>
            <a:r>
              <a:rPr sz="1650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Orientador: Prof. Leonardo Murilo Hervas</a:t>
            </a:r>
          </a:p>
        </p:txBody>
      </p:sp>
      <p:sp>
        <p:nvSpPr>
          <p:cNvPr id="111" name="Taquaritinga, 2026"/>
          <p:cNvSpPr>
            <a:spLocks noGrp="1"/>
          </p:cNvSpPr>
          <p:nvPr/>
        </p:nvSpPr>
        <p:spPr>
          <a:xfrm>
            <a:off x="457200" y="5400675"/>
            <a:ext cx="82296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/>
            <a:r>
              <a:rPr sz="1500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Taquaritinga,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reserved title"/>
          <p:cNvSpPr>
            <a:spLocks noGrp="1"/>
          </p:cNvSpPr>
          <p:nvPr/>
        </p:nvSpPr>
        <p:spPr>
          <a:xfrm>
            <a:off x="133350" y="438150"/>
            <a:ext cx="766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2400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INTRODUÇÃO</a:t>
            </a:r>
          </a:p>
        </p:txBody>
      </p:sp>
      <p:sp>
        <p:nvSpPr>
          <p:cNvPr id="201" name="Introdução texto"/>
          <p:cNvSpPr>
            <a:spLocks noGrp="1"/>
          </p:cNvSpPr>
          <p:nvPr/>
        </p:nvSpPr>
        <p:spPr>
          <a:xfrm>
            <a:off x="619125" y="1752600"/>
            <a:ext cx="7858125" cy="3476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232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Quando fotos e preços ficam espalhados entre publicações e conversas, conhecer os produtos de uma loja exige várias perguntas ao vendedor. A Vitrine Web nasceu para organizar essa consulta em um só lugar. A proposta reúne lojas do comércio local em uma plataforma na qual o cliente encontra o que procura e inicia o atendimento com uma seleção de produtos já definida.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reserved title"/>
          <p:cNvSpPr>
            <a:spLocks noGrp="1"/>
          </p:cNvSpPr>
          <p:nvPr/>
        </p:nvSpPr>
        <p:spPr>
          <a:xfrm>
            <a:off x="133350" y="438150"/>
            <a:ext cx="766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2400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LEVANTAMENTO DE REQUISITOS</a:t>
            </a:r>
          </a:p>
        </p:txBody>
      </p:sp>
      <p:sp>
        <p:nvSpPr>
          <p:cNvPr id="102" name="2. Compraria pelo catálogo&#10;de uma loja local?"/>
          <p:cNvSpPr>
            <a:spLocks noGrp="1"/>
          </p:cNvSpPr>
          <p:nvPr/>
        </p:nvSpPr>
        <p:spPr>
          <a:xfrm>
            <a:off x="428625" y="1333500"/>
            <a:ext cx="4000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1725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2. Compraria pelo catálogo</a:t>
            </a:r>
          </a:p>
          <a:p>
            <a:pPr algn="l"/>
            <a:r>
              <a:rPr sz="1725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de uma loja local?</a:t>
            </a:r>
          </a:p>
        </p:txBody>
      </p:sp>
      <p:graphicFrame>
        <p:nvGraphicFramePr>
          <p:cNvPr id="103" name="Chart"/>
          <p:cNvGraphicFramePr/>
          <p:nvPr/>
        </p:nvGraphicFramePr>
        <p:xfrm>
          <a:off x="428625" y="1971675"/>
          <a:ext cx="3962400" cy="1171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4" name="6. Finalizar pelo WhatsApp&#10;atrapalharia a compra?"/>
          <p:cNvSpPr>
            <a:spLocks noGrp="1"/>
          </p:cNvSpPr>
          <p:nvPr/>
        </p:nvSpPr>
        <p:spPr>
          <a:xfrm>
            <a:off x="4762500" y="1333500"/>
            <a:ext cx="4000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1725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6. Finalizar pelo WhatsApp</a:t>
            </a:r>
          </a:p>
          <a:p>
            <a:pPr algn="l"/>
            <a:r>
              <a:rPr sz="1725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atrapalharia a compra?</a:t>
            </a:r>
          </a:p>
        </p:txBody>
      </p:sp>
      <p:graphicFrame>
        <p:nvGraphicFramePr>
          <p:cNvPr id="105" name="Chart"/>
          <p:cNvGraphicFramePr/>
          <p:nvPr/>
        </p:nvGraphicFramePr>
        <p:xfrm>
          <a:off x="4714875" y="1971675"/>
          <a:ext cx="4019550" cy="1171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6" name="3. O que mais impede a compra de roupas online?"/>
          <p:cNvSpPr>
            <a:spLocks noGrp="1"/>
          </p:cNvSpPr>
          <p:nvPr/>
        </p:nvSpPr>
        <p:spPr>
          <a:xfrm>
            <a:off x="428625" y="3390900"/>
            <a:ext cx="8239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1725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3. O que mais impede a compra de roupas online?</a:t>
            </a:r>
          </a:p>
        </p:txBody>
      </p:sp>
      <p:graphicFrame>
        <p:nvGraphicFramePr>
          <p:cNvPr id="107" name="Chart"/>
          <p:cNvGraphicFramePr/>
          <p:nvPr/>
        </p:nvGraphicFramePr>
        <p:xfrm>
          <a:off x="428625" y="3800475"/>
          <a:ext cx="8229600" cy="1457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8" name="Fonte: pesquisa do grupo (2026). Valores em número de respos"/>
          <p:cNvSpPr>
            <a:spLocks noGrp="1"/>
          </p:cNvSpPr>
          <p:nvPr/>
        </p:nvSpPr>
        <p:spPr>
          <a:xfrm>
            <a:off x="428625" y="5372100"/>
            <a:ext cx="83820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1050" b="0">
                <a:solidFill>
                  <a:srgbClr val="5B5B5B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Fonte: pesquisa do grupo (2026). Valores em número de respostas. Outros: entrega e dinheiro.</a:t>
            </a:r>
          </a:p>
        </p:txBody>
      </p:sp>
      <p:sp>
        <p:nvSpPr>
          <p:cNvPr id="109" name="Pesquisa exploratória. 22 respostas válidas por pergunta, ap"/>
          <p:cNvSpPr>
            <a:spLocks noGrp="1"/>
          </p:cNvSpPr>
          <p:nvPr/>
        </p:nvSpPr>
        <p:spPr>
          <a:xfrm>
            <a:off x="428625" y="5572125"/>
            <a:ext cx="83820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1050" b="0">
                <a:solidFill>
                  <a:srgbClr val="5B5B5B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Pesquisa exploratória. 22 respostas válidas por pergunta, após excluir 1 resposta incompatível.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reserved title"/>
          <p:cNvSpPr>
            <a:spLocks noGrp="1"/>
          </p:cNvSpPr>
          <p:nvPr/>
        </p:nvSpPr>
        <p:spPr>
          <a:xfrm>
            <a:off x="133350" y="438150"/>
            <a:ext cx="766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2400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DESCRIÇÃO DO PROJETO</a:t>
            </a:r>
          </a:p>
        </p:txBody>
      </p:sp>
      <p:sp>
        <p:nvSpPr>
          <p:cNvPr id="201" name="Descrição texto"/>
          <p:cNvSpPr>
            <a:spLocks noGrp="1"/>
          </p:cNvSpPr>
          <p:nvPr/>
        </p:nvSpPr>
        <p:spPr>
          <a:xfrm>
            <a:off x="619125" y="1571625"/>
            <a:ext cx="7905750" cy="3943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just">
              <a:lnSpc>
                <a:spcPct val="112000"/>
              </a:lnSpc>
              <a:buNone/>
            </a:pPr>
            <a:r>
              <a:rPr sz="202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A Vitrine Web oferece a cada lojista uma página própria com catálogo de produtos, fotos, preços e disponibilidade, permitindo divulgar sua loja e seus produtos por meio de links compartilhados nas redes sociais.</a:t>
            </a:r>
            <a:r>
              <a:rPr lang="pt-BR" sz="202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 </a:t>
            </a:r>
            <a:r>
              <a:rPr sz="202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Pelo painel</a:t>
            </a:r>
            <a:r>
              <a:rPr lang="pt-BR" sz="202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 administrativo</a:t>
            </a:r>
            <a:r>
              <a:rPr sz="202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, o lojista consulta os pedidos e gerencia produtos, estoque e dados da loja.</a:t>
            </a:r>
            <a:endParaRPr lang="pt-BR" sz="2025" b="0">
              <a:solidFill>
                <a:srgbClr val="232323"/>
              </a:solidFill>
              <a:latin typeface="Arial" pitchFamily="34" charset="0" panose="020B0604020202020204"/>
              <a:ea typeface="Arial" pitchFamily="34" charset="0" panose="020B0604020202020204"/>
              <a:cs typeface="Arial" pitchFamily="34" charset="0" panose="020B0604020202020204"/>
            </a:endParaRPr>
          </a:p>
          <a:p>
            <a:pPr algn="just">
              <a:lnSpc>
                <a:spcPct val="112000"/>
              </a:lnSpc>
              <a:buNone/>
            </a:pPr>
            <a:endParaRPr lang="pt-BR" sz="2025" b="0">
              <a:solidFill>
                <a:srgbClr val="232323"/>
              </a:solidFill>
              <a:latin typeface="Arial" pitchFamily="34" charset="0" panose="020B0604020202020204"/>
              <a:ea typeface="Arial" pitchFamily="34" charset="0" panose="020B0604020202020204"/>
              <a:cs typeface="Arial" pitchFamily="34" charset="0" panose="020B0604020202020204"/>
            </a:endParaRPr>
          </a:p>
          <a:p>
            <a:pPr algn="just">
              <a:lnSpc>
                <a:spcPct val="112000"/>
              </a:lnSpc>
              <a:buNone/>
            </a:pPr>
            <a:r>
              <a:rPr sz="202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O cliente </a:t>
            </a:r>
            <a:r>
              <a:rPr lang="pt-BR" sz="202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pode </a:t>
            </a:r>
            <a:r>
              <a:rPr sz="202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consultar detalhes dos produtos e reuni-los em um carrinho </a:t>
            </a:r>
            <a:r>
              <a:rPr lang="pt-BR" sz="202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separado por loja</a:t>
            </a:r>
            <a:r>
              <a:rPr sz="202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. Ao solicitar um pedido, o sistema prepara uma mensagem para envio pelo WhatsApp, onde são combinados pagamento e entrega.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ERRAMENTAS UTILIZADAS"/>
          <p:cNvSpPr>
            <a:spLocks noGrp="1"/>
          </p:cNvSpPr>
          <p:nvPr/>
        </p:nvSpPr>
        <p:spPr>
          <a:xfrm>
            <a:off x="133350" y="438150"/>
            <a:ext cx="766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lang="pt-BR" sz="2400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SOFTWARE</a:t>
            </a:r>
            <a:r>
              <a:rPr sz="2400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 UTILIZAD</a:t>
            </a:r>
            <a:r>
              <a:rPr lang="pt-BR" sz="2400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O</a:t>
            </a:r>
            <a:r>
              <a:rPr sz="2400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S</a:t>
            </a:r>
          </a:p>
        </p:txBody>
      </p:sp>
      <p:sp>
        <p:nvSpPr>
          <p:cNvPr id="1002" name="Node.js card"/>
          <p:cNvSpPr>
            <a:spLocks noGrp="1"/>
          </p:cNvSpPr>
          <p:nvPr/>
        </p:nvSpPr>
        <p:spPr>
          <a:xfrm>
            <a:off x="428625" y="1552575"/>
            <a:ext cx="1943100" cy="1943100"/>
          </a:xfrm>
          <a:prstGeom prst="roundRect">
            <a:avLst>
              <a:gd name="adj" fmla="val 6863"/>
            </a:avLst>
          </a:prstGeom>
          <a:solidFill>
            <a:srgbClr val="FBFAFA"/>
          </a:solidFill>
          <a:ln w="10478">
            <a:solidFill>
              <a:srgbClr val="E6DCDC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  <p:txBody>
          <a:bodyPr/>
          <a:lstStyle/>
          <a:p/>
        </p:txBody>
      </p:sp>
      <p:sp>
        <p:nvSpPr>
          <p:cNvPr id="1003" name="Node.js título"/>
          <p:cNvSpPr>
            <a:spLocks noGrp="1"/>
          </p:cNvSpPr>
          <p:nvPr/>
        </p:nvSpPr>
        <p:spPr>
          <a:xfrm>
            <a:off x="590550" y="1743075"/>
            <a:ext cx="1619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sz="1725" b="1">
                <a:solidFill>
                  <a:srgbClr val="B80000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Node.js</a:t>
            </a:r>
          </a:p>
        </p:txBody>
      </p:sp>
      <p:sp>
        <p:nvSpPr>
          <p:cNvPr id="1004" name="Node.js definição"/>
          <p:cNvSpPr>
            <a:spLocks noGrp="1"/>
          </p:cNvSpPr>
          <p:nvPr/>
        </p:nvSpPr>
        <p:spPr>
          <a:xfrm>
            <a:off x="590550" y="2181225"/>
            <a:ext cx="1619250" cy="1162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sz="1575" b="0">
                <a:solidFill>
                  <a:srgbClr val="33333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Ambiente que executa JavaScript no servidor.</a:t>
            </a:r>
          </a:p>
        </p:txBody>
      </p:sp>
      <p:sp>
        <p:nvSpPr>
          <p:cNvPr id="1005" name="TypeScript card"/>
          <p:cNvSpPr>
            <a:spLocks noGrp="1"/>
          </p:cNvSpPr>
          <p:nvPr/>
        </p:nvSpPr>
        <p:spPr>
          <a:xfrm>
            <a:off x="2543175" y="1552575"/>
            <a:ext cx="1943100" cy="1943100"/>
          </a:xfrm>
          <a:prstGeom prst="roundRect">
            <a:avLst>
              <a:gd name="adj" fmla="val 6863"/>
            </a:avLst>
          </a:prstGeom>
          <a:solidFill>
            <a:srgbClr val="FBFAFA"/>
          </a:solidFill>
          <a:ln w="10478">
            <a:solidFill>
              <a:srgbClr val="E6DCDC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  <p:txBody>
          <a:bodyPr/>
          <a:lstStyle/>
          <a:p/>
        </p:txBody>
      </p:sp>
      <p:sp>
        <p:nvSpPr>
          <p:cNvPr id="1006" name="TypeScript título"/>
          <p:cNvSpPr>
            <a:spLocks noGrp="1"/>
          </p:cNvSpPr>
          <p:nvPr/>
        </p:nvSpPr>
        <p:spPr>
          <a:xfrm>
            <a:off x="2705100" y="1743075"/>
            <a:ext cx="1619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sz="1725" b="1">
                <a:solidFill>
                  <a:srgbClr val="B80000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TypeScript</a:t>
            </a:r>
          </a:p>
        </p:txBody>
      </p:sp>
      <p:sp>
        <p:nvSpPr>
          <p:cNvPr id="1007" name="TypeScript definição"/>
          <p:cNvSpPr>
            <a:spLocks noGrp="1"/>
          </p:cNvSpPr>
          <p:nvPr/>
        </p:nvSpPr>
        <p:spPr>
          <a:xfrm>
            <a:off x="2705100" y="2181225"/>
            <a:ext cx="1619250" cy="1162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sz="1575" b="0">
                <a:solidFill>
                  <a:srgbClr val="33333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Linguagem que adiciona tipagem ao JavaScript.</a:t>
            </a:r>
          </a:p>
        </p:txBody>
      </p:sp>
      <p:sp>
        <p:nvSpPr>
          <p:cNvPr id="1008" name="NestJS card"/>
          <p:cNvSpPr>
            <a:spLocks noGrp="1"/>
          </p:cNvSpPr>
          <p:nvPr/>
        </p:nvSpPr>
        <p:spPr>
          <a:xfrm>
            <a:off x="4657725" y="1552575"/>
            <a:ext cx="1943100" cy="1943100"/>
          </a:xfrm>
          <a:prstGeom prst="roundRect">
            <a:avLst>
              <a:gd name="adj" fmla="val 6863"/>
            </a:avLst>
          </a:prstGeom>
          <a:solidFill>
            <a:srgbClr val="FBFAFA"/>
          </a:solidFill>
          <a:ln w="10478">
            <a:solidFill>
              <a:srgbClr val="E6DCDC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  <p:txBody>
          <a:bodyPr/>
          <a:lstStyle/>
          <a:p/>
        </p:txBody>
      </p:sp>
      <p:sp>
        <p:nvSpPr>
          <p:cNvPr id="1009" name="NestJS título"/>
          <p:cNvSpPr>
            <a:spLocks noGrp="1"/>
          </p:cNvSpPr>
          <p:nvPr/>
        </p:nvSpPr>
        <p:spPr>
          <a:xfrm>
            <a:off x="4819650" y="1743075"/>
            <a:ext cx="1619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sz="1725" b="1">
                <a:solidFill>
                  <a:srgbClr val="B80000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NestJS</a:t>
            </a:r>
          </a:p>
        </p:txBody>
      </p:sp>
      <p:sp>
        <p:nvSpPr>
          <p:cNvPr id="1010" name="NestJS definição"/>
          <p:cNvSpPr>
            <a:spLocks noGrp="1"/>
          </p:cNvSpPr>
          <p:nvPr/>
        </p:nvSpPr>
        <p:spPr>
          <a:xfrm>
            <a:off x="4819650" y="2181225"/>
            <a:ext cx="1619250" cy="1162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sz="1575" b="0">
                <a:solidFill>
                  <a:srgbClr val="33333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Framework para criar aplicações com Node.js.</a:t>
            </a:r>
          </a:p>
        </p:txBody>
      </p:sp>
      <p:sp>
        <p:nvSpPr>
          <p:cNvPr id="1011" name="React card"/>
          <p:cNvSpPr>
            <a:spLocks noGrp="1"/>
          </p:cNvSpPr>
          <p:nvPr/>
        </p:nvSpPr>
        <p:spPr>
          <a:xfrm>
            <a:off x="6772275" y="1552575"/>
            <a:ext cx="1943100" cy="1943100"/>
          </a:xfrm>
          <a:prstGeom prst="roundRect">
            <a:avLst>
              <a:gd name="adj" fmla="val 6863"/>
            </a:avLst>
          </a:prstGeom>
          <a:solidFill>
            <a:srgbClr val="FBFAFA"/>
          </a:solidFill>
          <a:ln w="10478">
            <a:solidFill>
              <a:srgbClr val="E6DCDC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  <p:txBody>
          <a:bodyPr/>
          <a:lstStyle/>
          <a:p/>
        </p:txBody>
      </p:sp>
      <p:sp>
        <p:nvSpPr>
          <p:cNvPr id="1012" name="React título"/>
          <p:cNvSpPr>
            <a:spLocks noGrp="1"/>
          </p:cNvSpPr>
          <p:nvPr/>
        </p:nvSpPr>
        <p:spPr>
          <a:xfrm>
            <a:off x="6934200" y="1743075"/>
            <a:ext cx="1619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sz="1725" b="1">
                <a:solidFill>
                  <a:srgbClr val="B80000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React</a:t>
            </a:r>
          </a:p>
        </p:txBody>
      </p:sp>
      <p:sp>
        <p:nvSpPr>
          <p:cNvPr id="1013" name="React definição"/>
          <p:cNvSpPr>
            <a:spLocks noGrp="1"/>
          </p:cNvSpPr>
          <p:nvPr/>
        </p:nvSpPr>
        <p:spPr>
          <a:xfrm>
            <a:off x="6934200" y="2181225"/>
            <a:ext cx="1619250" cy="1162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sz="1575" b="0">
                <a:solidFill>
                  <a:srgbClr val="33333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Biblioteca JavaScript para criar interfaces.</a:t>
            </a:r>
          </a:p>
        </p:txBody>
      </p:sp>
      <p:sp>
        <p:nvSpPr>
          <p:cNvPr id="1014" name="Tailwind CSS card"/>
          <p:cNvSpPr>
            <a:spLocks noGrp="1"/>
          </p:cNvSpPr>
          <p:nvPr/>
        </p:nvSpPr>
        <p:spPr>
          <a:xfrm>
            <a:off x="1485900" y="3705225"/>
            <a:ext cx="1943100" cy="1943100"/>
          </a:xfrm>
          <a:prstGeom prst="roundRect">
            <a:avLst>
              <a:gd name="adj" fmla="val 6863"/>
            </a:avLst>
          </a:prstGeom>
          <a:solidFill>
            <a:srgbClr val="FBFAFA"/>
          </a:solidFill>
          <a:ln w="10478">
            <a:solidFill>
              <a:srgbClr val="E6DCDC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  <p:txBody>
          <a:bodyPr/>
          <a:lstStyle/>
          <a:p/>
        </p:txBody>
      </p:sp>
      <p:sp>
        <p:nvSpPr>
          <p:cNvPr id="1015" name="Tailwind CSS título"/>
          <p:cNvSpPr>
            <a:spLocks noGrp="1"/>
          </p:cNvSpPr>
          <p:nvPr/>
        </p:nvSpPr>
        <p:spPr>
          <a:xfrm>
            <a:off x="1647825" y="3895725"/>
            <a:ext cx="1619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sz="1725" b="1">
                <a:solidFill>
                  <a:srgbClr val="B80000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Tailwind CSS</a:t>
            </a:r>
          </a:p>
        </p:txBody>
      </p:sp>
      <p:sp>
        <p:nvSpPr>
          <p:cNvPr id="1016" name="Tailwind CSS definição"/>
          <p:cNvSpPr>
            <a:spLocks noGrp="1"/>
          </p:cNvSpPr>
          <p:nvPr/>
        </p:nvSpPr>
        <p:spPr>
          <a:xfrm>
            <a:off x="1647825" y="4333875"/>
            <a:ext cx="1619250" cy="1162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sz="1575" b="0">
                <a:solidFill>
                  <a:srgbClr val="33333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Framework CSS baseado em classes </a:t>
            </a:r>
            <a:r>
              <a:rPr lang="pt-BR" sz="1575" b="0">
                <a:solidFill>
                  <a:srgbClr val="33333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prontas diretas no código HTML</a:t>
            </a:r>
            <a:r>
              <a:rPr sz="1575" b="0">
                <a:solidFill>
                  <a:srgbClr val="33333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.</a:t>
            </a:r>
          </a:p>
        </p:txBody>
      </p:sp>
      <p:sp>
        <p:nvSpPr>
          <p:cNvPr id="1017" name="PostgreSQL card"/>
          <p:cNvSpPr>
            <a:spLocks noGrp="1"/>
          </p:cNvSpPr>
          <p:nvPr/>
        </p:nvSpPr>
        <p:spPr>
          <a:xfrm>
            <a:off x="3600450" y="3705225"/>
            <a:ext cx="1943100" cy="1943100"/>
          </a:xfrm>
          <a:prstGeom prst="roundRect">
            <a:avLst>
              <a:gd name="adj" fmla="val 6863"/>
            </a:avLst>
          </a:prstGeom>
          <a:solidFill>
            <a:srgbClr val="FBFAFA"/>
          </a:solidFill>
          <a:ln w="10478">
            <a:solidFill>
              <a:srgbClr val="E6DCDC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  <p:txBody>
          <a:bodyPr/>
          <a:lstStyle/>
          <a:p/>
        </p:txBody>
      </p:sp>
      <p:sp>
        <p:nvSpPr>
          <p:cNvPr id="1018" name="PostgreSQL título"/>
          <p:cNvSpPr>
            <a:spLocks noGrp="1"/>
          </p:cNvSpPr>
          <p:nvPr/>
        </p:nvSpPr>
        <p:spPr>
          <a:xfrm>
            <a:off x="3762375" y="3895725"/>
            <a:ext cx="1619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sz="1725" b="1">
                <a:solidFill>
                  <a:srgbClr val="B80000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PostgreSQL</a:t>
            </a:r>
          </a:p>
        </p:txBody>
      </p:sp>
      <p:sp>
        <p:nvSpPr>
          <p:cNvPr id="1019" name="PostgreSQL definição"/>
          <p:cNvSpPr>
            <a:spLocks noGrp="1"/>
          </p:cNvSpPr>
          <p:nvPr/>
        </p:nvSpPr>
        <p:spPr>
          <a:xfrm>
            <a:off x="3762375" y="4333875"/>
            <a:ext cx="1619250" cy="1162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sz="1575" b="0">
                <a:solidFill>
                  <a:srgbClr val="33333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Banco de dados relacional.</a:t>
            </a:r>
          </a:p>
        </p:txBody>
      </p:sp>
      <p:sp>
        <p:nvSpPr>
          <p:cNvPr id="1020" name="Cloudinary card"/>
          <p:cNvSpPr>
            <a:spLocks noGrp="1"/>
          </p:cNvSpPr>
          <p:nvPr/>
        </p:nvSpPr>
        <p:spPr>
          <a:xfrm>
            <a:off x="5715000" y="3705225"/>
            <a:ext cx="1943100" cy="1943100"/>
          </a:xfrm>
          <a:prstGeom prst="roundRect">
            <a:avLst>
              <a:gd name="adj" fmla="val 6863"/>
            </a:avLst>
          </a:prstGeom>
          <a:solidFill>
            <a:srgbClr val="FBFAFA"/>
          </a:solidFill>
          <a:ln w="10478">
            <a:solidFill>
              <a:srgbClr val="E6DCDC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  <p:txBody>
          <a:bodyPr/>
          <a:lstStyle/>
          <a:p/>
        </p:txBody>
      </p:sp>
      <p:sp>
        <p:nvSpPr>
          <p:cNvPr id="1021" name="Cloudinary título"/>
          <p:cNvSpPr>
            <a:spLocks noGrp="1"/>
          </p:cNvSpPr>
          <p:nvPr/>
        </p:nvSpPr>
        <p:spPr>
          <a:xfrm>
            <a:off x="5876925" y="3895725"/>
            <a:ext cx="1619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sz="1725" b="1">
                <a:solidFill>
                  <a:srgbClr val="B80000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Cloudinary</a:t>
            </a:r>
          </a:p>
        </p:txBody>
      </p:sp>
      <p:sp>
        <p:nvSpPr>
          <p:cNvPr id="1022" name="Cloudinary definição"/>
          <p:cNvSpPr>
            <a:spLocks noGrp="1"/>
          </p:cNvSpPr>
          <p:nvPr/>
        </p:nvSpPr>
        <p:spPr>
          <a:xfrm>
            <a:off x="5876925" y="4333875"/>
            <a:ext cx="1619250" cy="1162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sz="1575" b="0">
                <a:solidFill>
                  <a:srgbClr val="33333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Armazena e disponibiliza imagens de produtos, logos e banners.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reserved title"/>
          <p:cNvSpPr>
            <a:spLocks noGrp="1"/>
          </p:cNvSpPr>
          <p:nvPr/>
        </p:nvSpPr>
        <p:spPr>
          <a:xfrm>
            <a:off x="133350" y="438150"/>
            <a:ext cx="766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2400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DIAGRAMA DE CASOS DE USO</a:t>
            </a:r>
          </a:p>
        </p:txBody>
      </p:sp>
      <p:pic>
        <p:nvPicPr>
          <p:cNvPr id="102" name="Imagem 10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80763" y="1219200"/>
            <a:ext cx="4334375" cy="4524375"/>
          </a:xfrm>
          <a:prstGeom prst="rect">
            <a:avLst/>
          </a:prstGeom>
        </p:spPr>
      </p:pic>
      <p:sp>
        <p:nvSpPr>
          <p:cNvPr id="103" name="Cliente"/>
          <p:cNvSpPr>
            <a:spLocks noGrp="1"/>
          </p:cNvSpPr>
          <p:nvPr/>
        </p:nvSpPr>
        <p:spPr>
          <a:xfrm>
            <a:off x="5238750" y="1476375"/>
            <a:ext cx="338137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1800" b="1">
                <a:solidFill>
                  <a:srgbClr val="BD0000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Cliente</a:t>
            </a:r>
          </a:p>
        </p:txBody>
      </p:sp>
      <p:sp>
        <p:nvSpPr>
          <p:cNvPr id="104" name="Consulta os produtos e envia&#10;sua seleção pelo WhatsApp."/>
          <p:cNvSpPr>
            <a:spLocks noGrp="1"/>
          </p:cNvSpPr>
          <p:nvPr/>
        </p:nvSpPr>
        <p:spPr>
          <a:xfrm>
            <a:off x="5238750" y="1809750"/>
            <a:ext cx="33813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157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Consulta os produtos e envia</a:t>
            </a:r>
          </a:p>
          <a:p>
            <a:pPr algn="l"/>
            <a:r>
              <a:rPr sz="157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sua seleção pelo WhatsApp.</a:t>
            </a:r>
          </a:p>
        </p:txBody>
      </p:sp>
      <p:sp>
        <p:nvSpPr>
          <p:cNvPr id="105" name="Funcionário"/>
          <p:cNvSpPr>
            <a:spLocks noGrp="1"/>
          </p:cNvSpPr>
          <p:nvPr/>
        </p:nvSpPr>
        <p:spPr>
          <a:xfrm>
            <a:off x="5238750" y="2457450"/>
            <a:ext cx="338137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1800" b="1">
                <a:solidFill>
                  <a:srgbClr val="BD0000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Funcionário</a:t>
            </a:r>
          </a:p>
        </p:txBody>
      </p:sp>
      <p:sp>
        <p:nvSpPr>
          <p:cNvPr id="106" name="Cadastra e atualiza produtos."/>
          <p:cNvSpPr>
            <a:spLocks noGrp="1"/>
          </p:cNvSpPr>
          <p:nvPr/>
        </p:nvSpPr>
        <p:spPr>
          <a:xfrm>
            <a:off x="5238750" y="2790825"/>
            <a:ext cx="33813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157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Cadastra e atualiza produtos.</a:t>
            </a:r>
          </a:p>
        </p:txBody>
      </p:sp>
      <p:sp>
        <p:nvSpPr>
          <p:cNvPr id="107" name="Proprietário"/>
          <p:cNvSpPr>
            <a:spLocks noGrp="1"/>
          </p:cNvSpPr>
          <p:nvPr/>
        </p:nvSpPr>
        <p:spPr>
          <a:xfrm>
            <a:off x="5238750" y="3438525"/>
            <a:ext cx="338137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1800" b="1">
                <a:solidFill>
                  <a:srgbClr val="BD0000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Proprietário</a:t>
            </a:r>
          </a:p>
        </p:txBody>
      </p:sp>
      <p:sp>
        <p:nvSpPr>
          <p:cNvPr id="108" name="Cuida da loja e da equipe."/>
          <p:cNvSpPr>
            <a:spLocks noGrp="1"/>
          </p:cNvSpPr>
          <p:nvPr/>
        </p:nvSpPr>
        <p:spPr>
          <a:xfrm>
            <a:off x="5238750" y="3771900"/>
            <a:ext cx="33813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157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Cuida da loja e da equipe.</a:t>
            </a:r>
          </a:p>
        </p:txBody>
      </p:sp>
      <p:sp>
        <p:nvSpPr>
          <p:cNvPr id="109" name="Administrador"/>
          <p:cNvSpPr>
            <a:spLocks noGrp="1"/>
          </p:cNvSpPr>
          <p:nvPr/>
        </p:nvSpPr>
        <p:spPr>
          <a:xfrm>
            <a:off x="5238750" y="4419600"/>
            <a:ext cx="338137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1800" b="1">
                <a:solidFill>
                  <a:srgbClr val="BD0000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Administrador</a:t>
            </a:r>
          </a:p>
        </p:txBody>
      </p:sp>
      <p:sp>
        <p:nvSpPr>
          <p:cNvPr id="110" name="Gerencia as lojas e os acessos&#10;à plataforma."/>
          <p:cNvSpPr>
            <a:spLocks noGrp="1"/>
          </p:cNvSpPr>
          <p:nvPr/>
        </p:nvSpPr>
        <p:spPr>
          <a:xfrm>
            <a:off x="5238750" y="4752975"/>
            <a:ext cx="33813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157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Gerencia as lojas e os acessos</a:t>
            </a:r>
          </a:p>
          <a:p>
            <a:pPr algn="l"/>
            <a:r>
              <a:rPr sz="157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à plataforma.</a:t>
            </a:r>
          </a:p>
        </p:txBody>
      </p:sp>
      <p:sp>
        <p:nvSpPr>
          <p:cNvPr id="111" name="Fonte: elaboração do grupo."/>
          <p:cNvSpPr>
            <a:spLocks noGrp="1"/>
          </p:cNvSpPr>
          <p:nvPr/>
        </p:nvSpPr>
        <p:spPr>
          <a:xfrm>
            <a:off x="5238750" y="5581650"/>
            <a:ext cx="3429000" cy="200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1050" b="0">
                <a:solidFill>
                  <a:srgbClr val="5B5B5B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Fonte: elaboração do grupo.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reserved title"/>
          <p:cNvSpPr>
            <a:spLocks noGrp="1"/>
          </p:cNvSpPr>
          <p:nvPr/>
        </p:nvSpPr>
        <p:spPr>
          <a:xfrm>
            <a:off x="133350" y="438150"/>
            <a:ext cx="766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2250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DIAGRAMA ENTIDADE–RELACIONAMENTO</a:t>
            </a:r>
          </a:p>
        </p:txBody>
      </p:sp>
      <p:pic>
        <p:nvPicPr>
          <p:cNvPr id="102" name="Imagem 10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5750" y="1619250"/>
            <a:ext cx="5334000" cy="3812153"/>
          </a:xfrm>
          <a:prstGeom prst="rect">
            <a:avLst/>
          </a:prstGeom>
        </p:spPr>
      </p:pic>
      <p:sp>
        <p:nvSpPr>
          <p:cNvPr id="103" name="Fonte: elaboração do grupo. Ferramenta de modelagem: SQL Des"/>
          <p:cNvSpPr>
            <a:spLocks noGrp="1"/>
          </p:cNvSpPr>
          <p:nvPr/>
        </p:nvSpPr>
        <p:spPr>
          <a:xfrm>
            <a:off x="285750" y="5553075"/>
            <a:ext cx="53911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5B5B5B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Fonte: elaboração do grupo. Ferramenta de modelagem: SQL Designer.</a:t>
            </a:r>
          </a:p>
        </p:txBody>
      </p:sp>
      <p:sp>
        <p:nvSpPr>
          <p:cNvPr id="203" name="Relações SQL título"/>
          <p:cNvSpPr>
            <a:spLocks noGrp="1"/>
          </p:cNvSpPr>
          <p:nvPr/>
        </p:nvSpPr>
        <p:spPr>
          <a:xfrm>
            <a:off x="5953125" y="1524000"/>
            <a:ext cx="28575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800" b="1">
                <a:solidFill>
                  <a:srgbClr val="BD0000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Relações entre tabelas</a:t>
            </a:r>
          </a:p>
        </p:txBody>
      </p:sp>
      <p:sp>
        <p:nvSpPr>
          <p:cNvPr id="204" name="Relações SQL texto"/>
          <p:cNvSpPr>
            <a:spLocks noGrp="1"/>
          </p:cNvSpPr>
          <p:nvPr/>
        </p:nvSpPr>
        <p:spPr>
          <a:xfrm>
            <a:off x="5953125" y="2057400"/>
            <a:ext cx="2809875" cy="1581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650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Chaves primárias e estrangeiras conectam lojas, produtos e carrinhos, preservando os vínculos entre os registros.</a:t>
            </a:r>
          </a:p>
        </p:txBody>
      </p:sp>
      <p:sp>
        <p:nvSpPr>
          <p:cNvPr id="205" name="Crescimento título"/>
          <p:cNvSpPr>
            <a:spLocks noGrp="1"/>
          </p:cNvSpPr>
          <p:nvPr/>
        </p:nvSpPr>
        <p:spPr>
          <a:xfrm>
            <a:off x="5953125" y="3724275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800" b="1">
                <a:solidFill>
                  <a:srgbClr val="BD0000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Base para crescer</a:t>
            </a:r>
          </a:p>
        </p:txBody>
      </p:sp>
      <p:sp>
        <p:nvSpPr>
          <p:cNvPr id="206" name="Crescimento texto"/>
          <p:cNvSpPr>
            <a:spLocks noGrp="1"/>
          </p:cNvSpPr>
          <p:nvPr/>
        </p:nvSpPr>
        <p:spPr>
          <a:xfrm>
            <a:off x="5953125" y="4171950"/>
            <a:ext cx="2809875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650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A estrutura reduz duplicações e facilita a inclusão de novas lojas e produtos, mantendo a consistência dos dados.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" name="Conector de Seta Reta 103"/>
          <p:cNvCxnSpPr/>
          <p:nvPr/>
        </p:nvCxnSpPr>
        <p:spPr>
          <a:xfrm>
            <a:off x="6600825" y="2352675"/>
            <a:ext cx="371475" cy="0"/>
          </a:xfrm>
          <a:prstGeom prst="straightConnector1">
            <a:avLst/>
          </a:prstGeom>
          <a:ln w="19050">
            <a:solidFill>
              <a:srgbClr val="BD0000"/>
            </a:solidFill>
            <a:tailEnd type="triangle" w="sm" len="sm"/>
          </a:ln>
        </p:spPr>
      </p:cxnSp>
      <p:cxnSp>
        <p:nvCxnSpPr>
          <p:cNvPr id="105" name="Conector de Seta Reta 104"/>
          <p:cNvCxnSpPr/>
          <p:nvPr/>
        </p:nvCxnSpPr>
        <p:spPr>
          <a:xfrm>
            <a:off x="4419600" y="2352675"/>
            <a:ext cx="371475" cy="0"/>
          </a:xfrm>
          <a:prstGeom prst="straightConnector1">
            <a:avLst/>
          </a:prstGeom>
          <a:ln w="19050">
            <a:solidFill>
              <a:srgbClr val="BD0000"/>
            </a:solidFill>
            <a:tailEnd type="triangle" w="sm" len="sm"/>
          </a:ln>
        </p:spPr>
      </p:cxnSp>
      <p:cxnSp>
        <p:nvCxnSpPr>
          <p:cNvPr id="106" name="Conector de Seta Reta 105"/>
          <p:cNvCxnSpPr/>
          <p:nvPr/>
        </p:nvCxnSpPr>
        <p:spPr>
          <a:xfrm>
            <a:off x="2238375" y="2352675"/>
            <a:ext cx="371475" cy="0"/>
          </a:xfrm>
          <a:prstGeom prst="straightConnector1">
            <a:avLst/>
          </a:prstGeom>
          <a:ln w="19050">
            <a:solidFill>
              <a:srgbClr val="BD0000"/>
            </a:solidFill>
            <a:tailEnd type="triangle" w="sm" len="sm"/>
          </a:ln>
        </p:spPr>
      </p:cxnSp>
      <p:sp>
        <p:nvSpPr>
          <p:cNvPr id="107" name="Preserved title"/>
          <p:cNvSpPr>
            <a:spLocks noGrp="1"/>
          </p:cNvSpPr>
          <p:nvPr/>
        </p:nvSpPr>
        <p:spPr>
          <a:xfrm>
            <a:off x="133350" y="438150"/>
            <a:ext cx="766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2400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PROJETO NAVEGACIONAL</a:t>
            </a:r>
          </a:p>
        </p:txBody>
      </p:sp>
      <p:sp>
        <p:nvSpPr>
          <p:cNvPr id="108" name="Cliente"/>
          <p:cNvSpPr>
            <a:spLocks noGrp="1"/>
          </p:cNvSpPr>
          <p:nvPr/>
        </p:nvSpPr>
        <p:spPr>
          <a:xfrm>
            <a:off x="428625" y="1409700"/>
            <a:ext cx="8096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1950" b="1">
                <a:solidFill>
                  <a:srgbClr val="BD0000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Cliente</a:t>
            </a:r>
          </a:p>
        </p:txBody>
      </p:sp>
      <p:sp>
        <p:nvSpPr>
          <p:cNvPr id="109" name="Catálogo"/>
          <p:cNvSpPr>
            <a:spLocks noGrp="1"/>
          </p:cNvSpPr>
          <p:nvPr/>
        </p:nvSpPr>
        <p:spPr>
          <a:xfrm>
            <a:off x="428625" y="1924050"/>
            <a:ext cx="180975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</a:ln>
        </p:spPr>
        <p:txBody>
          <a:bodyPr lIns="57150" tIns="76200" rIns="57150" bIns="76200" anchor="ctr">
            <a:noAutofit/>
          </a:bodyPr>
          <a:lstStyle/>
          <a:p>
            <a:pPr algn="ctr"/>
            <a:r>
              <a:rPr sz="1725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Lojas</a:t>
            </a:r>
          </a:p>
          <a:p>
            <a:pPr algn="ctr"/>
            <a:r>
              <a:rPr sz="135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Busca e filtros por segmentos</a:t>
            </a:r>
          </a:p>
        </p:txBody>
      </p:sp>
      <p:sp>
        <p:nvSpPr>
          <p:cNvPr id="110" name="Produto"/>
          <p:cNvSpPr>
            <a:spLocks noGrp="1"/>
          </p:cNvSpPr>
          <p:nvPr/>
        </p:nvSpPr>
        <p:spPr>
          <a:xfrm>
            <a:off x="2609850" y="1924050"/>
            <a:ext cx="180975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</a:ln>
        </p:spPr>
        <p:txBody>
          <a:bodyPr lIns="57150" tIns="76200" rIns="57150" bIns="76200" anchor="ctr">
            <a:noAutofit/>
          </a:bodyPr>
          <a:lstStyle/>
          <a:p>
            <a:pPr algn="ctr"/>
            <a:r>
              <a:rPr sz="1725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Produto</a:t>
            </a:r>
          </a:p>
          <a:p>
            <a:pPr algn="ctr"/>
            <a:r>
              <a:rPr sz="135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Fotos e detalhes</a:t>
            </a:r>
          </a:p>
        </p:txBody>
      </p:sp>
      <p:sp>
        <p:nvSpPr>
          <p:cNvPr id="111" name="Carrinho"/>
          <p:cNvSpPr>
            <a:spLocks noGrp="1"/>
          </p:cNvSpPr>
          <p:nvPr/>
        </p:nvSpPr>
        <p:spPr>
          <a:xfrm>
            <a:off x="4791075" y="1924050"/>
            <a:ext cx="180975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</a:ln>
        </p:spPr>
        <p:txBody>
          <a:bodyPr lIns="57150" tIns="76200" rIns="57150" bIns="76200" anchor="ctr">
            <a:noAutofit/>
          </a:bodyPr>
          <a:lstStyle/>
          <a:p>
            <a:pPr algn="ctr"/>
            <a:r>
              <a:rPr sz="1725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Carrinho</a:t>
            </a:r>
          </a:p>
          <a:p>
            <a:pPr algn="ctr"/>
            <a:r>
              <a:rPr sz="135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Itens e quantidades</a:t>
            </a:r>
          </a:p>
        </p:txBody>
      </p:sp>
      <p:sp>
        <p:nvSpPr>
          <p:cNvPr id="112" name="WhatsApp"/>
          <p:cNvSpPr>
            <a:spLocks noGrp="1"/>
          </p:cNvSpPr>
          <p:nvPr/>
        </p:nvSpPr>
        <p:spPr>
          <a:xfrm>
            <a:off x="6972300" y="1924050"/>
            <a:ext cx="1743075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</a:ln>
        </p:spPr>
        <p:txBody>
          <a:bodyPr lIns="57150" tIns="76200" rIns="57150" bIns="76200" anchor="ctr">
            <a:noAutofit/>
          </a:bodyPr>
          <a:lstStyle/>
          <a:p>
            <a:pPr algn="ctr"/>
            <a:r>
              <a:rPr sz="1725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WhatsApp</a:t>
            </a:r>
          </a:p>
          <a:p>
            <a:pPr algn="ctr"/>
            <a:r>
              <a:rPr sz="135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Contato com a loja</a:t>
            </a:r>
          </a:p>
        </p:txBody>
      </p:sp>
      <p:sp>
        <p:nvSpPr>
          <p:cNvPr id="113" name="Lojista"/>
          <p:cNvSpPr>
            <a:spLocks noGrp="1"/>
          </p:cNvSpPr>
          <p:nvPr/>
        </p:nvSpPr>
        <p:spPr>
          <a:xfrm>
            <a:off x="428625" y="3305175"/>
            <a:ext cx="8096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1950" b="1">
                <a:solidFill>
                  <a:srgbClr val="BD0000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Lojista</a:t>
            </a:r>
          </a:p>
        </p:txBody>
      </p:sp>
      <p:cxnSp>
        <p:nvCxnSpPr>
          <p:cNvPr id="213" name="Conector de Seta Reta 212"/>
          <p:cNvCxnSpPr/>
          <p:nvPr/>
        </p:nvCxnSpPr>
        <p:spPr>
          <a:xfrm>
            <a:off x="4762500" y="4672013"/>
            <a:ext cx="371475" cy="4763"/>
          </a:xfrm>
          <a:prstGeom prst="straightConnector1">
            <a:avLst/>
          </a:prstGeom>
          <a:ln w="14288">
            <a:solidFill>
              <a:srgbClr val="BD0000"/>
            </a:solidFill>
            <a:tailEnd type="triangle" w="sm" len="sm"/>
          </a:ln>
        </p:spPr>
      </p:cxnSp>
      <p:cxnSp>
        <p:nvCxnSpPr>
          <p:cNvPr id="214" name="Conector de Seta Reta 213"/>
          <p:cNvCxnSpPr/>
          <p:nvPr/>
        </p:nvCxnSpPr>
        <p:spPr>
          <a:xfrm>
            <a:off x="2543175" y="4672013"/>
            <a:ext cx="333375" cy="0"/>
          </a:xfrm>
          <a:prstGeom prst="straightConnector1">
            <a:avLst/>
          </a:prstGeom>
          <a:ln w="14288">
            <a:solidFill>
              <a:srgbClr val="BD0000"/>
            </a:solidFill>
            <a:tailEnd type="triangle" w="sm" len="sm"/>
          </a:ln>
        </p:spPr>
      </p:cxnSp>
      <p:sp>
        <p:nvSpPr>
          <p:cNvPr id="215" name="Página comercial"/>
          <p:cNvSpPr>
            <a:spLocks noGrp="1"/>
          </p:cNvSpPr>
          <p:nvPr/>
        </p:nvSpPr>
        <p:spPr>
          <a:xfrm>
            <a:off x="428625" y="4029075"/>
            <a:ext cx="2114550" cy="1285875"/>
          </a:xfrm>
          <a:prstGeom prst="rect">
            <a:avLst/>
          </a:prstGeom>
          <a:solidFill>
            <a:srgbClr val="FAFAFA"/>
          </a:solidFill>
          <a:ln w="9525">
            <a:solidFill>
              <a:srgbClr val="B9B9B9"/>
            </a:solidFill>
          </a:ln>
        </p:spPr>
        <p:txBody>
          <a:bodyPr/>
          <a:lstStyle/>
          <a:p/>
        </p:txBody>
      </p:sp>
      <p:sp>
        <p:nvSpPr>
          <p:cNvPr id="216" name="Página comercial title"/>
          <p:cNvSpPr>
            <a:spLocks noGrp="1"/>
          </p:cNvSpPr>
          <p:nvPr/>
        </p:nvSpPr>
        <p:spPr>
          <a:xfrm>
            <a:off x="571500" y="4143375"/>
            <a:ext cx="18288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650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Página comercial</a:t>
            </a:r>
          </a:p>
        </p:txBody>
      </p:sp>
      <p:sp>
        <p:nvSpPr>
          <p:cNvPr id="217" name="Página comercial description"/>
          <p:cNvSpPr>
            <a:spLocks noGrp="1"/>
          </p:cNvSpPr>
          <p:nvPr/>
        </p:nvSpPr>
        <p:spPr>
          <a:xfrm>
            <a:off x="571500" y="4476750"/>
            <a:ext cx="18288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500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Apresentação da</a:t>
            </a:r>
          </a:p>
          <a:p>
            <a:pPr algn="l">
              <a:lnSpc>
                <a:spcPct val="112000"/>
              </a:lnSpc>
              <a:buNone/>
            </a:pPr>
            <a:r>
              <a:rPr sz="1500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Vitrine Web</a:t>
            </a:r>
          </a:p>
        </p:txBody>
      </p:sp>
      <p:sp>
        <p:nvSpPr>
          <p:cNvPr id="218" name="Entrar"/>
          <p:cNvSpPr>
            <a:spLocks noGrp="1"/>
          </p:cNvSpPr>
          <p:nvPr/>
        </p:nvSpPr>
        <p:spPr>
          <a:xfrm>
            <a:off x="2876550" y="4029075"/>
            <a:ext cx="1885950" cy="1285875"/>
          </a:xfrm>
          <a:prstGeom prst="rect">
            <a:avLst/>
          </a:prstGeom>
          <a:solidFill>
            <a:srgbClr val="FAFAFA"/>
          </a:solidFill>
          <a:ln w="9525">
            <a:solidFill>
              <a:srgbClr val="B9B9B9"/>
            </a:solidFill>
          </a:ln>
        </p:spPr>
        <p:txBody>
          <a:bodyPr/>
          <a:lstStyle/>
          <a:p/>
        </p:txBody>
      </p:sp>
      <p:sp>
        <p:nvSpPr>
          <p:cNvPr id="219" name="Entrar title"/>
          <p:cNvSpPr>
            <a:spLocks noGrp="1"/>
          </p:cNvSpPr>
          <p:nvPr/>
        </p:nvSpPr>
        <p:spPr>
          <a:xfrm>
            <a:off x="3019425" y="4143375"/>
            <a:ext cx="16002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650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Entrar</a:t>
            </a:r>
          </a:p>
        </p:txBody>
      </p:sp>
      <p:sp>
        <p:nvSpPr>
          <p:cNvPr id="220" name="Entrar description"/>
          <p:cNvSpPr>
            <a:spLocks noGrp="1"/>
          </p:cNvSpPr>
          <p:nvPr/>
        </p:nvSpPr>
        <p:spPr>
          <a:xfrm>
            <a:off x="3019425" y="4476750"/>
            <a:ext cx="1600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500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Acesso do lojista</a:t>
            </a:r>
          </a:p>
        </p:txBody>
      </p:sp>
      <p:sp>
        <p:nvSpPr>
          <p:cNvPr id="221" name="Dashboard"/>
          <p:cNvSpPr>
            <a:spLocks noGrp="1"/>
          </p:cNvSpPr>
          <p:nvPr/>
        </p:nvSpPr>
        <p:spPr>
          <a:xfrm>
            <a:off x="5133975" y="3848100"/>
            <a:ext cx="3581400" cy="1657350"/>
          </a:xfrm>
          <a:prstGeom prst="rect">
            <a:avLst/>
          </a:prstGeom>
          <a:solidFill>
            <a:srgbClr val="FAFAFA"/>
          </a:solidFill>
          <a:ln w="9525">
            <a:solidFill>
              <a:srgbClr val="B9B9B9"/>
            </a:solidFill>
          </a:ln>
        </p:spPr>
        <p:txBody>
          <a:bodyPr/>
          <a:lstStyle/>
          <a:p/>
        </p:txBody>
      </p:sp>
      <p:sp>
        <p:nvSpPr>
          <p:cNvPr id="222" name="Dashboard title"/>
          <p:cNvSpPr>
            <a:spLocks noGrp="1"/>
          </p:cNvSpPr>
          <p:nvPr/>
        </p:nvSpPr>
        <p:spPr>
          <a:xfrm>
            <a:off x="5276850" y="3962400"/>
            <a:ext cx="32956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725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Dashboard do lojista</a:t>
            </a:r>
          </a:p>
        </p:txBody>
      </p:sp>
      <p:sp>
        <p:nvSpPr>
          <p:cNvPr id="223" name="Dashboard description"/>
          <p:cNvSpPr>
            <a:spLocks noGrp="1"/>
          </p:cNvSpPr>
          <p:nvPr/>
        </p:nvSpPr>
        <p:spPr>
          <a:xfrm>
            <a:off x="5276850" y="4295775"/>
            <a:ext cx="3295650" cy="1152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57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Consulta os pedidos solicitados e centraliza a gestão de produtos, preços, estoque e dados da loja.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reserved title"/>
          <p:cNvSpPr>
            <a:spLocks noGrp="1"/>
          </p:cNvSpPr>
          <p:nvPr/>
        </p:nvSpPr>
        <p:spPr>
          <a:xfrm>
            <a:off x="133350" y="438150"/>
            <a:ext cx="766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2400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APRESENTAÇÃO DO PROJETO</a:t>
            </a:r>
          </a:p>
        </p:txBody>
      </p:sp>
      <p:sp>
        <p:nvSpPr>
          <p:cNvPr id="102" name="Para o cliente"/>
          <p:cNvSpPr>
            <a:spLocks noGrp="1"/>
          </p:cNvSpPr>
          <p:nvPr/>
        </p:nvSpPr>
        <p:spPr>
          <a:xfrm>
            <a:off x="381000" y="1409700"/>
            <a:ext cx="40005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2025" b="1">
                <a:solidFill>
                  <a:srgbClr val="BD0000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Para o cliente</a:t>
            </a:r>
          </a:p>
        </p:txBody>
      </p:sp>
      <p:sp>
        <p:nvSpPr>
          <p:cNvPr id="103" name="Para o lojista"/>
          <p:cNvSpPr>
            <a:spLocks noGrp="1"/>
          </p:cNvSpPr>
          <p:nvPr/>
        </p:nvSpPr>
        <p:spPr>
          <a:xfrm>
            <a:off x="4762500" y="1409700"/>
            <a:ext cx="40005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2025" b="1">
                <a:solidFill>
                  <a:srgbClr val="BD0000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Para o lojista</a:t>
            </a:r>
          </a:p>
        </p:txBody>
      </p:sp>
      <p:pic>
        <p:nvPicPr>
          <p:cNvPr id="104" name="Imagem 10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81000" y="2008556"/>
            <a:ext cx="4000500" cy="2078887"/>
          </a:xfrm>
          <a:prstGeom prst="rect">
            <a:avLst/>
          </a:prstGeom>
        </p:spPr>
      </p:pic>
      <p:pic>
        <p:nvPicPr>
          <p:cNvPr id="105" name="Imagem 10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762500" y="2012006"/>
            <a:ext cx="4000500" cy="2071989"/>
          </a:xfrm>
          <a:prstGeom prst="rect">
            <a:avLst/>
          </a:prstGeom>
        </p:spPr>
      </p:pic>
      <p:sp>
        <p:nvSpPr>
          <p:cNvPr id="106" name="Conheça os produtos da loja&#10;e escolha o que deseja."/>
          <p:cNvSpPr>
            <a:spLocks noGrp="1"/>
          </p:cNvSpPr>
          <p:nvPr/>
        </p:nvSpPr>
        <p:spPr>
          <a:xfrm>
            <a:off x="381000" y="4362450"/>
            <a:ext cx="400050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Conheça os produtos da loja</a:t>
            </a:r>
          </a:p>
          <a:p>
            <a:pPr algn="l"/>
            <a:r>
              <a:rPr sz="1800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e escolha o que deseja.</a:t>
            </a:r>
          </a:p>
        </p:txBody>
      </p:sp>
      <p:sp>
        <p:nvSpPr>
          <p:cNvPr id="107" name="Cadastre produtos e mantenha&#10;preços e estoque atualizados."/>
          <p:cNvSpPr>
            <a:spLocks noGrp="1"/>
          </p:cNvSpPr>
          <p:nvPr/>
        </p:nvSpPr>
        <p:spPr>
          <a:xfrm>
            <a:off x="4762500" y="4362450"/>
            <a:ext cx="400050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Cadastre produtos e mantenha</a:t>
            </a:r>
          </a:p>
          <a:p>
            <a:pPr algn="l"/>
            <a:r>
              <a:rPr sz="1800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preços e estoque atualizados.</a:t>
            </a:r>
          </a:p>
        </p:txBody>
      </p:sp>
      <p:pic>
        <p:nvPicPr>
          <p:cNvPr id="108" name="Imagem 10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1000" y="5048250"/>
            <a:ext cx="714375" cy="714375"/>
          </a:xfrm>
          <a:prstGeom prst="rect">
            <a:avLst/>
          </a:prstGeom>
        </p:spPr>
      </p:pic>
      <p:sp>
        <p:nvSpPr>
          <p:cNvPr id="109" name="Acesse a Vitrine Web"/>
          <p:cNvSpPr>
            <a:spLocks noGrp="1"/>
          </p:cNvSpPr>
          <p:nvPr/>
        </p:nvSpPr>
        <p:spPr>
          <a:xfrm>
            <a:off x="1304925" y="5181600"/>
            <a:ext cx="70485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1500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Acesse a Vitrine Web</a:t>
            </a:r>
          </a:p>
        </p:txBody>
      </p:sp>
      <p:sp>
        <p:nvSpPr>
          <p:cNvPr id="110" name="vitrineweb-app.vercel.app"/>
          <p:cNvSpPr>
            <a:spLocks noGrp="1"/>
          </p:cNvSpPr>
          <p:nvPr/>
        </p:nvSpPr>
        <p:spPr>
          <a:xfrm>
            <a:off x="1304925" y="5467350"/>
            <a:ext cx="7048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1500" b="0">
                <a:solidFill>
                  <a:srgbClr val="5B5B5B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  <a:hlinkClick r:id="rId4"/>
              </a:rPr>
              <a:t>vitrineweb-app.vercel.app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reserved title"/>
          <p:cNvSpPr>
            <a:spLocks noGrp="1"/>
          </p:cNvSpPr>
          <p:nvPr/>
        </p:nvSpPr>
        <p:spPr>
          <a:xfrm>
            <a:off x="133350" y="438150"/>
            <a:ext cx="766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2400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CONSIDERAÇÕES FINAIS</a:t>
            </a:r>
          </a:p>
        </p:txBody>
      </p:sp>
      <p:sp>
        <p:nvSpPr>
          <p:cNvPr id="102" name="O que a loja recebe"/>
          <p:cNvSpPr>
            <a:spLocks noGrp="1"/>
          </p:cNvSpPr>
          <p:nvPr/>
        </p:nvSpPr>
        <p:spPr>
          <a:xfrm>
            <a:off x="571500" y="1657350"/>
            <a:ext cx="3714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2025" b="1">
                <a:solidFill>
                  <a:srgbClr val="BD0000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O que a loja recebe</a:t>
            </a:r>
          </a:p>
        </p:txBody>
      </p:sp>
      <p:sp>
        <p:nvSpPr>
          <p:cNvPr id="103" name="Um catálogo para apresentar&#10;os produtos."/>
          <p:cNvSpPr>
            <a:spLocks noGrp="1"/>
          </p:cNvSpPr>
          <p:nvPr/>
        </p:nvSpPr>
        <p:spPr>
          <a:xfrm>
            <a:off x="571500" y="2286000"/>
            <a:ext cx="371475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202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Um catálogo para apresentar</a:t>
            </a:r>
          </a:p>
          <a:p>
            <a:pPr algn="l"/>
            <a:r>
              <a:rPr sz="202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os produtos.</a:t>
            </a:r>
          </a:p>
        </p:txBody>
      </p:sp>
      <p:sp>
        <p:nvSpPr>
          <p:cNvPr id="104" name="Um painel para manter&#10;a oferta atualizada."/>
          <p:cNvSpPr>
            <a:spLocks noGrp="1"/>
          </p:cNvSpPr>
          <p:nvPr/>
        </p:nvSpPr>
        <p:spPr>
          <a:xfrm>
            <a:off x="571500" y="3267075"/>
            <a:ext cx="371475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202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Um painel para manter</a:t>
            </a:r>
          </a:p>
          <a:p>
            <a:pPr algn="l"/>
            <a:r>
              <a:rPr sz="202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a oferta atualizada.</a:t>
            </a:r>
          </a:p>
        </p:txBody>
      </p:sp>
      <p:sp>
        <p:nvSpPr>
          <p:cNvPr id="105" name="Próxima etapa"/>
          <p:cNvSpPr>
            <a:spLocks noGrp="1"/>
          </p:cNvSpPr>
          <p:nvPr/>
        </p:nvSpPr>
        <p:spPr>
          <a:xfrm>
            <a:off x="4905375" y="1657350"/>
            <a:ext cx="36671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2025" b="1">
                <a:solidFill>
                  <a:srgbClr val="BD0000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Próxima etapa</a:t>
            </a:r>
          </a:p>
        </p:txBody>
      </p:sp>
      <p:sp>
        <p:nvSpPr>
          <p:cNvPr id="106" name="Validar o uso com lojistas&#10;e clientes."/>
          <p:cNvSpPr>
            <a:spLocks noGrp="1"/>
          </p:cNvSpPr>
          <p:nvPr/>
        </p:nvSpPr>
        <p:spPr>
          <a:xfrm>
            <a:off x="4905375" y="2286000"/>
            <a:ext cx="36671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202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Validar o uso com lojistas</a:t>
            </a:r>
          </a:p>
          <a:p>
            <a:pPr algn="l"/>
            <a:r>
              <a:rPr sz="202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e clientes.</a:t>
            </a:r>
          </a:p>
        </p:txBody>
      </p:sp>
      <p:sp>
        <p:nvSpPr>
          <p:cNvPr id="107" name="Aprimorar o produto a partir&#10;das dificuldades e sugestões."/>
          <p:cNvSpPr>
            <a:spLocks noGrp="1"/>
          </p:cNvSpPr>
          <p:nvPr/>
        </p:nvSpPr>
        <p:spPr>
          <a:xfrm>
            <a:off x="4905375" y="3267075"/>
            <a:ext cx="3667125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202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Aprimorar o pro</a:t>
            </a:r>
            <a:r>
              <a:rPr lang="pt-BR" sz="202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jeto</a:t>
            </a:r>
            <a:r>
              <a:rPr sz="202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 a partir</a:t>
            </a:r>
          </a:p>
          <a:p>
            <a:pPr algn="l"/>
            <a:r>
              <a:rPr sz="2025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das dificuldades e sugestões.</a:t>
            </a:r>
          </a:p>
        </p:txBody>
      </p:sp>
      <p:sp>
        <p:nvSpPr>
          <p:cNvPr id="108" name="O cliente escolhe no catálogo.&#10;A loja mantém o atendimento d"/>
          <p:cNvSpPr>
            <a:spLocks noGrp="1"/>
          </p:cNvSpPr>
          <p:nvPr/>
        </p:nvSpPr>
        <p:spPr>
          <a:xfrm>
            <a:off x="571500" y="4819650"/>
            <a:ext cx="80010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2175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O cliente escolhe no catálogo.</a:t>
            </a:r>
          </a:p>
          <a:p>
            <a:pPr algn="l"/>
            <a:r>
              <a:rPr sz="2175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A loja mantém o atendimento direto.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reserved title"/>
          <p:cNvSpPr>
            <a:spLocks noGrp="1"/>
          </p:cNvSpPr>
          <p:nvPr/>
        </p:nvSpPr>
        <p:spPr>
          <a:xfrm>
            <a:off x="133350" y="438150"/>
            <a:ext cx="766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2400" b="1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REFERÊNCIAS</a:t>
            </a:r>
          </a:p>
        </p:txBody>
      </p:sp>
      <p:sp>
        <p:nvSpPr>
          <p:cNvPr id="102" name="Manual de TCC"/>
          <p:cNvSpPr>
            <a:spLocks noGrp="1"/>
          </p:cNvSpPr>
          <p:nvPr/>
        </p:nvSpPr>
        <p:spPr>
          <a:xfrm>
            <a:off x="395605" y="2348865"/>
            <a:ext cx="804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endParaRPr sz="1725" b="1">
              <a:solidFill>
                <a:srgbClr val="BD0000"/>
              </a:solidFill>
              <a:latin typeface="Arial" pitchFamily="34" charset="0" panose="020B0604020202020204"/>
              <a:ea typeface="Arial" pitchFamily="34" charset="0" panose="020B0604020202020204"/>
              <a:cs typeface="Arial" pitchFamily="34" charset="0" panose="020B0604020202020204"/>
            </a:endParaRPr>
          </a:p>
        </p:txBody>
      </p:sp>
      <p:sp>
        <p:nvSpPr>
          <p:cNvPr id="103" name="Centro Paula Souza. Manual de TCC nas Etecs. 2ª edição, 2022"/>
          <p:cNvSpPr>
            <a:spLocks noGrp="1"/>
          </p:cNvSpPr>
          <p:nvPr/>
        </p:nvSpPr>
        <p:spPr>
          <a:xfrm>
            <a:off x="323850" y="2919095"/>
            <a:ext cx="8048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endParaRPr sz="1575" b="0">
              <a:solidFill>
                <a:srgbClr val="232323"/>
              </a:solidFill>
              <a:latin typeface="Arial" pitchFamily="34" charset="0" panose="020B0604020202020204"/>
              <a:ea typeface="Arial" pitchFamily="34" charset="0" panose="020B0604020202020204"/>
              <a:cs typeface="Arial" pitchFamily="34" charset="0" panose="020B0604020202020204"/>
            </a:endParaRPr>
          </a:p>
        </p:txBody>
      </p:sp>
      <p:sp>
        <p:nvSpPr>
          <p:cNvPr id="104" name="Levantamento de requisitos"/>
          <p:cNvSpPr>
            <a:spLocks noGrp="1"/>
          </p:cNvSpPr>
          <p:nvPr/>
        </p:nvSpPr>
        <p:spPr>
          <a:xfrm>
            <a:off x="523875" y="2266950"/>
            <a:ext cx="804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endParaRPr sz="1725" b="1">
              <a:solidFill>
                <a:srgbClr val="BD0000"/>
              </a:solidFill>
              <a:latin typeface="Arial" pitchFamily="34" charset="0" panose="020B0604020202020204"/>
              <a:ea typeface="Arial" pitchFamily="34" charset="0" panose="020B0604020202020204"/>
              <a:cs typeface="Arial" pitchFamily="34" charset="0" panose="020B0604020202020204"/>
            </a:endParaRPr>
          </a:p>
        </p:txBody>
      </p:sp>
      <p:sp>
        <p:nvSpPr>
          <p:cNvPr id="106" name="Repositórios da Vitrine Web"/>
          <p:cNvSpPr>
            <a:spLocks noGrp="1"/>
          </p:cNvSpPr>
          <p:nvPr/>
        </p:nvSpPr>
        <p:spPr>
          <a:xfrm>
            <a:off x="523875" y="3286125"/>
            <a:ext cx="804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endParaRPr sz="1725" b="1">
              <a:solidFill>
                <a:srgbClr val="BD0000"/>
              </a:solidFill>
              <a:latin typeface="Arial" pitchFamily="34" charset="0" panose="020B0604020202020204"/>
              <a:ea typeface="Arial" pitchFamily="34" charset="0" panose="020B0604020202020204"/>
              <a:cs typeface="Arial" pitchFamily="34" charset="0" panose="020B0604020202020204"/>
            </a:endParaRPr>
          </a:p>
        </p:txBody>
      </p:sp>
      <p:sp>
        <p:nvSpPr>
          <p:cNvPr id="107" name="https://github.com/devmoisesz/vitrine-web"/>
          <p:cNvSpPr>
            <a:spLocks noGrp="1"/>
          </p:cNvSpPr>
          <p:nvPr/>
        </p:nvSpPr>
        <p:spPr>
          <a:xfrm>
            <a:off x="523875" y="3629025"/>
            <a:ext cx="804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endParaRPr sz="1575" b="0">
              <a:solidFill>
                <a:srgbClr val="232323"/>
              </a:solidFill>
              <a:latin typeface="Arial" pitchFamily="34" charset="0" panose="020B0604020202020204"/>
              <a:ea typeface="Arial" pitchFamily="34" charset="0" panose="020B0604020202020204"/>
              <a:cs typeface="Arial" pitchFamily="34" charset="0" panose="020B0604020202020204"/>
            </a:endParaRPr>
          </a:p>
        </p:txBody>
      </p:sp>
      <p:sp>
        <p:nvSpPr>
          <p:cNvPr id="108" name="https://github.com/devmoisesz/vitrine-web-api"/>
          <p:cNvSpPr>
            <a:spLocks noGrp="1"/>
          </p:cNvSpPr>
          <p:nvPr/>
        </p:nvSpPr>
        <p:spPr>
          <a:xfrm>
            <a:off x="523875" y="3943350"/>
            <a:ext cx="804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endParaRPr sz="1575" b="0">
              <a:solidFill>
                <a:srgbClr val="232323"/>
              </a:solidFill>
              <a:latin typeface="Arial" pitchFamily="34" charset="0" panose="020B0604020202020204"/>
              <a:ea typeface="Arial" pitchFamily="34" charset="0" panose="020B0604020202020204"/>
              <a:cs typeface="Arial" pitchFamily="34" charset="0" panose="020B0604020202020204"/>
            </a:endParaRPr>
          </a:p>
        </p:txBody>
      </p:sp>
      <p:sp>
        <p:nvSpPr>
          <p:cNvPr id="109" name="Referências de catálogo"/>
          <p:cNvSpPr>
            <a:spLocks noGrp="1"/>
          </p:cNvSpPr>
          <p:nvPr/>
        </p:nvSpPr>
        <p:spPr>
          <a:xfrm>
            <a:off x="323850" y="1341120"/>
            <a:ext cx="804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sz="1725" b="1">
                <a:solidFill>
                  <a:srgbClr val="BD0000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Referências de catálogo</a:t>
            </a:r>
          </a:p>
        </p:txBody>
      </p:sp>
      <p:sp>
        <p:nvSpPr>
          <p:cNvPr id="110" name="Amazon Brasil (amazon.com.br) e Mercado Livre (mercadolivre."/>
          <p:cNvSpPr>
            <a:spLocks noGrp="1"/>
          </p:cNvSpPr>
          <p:nvPr/>
        </p:nvSpPr>
        <p:spPr>
          <a:xfrm>
            <a:off x="323850" y="1822450"/>
            <a:ext cx="804862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/>
            <a:r>
              <a:rPr lang="pt-BR" sz="2400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Utilizamos como referência grandes empresas do mercado de varejo, que trabalham </a:t>
            </a:r>
            <a:r>
              <a:rPr lang="en-US" altLang="pt-BR" sz="2400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especificamente no segmento de com</a:t>
            </a:r>
            <a:r>
              <a:rPr lang="en-US" altLang="en-US" sz="2400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é</a:t>
            </a:r>
            <a:r>
              <a:rPr lang="en-US" altLang="pt-BR" sz="2400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rcio eletrônico</a:t>
            </a:r>
            <a:r>
              <a:rPr lang="pt-BR" altLang="en-US" sz="2400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 como a</a:t>
            </a:r>
            <a:r>
              <a:rPr lang="pt-BR" sz="2400" b="0">
                <a:solidFill>
                  <a:srgbClr val="232323"/>
                </a:solidFill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 Amazon (amazon.com.br) e o Mercado Livre (mercadolivre.com.br)</a:t>
            </a:r>
          </a:p>
          <a:p>
            <a:pPr algn="l"/>
            <a:endParaRPr lang="pt-BR" sz="2400" b="0">
              <a:solidFill>
                <a:srgbClr val="232323"/>
              </a:solidFill>
              <a:latin typeface="Arial" pitchFamily="34" charset="0" panose="020B0604020202020204"/>
              <a:ea typeface="Arial" pitchFamily="34" charset="0" panose="020B0604020202020204"/>
              <a:cs typeface="Arial" pitchFamily="34" charset="0" panose="020B0604020202020204"/>
            </a:endParaRPr>
          </a:p>
          <a:p>
            <a:pPr algn="l"/>
            <a:endParaRPr lang="en-US" altLang="pt-BR" sz="2400" b="0">
              <a:solidFill>
                <a:srgbClr val="232323"/>
              </a:solidFill>
              <a:latin typeface="Arial" pitchFamily="34" charset="0" panose="020B0604020202020204"/>
              <a:ea typeface="Arial" pitchFamily="34" charset="0" panose="020B0604020202020204"/>
              <a:cs typeface="Arial" pitchFamily="34" charset="0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1700808"/>
            <a:ext cx="8138160" cy="66178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00000"/>
                </a:solidFill>
                <a:latin typeface="Arial" pitchFamily="34" charset="0" panose="020B0604020202020204"/>
              </a:rPr>
              <a:t>Vitrine Web</a:t>
            </a:r>
            <a:endParaRPr sz="4400" b="1">
              <a:solidFill>
                <a:srgbClr val="BD0000"/>
              </a:solidFill>
              <a:latin typeface="Arial" pitchFamily="34" charset="0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67544" y="2996952"/>
            <a:ext cx="8138160" cy="6016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pt-BR" altLang="en-US" sz="4000" b="0">
                <a:solidFill>
                  <a:srgbClr val="232323"/>
                </a:solidFill>
                <a:latin typeface="Arial" pitchFamily="34" charset="0" panose="020B0604020202020204"/>
              </a:rPr>
              <a:t>O</a:t>
            </a:r>
            <a:r>
              <a:rPr lang="en-US" altLang="pt-BR" sz="4000" b="0">
                <a:solidFill>
                  <a:srgbClr val="232323"/>
                </a:solidFill>
                <a:latin typeface="Arial" pitchFamily="34" charset="0" panose="020B0604020202020204"/>
              </a:rPr>
              <a:t> com</a:t>
            </a:r>
            <a:r>
              <a:rPr lang="en-US" altLang="en-US" sz="4000" b="0">
                <a:solidFill>
                  <a:srgbClr val="232323"/>
                </a:solidFill>
                <a:latin typeface="Arial" pitchFamily="34" charset="0" panose="020B0604020202020204"/>
              </a:rPr>
              <a:t>é</a:t>
            </a:r>
            <a:r>
              <a:rPr lang="en-US" altLang="pt-BR" sz="4000" b="0">
                <a:solidFill>
                  <a:srgbClr val="232323"/>
                </a:solidFill>
                <a:latin typeface="Arial" pitchFamily="34" charset="0" panose="020B0604020202020204"/>
              </a:rPr>
              <a:t>rcio local em evid</a:t>
            </a:r>
            <a:r>
              <a:rPr lang="en-US" altLang="en-US" sz="4000" b="0">
                <a:solidFill>
                  <a:srgbClr val="232323"/>
                </a:solidFill>
                <a:latin typeface="Arial" pitchFamily="34" charset="0" panose="020B0604020202020204"/>
              </a:rPr>
              <a:t>ê</a:t>
            </a:r>
            <a:r>
              <a:rPr lang="en-US" altLang="pt-BR" sz="4000" b="0">
                <a:solidFill>
                  <a:srgbClr val="232323"/>
                </a:solidFill>
                <a:latin typeface="Arial" pitchFamily="34" charset="0" panose="020B0604020202020204"/>
              </a:rPr>
              <a:t>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991572"/>
            <a:ext cx="8138160" cy="721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00000"/>
                </a:solidFill>
                <a:latin typeface="Arial" pitchFamily="34" charset="0" panose="020B0604020202020204"/>
              </a:rPr>
              <a:t>Boa noite!</a:t>
            </a:r>
            <a:endParaRPr sz="4800" b="1">
              <a:solidFill>
                <a:srgbClr val="BD0000"/>
              </a:solidFill>
              <a:latin typeface="Arial" pitchFamily="34" charset="0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315" y="539168"/>
            <a:ext cx="8138160" cy="6016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00000"/>
                </a:solidFill>
                <a:latin typeface="Arial" pitchFamily="34" charset="0" panose="020B0604020202020204"/>
              </a:rPr>
              <a:t>FIM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Notes Theme">
  <a:themeElements>
    <a:clrScheme name="Office Notes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Notes Them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Notes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1"/>
        </a:gradFill>
      </a:fillStyleLst>
      <a:lnStyleLst>
        <a:ln w="9525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>
          <a:solidFill>
            <a:schemeClr val="phClr"/>
          </a:solidFill>
          <a:prstDash val="solid"/>
        </a:ln>
        <a:ln w="38100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3993</Words>
  <Application>WPS Presentation</Application>
  <PresentationFormat>Apresentação na tela (4:3)</PresentationFormat>
  <Paragraphs>193</Paragraphs>
  <Slides>12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SimSun</vt:lpstr>
      <vt:lpstr>Wingdings</vt:lpstr>
      <vt:lpstr>Arial</vt:lpstr>
      <vt:lpstr>Microsoft YaHei</vt:lpstr>
      <vt:lpstr>Arial Unicode MS</vt:lpstr>
      <vt:lpstr>Calibri</vt:lpstr>
      <vt:lpstr>Tema do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TRABALHO DE CONCLUSÃO DE CURSO</dc:title>
  <dc:creator>Usuário do Windows</dc:creator>
  <cp:lastModifiedBy>Moisés Figueiredo Santos Machado</cp:lastModifiedBy>
  <cp:revision>31</cp:revision>
  <dcterms:created xsi:type="dcterms:W3CDTF">2019-05-13T18:49:00Z</dcterms:created>
  <dcterms:modified xsi:type="dcterms:W3CDTF">2026-10-21T14:47:27Z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1046-12.1.0.29162</vt:lpwstr>
  </property>
  <property fmtid="{D5CDD505-2E9C-101B-9397-08002B2CF9AE}" pid="3" name="ICV">
    <vt:lpwstr>51FDB222DC3C4957A383E671BA48EA3D_12</vt:lpwstr>
  </property>
</Properties>
</file>