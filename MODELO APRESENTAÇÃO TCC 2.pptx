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70" r:id="rId3"/>
    <p:sldId id="257" r:id="rId4"/>
    <p:sldId id="260" r:id="rId5"/>
    <p:sldId id="267" r:id="rId6"/>
    <p:sldId id="261" r:id="rId7"/>
    <p:sldId id="266" r:id="rId8"/>
    <p:sldId id="268" r:id="rId9"/>
    <p:sldId id="263" r:id="rId10"/>
    <p:sldId id="264" r:id="rId11"/>
    <p:sldId id="269" r:id="rId1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0000"/>
    <a:srgbClr val="8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3" name="Espaço reservado para data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/>
          <a:p>
            <a:r>
              <a:rPr lang="en-US" smtClean="0"/>
              <a:t>*</a:t>
            </a:r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  <a:p>
            <a:endParaRPr lang="en-US"/>
          </a:p>
        </p:txBody>
      </p:sp>
      <p:sp>
        <p:nvSpPr>
          <p:cNvPr id="5" name="Espaço reservado para notas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altLang="en-US"/>
              <a:t>Clique para editar os estilos de texto mestre</a:t>
            </a:r>
            <a:endParaRPr lang="en-US"/>
          </a:p>
          <a:p>
            <a:pPr lvl="1"/>
            <a:r>
              <a:rPr lang="pt-BR" altLang="en-US"/>
              <a:t>Segundo nível</a:t>
            </a:r>
            <a:endParaRPr lang="en-US"/>
          </a:p>
          <a:p>
            <a:pPr lvl="2"/>
            <a:r>
              <a:rPr lang="pt-BR" altLang="en-US"/>
              <a:t>Terceiro nível</a:t>
            </a:r>
            <a:endParaRPr lang="en-US"/>
          </a:p>
          <a:p>
            <a:pPr lvl="3"/>
            <a:r>
              <a:rPr lang="pt-BR" altLang="en-US"/>
              <a:t>Quarto nível</a:t>
            </a:r>
            <a:endParaRPr lang="en-US"/>
          </a:p>
          <a:p>
            <a:pPr lvl="4"/>
            <a:r>
              <a:rPr lang="pt-BR" altLang="en-US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7" name="Espaço reservado para o número do slide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/>
          <a:p>
            <a:r>
              <a:rPr lang="en-US" smtClean="0"/>
              <a:t>#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F49F4D1-D57C-43B5-BDEA-10178D6C79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C9F487F-44D8-4B7A-BFF7-F2C40169783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3335888-3EE2-4BEB-A3A8-F1D8149BC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D42DBBE-8022-4B6E-9CAC-F946D7428F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B226321-E2F5-4F4C-800A-B1794FEBD0E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91A326F-F6F9-468D-A1A8-81A62607A0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A6F41B08-B7DF-4B48-A923-A75C037657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D5A3B75-9901-4B35-8847-3ADEAB7B1E1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B510531-59AF-42BC-A325-31D2165F836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Espaço reservado para o número do slide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5B22B2E-FFF5-460F-93E0-955B237204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 noEditPoints="1"/>
          </p:cNvSpPr>
          <p:nvPr>
            <p:ph type="title"/>
          </p:nvPr>
        </p:nvSpPr>
        <p:spPr>
          <a:xfrm>
            <a:off x="41109" y="188168"/>
            <a:ext cx="7951712" cy="925563"/>
          </a:xfrm>
        </p:spPr>
        <p:txBody>
          <a:bodyPr>
            <a:noAutofit/>
          </a:bodyPr>
          <a:lstStyle>
            <a:lvl1pPr algn="l">
              <a:defRPr sz="4000" b="1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 noEditPoints="1"/>
          </p:cNvSpPr>
          <p:nvPr>
            <p:ph idx="1"/>
          </p:nvPr>
        </p:nvSpPr>
        <p:spPr>
          <a:xfrm>
            <a:off x="41109" y="1340768"/>
            <a:ext cx="8928992" cy="45259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7" name="Espaço Reservado para Data 3"/>
          <p:cNvSpPr>
            <a:spLocks noGrp="1" noEditPoints="1"/>
          </p:cNvSpPr>
          <p:nvPr>
            <p:ph type="dt" sz="half" idx="10"/>
          </p:nvPr>
        </p:nvSpPr>
        <p:spPr>
          <a:xfrm>
            <a:off x="2419823" y="633170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6F6E65D-8DAF-473D-8F8C-DED78E0ED715}" type="datetimeFigureOut">
              <a:rPr lang="pt-BR" smtClean="0"/>
              <a:t>02/08/2026</a:t>
            </a:fld>
            <a:endParaRPr lang="pt-BR" dirty="0"/>
          </a:p>
        </p:txBody>
      </p:sp>
      <p:sp>
        <p:nvSpPr>
          <p:cNvPr id="8" name="Espaço Reservado para Número de Slide 5"/>
          <p:cNvSpPr>
            <a:spLocks noGrp="1" noEditPoints="1"/>
          </p:cNvSpPr>
          <p:nvPr>
            <p:ph type="sldNum" sz="quarter" idx="12"/>
          </p:nvPr>
        </p:nvSpPr>
        <p:spPr>
          <a:xfrm>
            <a:off x="7217" y="6356350"/>
            <a:ext cx="21336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45950755-B738-4D9B-829E-82AFD49363A1}" type="slidenum">
              <a:rPr lang="pt-BR" smtClean="0"/>
              <a:t>‹#›</a:t>
            </a:fld>
            <a:r>
              <a:rPr lang="pt-BR" dirty="0"/>
              <a:t> - Versão : 0.0</a:t>
            </a:r>
          </a:p>
        </p:txBody>
      </p:sp>
    </p:spTree>
  </p:cSld>
  <p:clrMapOvr>
    <a:masterClrMapping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 noEditPoints="1"/>
          </p:cNvSpPr>
          <p:nvPr>
            <p:ph type="dt" sz="half" idx="10"/>
          </p:nvPr>
        </p:nvSpPr>
        <p:spPr>
          <a:xfrm>
            <a:off x="2419823" y="6331700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6F6E65D-8DAF-473D-8F8C-DED78E0ED715}" type="datetimeFigureOut">
              <a:rPr lang="pt-BR" smtClean="0"/>
              <a:t>02/08/2026</a:t>
            </a:fld>
            <a:endParaRPr lang="pt-BR" dirty="0"/>
          </a:p>
        </p:txBody>
      </p:sp>
      <p:sp>
        <p:nvSpPr>
          <p:cNvPr id="6" name="Espaço Reservado para Número de Slide 5"/>
          <p:cNvSpPr>
            <a:spLocks noGrp="1" noEditPoints="1"/>
          </p:cNvSpPr>
          <p:nvPr>
            <p:ph type="sldNum" sz="quarter" idx="12"/>
          </p:nvPr>
        </p:nvSpPr>
        <p:spPr>
          <a:xfrm>
            <a:off x="7217" y="6356350"/>
            <a:ext cx="21336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45950755-B738-4D9B-829E-82AFD49363A1}" type="slidenum">
              <a:rPr lang="pt-BR" smtClean="0"/>
              <a:t>‹#›</a:t>
            </a:fld>
            <a:r>
              <a:rPr lang="pt-BR" dirty="0"/>
              <a:t> - Versão : 0.0</a:t>
            </a:r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1"/>
          <a:srcRect/>
          <a:stretch>
            <a:fillRect/>
          </a:stretch>
        </p:blipFill>
        <p:spPr>
          <a:xfrm>
            <a:off x="7659836" y="-1984"/>
            <a:ext cx="1475656" cy="1229714"/>
          </a:xfrm>
          <a:prstGeom prst="rect">
            <a:avLst/>
          </a:prstGeom>
        </p:spPr>
      </p:pic>
      <p:cxnSp>
        <p:nvCxnSpPr>
          <p:cNvPr id="11" name="Conector reto 10"/>
          <p:cNvCxnSpPr/>
          <p:nvPr userDrawn="1"/>
        </p:nvCxnSpPr>
        <p:spPr>
          <a:xfrm>
            <a:off x="0" y="1227730"/>
            <a:ext cx="9144000" cy="0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 noEditPoints="1"/>
          </p:cNvSpPr>
          <p:nvPr>
            <p:ph type="title"/>
          </p:nvPr>
        </p:nvSpPr>
        <p:spPr>
          <a:xfrm>
            <a:off x="107504" y="25796"/>
            <a:ext cx="764567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 noEditPoints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 noEditPoints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 panose="020B0604020202020204"/>
                <a:cs typeface="Arial" pitchFamily="34" charset="0" panose="020B0604020202020204"/>
              </a:defRPr>
            </a:lvl1pPr>
          </a:lstStyle>
          <a:p>
            <a:fld id="{A6F6E65D-8DAF-473D-8F8C-DED78E0ED715}" type="datetimeFigureOut">
              <a:rPr lang="pt-BR" smtClean="0"/>
              <a:t>02/08/2026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 noEditPoints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 panose="020B0604020202020204"/>
                <a:cs typeface="Arial" pitchFamily="34" charset="0" panose="020B0604020202020204"/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 noEditPoints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 panose="020B0604020202020204"/>
                <a:cs typeface="Arial" pitchFamily="34" charset="0" panose="020B0604020202020204"/>
              </a:defRPr>
            </a:lvl1pPr>
          </a:lstStyle>
          <a:p>
            <a:fld id="{45950755-B738-4D9B-829E-82AFD49363A1}" type="slidenum">
              <a:rPr lang="pt-BR" smtClean="0"/>
              <a:t>‹#›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0" y="1227730"/>
            <a:ext cx="9144000" cy="0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Retângulo 10"/>
          <p:cNvSpPr/>
          <p:nvPr userDrawn="1"/>
        </p:nvSpPr>
        <p:spPr>
          <a:xfrm>
            <a:off x="0" y="5877274"/>
            <a:ext cx="9135492" cy="980726"/>
          </a:xfrm>
          <a:prstGeom prst="rect">
            <a:avLst/>
          </a:prstGeom>
          <a:solidFill>
            <a:srgbClr val="B400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rial" pitchFamily="34" charset="0" panose="020B0604020202020204"/>
              <a:cs typeface="Arial" pitchFamily="34" charset="0" panose="020B0604020202020204"/>
            </a:endParaRPr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1"/>
          <a:srcRect/>
          <a:stretch>
            <a:fillRect/>
          </a:stretch>
        </p:blipFill>
        <p:spPr>
          <a:xfrm>
            <a:off x="6198122" y="6118495"/>
            <a:ext cx="2843756" cy="602980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4792617" y="5961054"/>
            <a:ext cx="1176905" cy="790592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7753182" y="38950"/>
            <a:ext cx="1382310" cy="115192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</p:sldLayoutIdLst>
  <p:hf dt="0" sldNum="0" hdr="0" ftr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tx1"/>
          </a:solidFill>
          <a:latin typeface="Arial" pitchFamily="34" charset="0" panose="020B0604020202020204"/>
          <a:ea typeface="+mj-ea"/>
          <a:cs typeface="Arial" pitchFamily="34" charset="0" panose="020B0604020202020204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 panose="020B0604020202020204"/>
        <a:buChar char="•"/>
        <a:defRPr sz="3200" kern="1200">
          <a:solidFill>
            <a:schemeClr val="tx1"/>
          </a:solidFill>
          <a:latin typeface="Arial" pitchFamily="34" charset="0" panose="020B0604020202020204"/>
          <a:ea typeface="+mn-ea"/>
          <a:cs typeface="Arial" pitchFamily="34" charset="0" panose="020B0604020202020204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 panose="020B0604020202020204"/>
        <a:buChar char="–"/>
        <a:defRPr sz="2800" kern="1200">
          <a:solidFill>
            <a:schemeClr val="tx1"/>
          </a:solidFill>
          <a:latin typeface="Arial" pitchFamily="34" charset="0" panose="020B0604020202020204"/>
          <a:ea typeface="+mn-ea"/>
          <a:cs typeface="Arial" pitchFamily="34" charset="0" panose="020B0604020202020204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Arial" pitchFamily="34" charset="0" panose="020B0604020202020204"/>
          <a:ea typeface="+mn-ea"/>
          <a:cs typeface="Arial" pitchFamily="34" charset="0" panose="020B0604020202020204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 panose="020B0604020202020204"/>
        <a:buChar char="–"/>
        <a:defRPr sz="2000" kern="1200">
          <a:solidFill>
            <a:schemeClr val="tx1"/>
          </a:solidFill>
          <a:latin typeface="Arial" pitchFamily="34" charset="0" panose="020B0604020202020204"/>
          <a:ea typeface="+mn-ea"/>
          <a:cs typeface="Arial" pitchFamily="34" charset="0" panose="020B0604020202020204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 panose="020B0604020202020204"/>
        <a:buChar char="»"/>
        <a:defRPr sz="2000" kern="1200">
          <a:solidFill>
            <a:schemeClr val="tx1"/>
          </a:solidFill>
          <a:latin typeface="Arial" pitchFamily="34" charset="0" panose="020B0604020202020204"/>
          <a:ea typeface="+mn-ea"/>
          <a:cs typeface="Arial" pitchFamily="34" charset="0" panose="020B060402020202020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/>
          <p:nvPr/>
        </p:nvSpPr>
        <p:spPr>
          <a:xfrm>
            <a:off x="10160" y="404664"/>
            <a:ext cx="9133840" cy="21602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Arial" pitchFamily="34" charset="0" panose="020B0604020202020204"/>
                <a:ea typeface="+mj-ea"/>
                <a:cs typeface="Arial" pitchFamily="34" charset="0" panose="020B0604020202020204"/>
              </a:defRPr>
            </a:lvl1pPr>
          </a:lstStyle>
          <a:p>
            <a:pPr algn="ctr"/>
            <a:r>
              <a:rPr lang="pt-BR" sz="1800" dirty="0">
                <a:solidFill>
                  <a:srgbClr val="000000"/>
                </a:solidFill>
                <a:ea typeface="Arial" pitchFamily="34" charset="0" panose="020B0604020202020204"/>
              </a:rPr>
              <a:t>CENTRO ESTADUAL DE EDUCAÇÃO TECNOLÓGICA </a:t>
            </a:r>
          </a:p>
          <a:p>
            <a:pPr algn="ctr"/>
            <a:r>
              <a:rPr lang="pt-BR" sz="1800" dirty="0">
                <a:solidFill>
                  <a:srgbClr val="000000"/>
                </a:solidFill>
                <a:ea typeface="Arial" pitchFamily="34" charset="0" panose="020B0604020202020204"/>
              </a:rPr>
              <a:t>“PAULA SOUZA” – CEETEPS</a:t>
            </a:r>
            <a:br>
              <a:rPr lang="pt-BR" sz="1800" dirty="0">
                <a:solidFill>
                  <a:srgbClr val="000000"/>
                </a:solidFill>
                <a:ea typeface="Arial" pitchFamily="34" charset="0" panose="020B0604020202020204"/>
              </a:rPr>
            </a:br>
            <a:r>
              <a:rPr lang="pt-BR" sz="1800" dirty="0">
                <a:solidFill>
                  <a:srgbClr val="000000"/>
                </a:solidFill>
                <a:ea typeface="Arial" pitchFamily="34" charset="0" panose="020B0604020202020204"/>
              </a:rPr>
              <a:t> </a:t>
            </a:r>
          </a:p>
          <a:p>
            <a:pPr algn="ctr"/>
            <a:br>
              <a:rPr lang="pt-BR" sz="1800" dirty="0">
                <a:solidFill>
                  <a:srgbClr val="000000"/>
                </a:solidFill>
                <a:ea typeface="Arial" pitchFamily="34" charset="0" panose="020B0604020202020204"/>
              </a:rPr>
            </a:br>
            <a:r>
              <a:rPr lang="pt-BR" sz="1800" b="0" dirty="0">
                <a:solidFill>
                  <a:srgbClr val="000000"/>
                </a:solidFill>
                <a:ea typeface="Arial" pitchFamily="34" charset="0" panose="020B0604020202020204"/>
              </a:rPr>
              <a:t>ESCOLA TÉCNICA ESTADUAL “DR. ADAIL NUNES DA SILVA” </a:t>
            </a:r>
            <a:br>
              <a:rPr lang="pt-BR" sz="1800" b="0" dirty="0">
                <a:solidFill>
                  <a:srgbClr val="000000"/>
                </a:solidFill>
                <a:ea typeface="Arial" pitchFamily="34" charset="0" panose="020B0604020202020204"/>
              </a:rPr>
            </a:br>
            <a:br>
              <a:rPr lang="pt-BR" sz="1800" b="0" dirty="0">
                <a:latin typeface="Times New Roman" pitchFamily="18" charset="0" panose="02020603050405020304"/>
                <a:ea typeface="Times New Roman" pitchFamily="18" charset="0" panose="02020603050405020304"/>
              </a:rPr>
            </a:br>
            <a:r>
              <a:rPr lang="pt-BR" sz="1800" b="0" dirty="0">
                <a:solidFill>
                  <a:srgbClr val="000000"/>
                </a:solidFill>
                <a:ea typeface="Arial" pitchFamily="34" charset="0" panose="020B0604020202020204"/>
              </a:rPr>
              <a:t>TÉCNICO EM DESENVOLVIMENTO DE SISTEMAS</a:t>
            </a:r>
            <a:br>
              <a:rPr lang="pt-BR" sz="1800" b="0" dirty="0">
                <a:solidFill>
                  <a:srgbClr val="000000"/>
                </a:solidFill>
                <a:ea typeface="Arial" pitchFamily="34" charset="0" panose="020B0604020202020204"/>
              </a:rPr>
            </a:br>
          </a:p>
          <a:p>
            <a:pPr algn="ctr"/>
            <a:br>
              <a:rPr lang="pt-BR" sz="1800" b="0" dirty="0">
                <a:solidFill>
                  <a:srgbClr val="000000"/>
                </a:solidFill>
                <a:latin typeface="Arial Black" pitchFamily="34" charset="0" panose="020B0A04020102020204"/>
                <a:ea typeface="Arial" pitchFamily="34" charset="0" panose="020B0604020202020204"/>
              </a:rPr>
            </a:br>
            <a:r>
              <a:rPr lang="pt-BR" sz="1800" b="0" dirty="0">
                <a:solidFill>
                  <a:srgbClr val="000000"/>
                </a:solidFill>
                <a:latin typeface="Arial Black" pitchFamily="34" charset="0" panose="020B0A04020102020204"/>
                <a:ea typeface="Arial" pitchFamily="34" charset="0" panose="020B0604020202020204"/>
              </a:rPr>
              <a:t>Marketplace</a:t>
            </a:r>
            <a:r>
              <a:rPr lang="pt-BR" sz="2000" dirty="0">
                <a:solidFill>
                  <a:srgbClr val="000000"/>
                </a:solidFill>
                <a:latin typeface="Arial Black" pitchFamily="34" charset="0" panose="020B0A04020102020204"/>
                <a:ea typeface="Arial" pitchFamily="34" charset="0" panose="020B0604020202020204"/>
              </a:rPr>
              <a:t>: Vitrine Web</a:t>
            </a:r>
            <a:br>
              <a:rPr lang="pt-BR" sz="1800" dirty="0"/>
            </a:br>
            <a:br>
              <a:rPr lang="pt-BR" sz="1800" b="0" dirty="0"/>
            </a:br>
            <a:r>
              <a:rPr lang="pt-BR" sz="1800" dirty="0"/>
              <a:t>Discente</a:t>
            </a:r>
            <a:r>
              <a:rPr lang="pt-BR" sz="1800" b="0" dirty="0"/>
              <a:t>: </a:t>
            </a:r>
            <a:br>
              <a:rPr lang="pt-BR" sz="1800" b="0" dirty="0"/>
            </a:br>
            <a:r>
              <a:rPr lang="pt-BR" sz="1800" b="0" dirty="0"/>
              <a:t>Jason Nicolas Pires</a:t>
            </a:r>
            <a:br>
              <a:rPr lang="pt-BR" sz="1800" b="0" dirty="0"/>
            </a:br>
            <a:r>
              <a:rPr lang="pt-BR" sz="1800" b="0" dirty="0"/>
              <a:t>Luiz Gustavo </a:t>
            </a:r>
            <a:r>
              <a:rPr lang="pt-BR" sz="1800" b="0" dirty="0" err="1"/>
              <a:t>Morata</a:t>
            </a:r>
            <a:r>
              <a:rPr lang="pt-BR" sz="1800" b="0" dirty="0"/>
              <a:t> Pereira</a:t>
            </a:r>
            <a:br>
              <a:rPr lang="pt-BR" sz="1800" b="0" dirty="0"/>
            </a:br>
            <a:r>
              <a:rPr lang="pt-BR" sz="1800" b="0" dirty="0"/>
              <a:t>Moisés Figueiredo Santos Machado</a:t>
            </a:r>
            <a:br>
              <a:rPr lang="pt-BR" sz="1800" b="0" dirty="0"/>
            </a:br>
            <a:br>
              <a:rPr lang="pt-BR" sz="1800" b="0" dirty="0"/>
            </a:br>
            <a:r>
              <a:rPr lang="pt-BR" sz="1800" dirty="0"/>
              <a:t>Orientador</a:t>
            </a:r>
            <a:r>
              <a:rPr lang="pt-BR" sz="1800" b="0" dirty="0"/>
              <a:t>: Prof. Leonardo Murilo </a:t>
            </a:r>
            <a:r>
              <a:rPr lang="pt-BR" sz="1800" b="0" dirty="0" err="1"/>
              <a:t>Hervas</a:t>
            </a:r>
            <a:br>
              <a:rPr lang="pt-BR" sz="1800" dirty="0"/>
            </a:br>
            <a:br>
              <a:rPr lang="pt-BR" sz="1800" dirty="0">
                <a:solidFill>
                  <a:srgbClr val="000000"/>
                </a:solidFill>
                <a:ea typeface="Arial" pitchFamily="34" charset="0" panose="020B0604020202020204"/>
              </a:rPr>
            </a:br>
            <a:endParaRPr lang="pt-BR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INTRODUÇÃO/OBJETIVO</a:t>
            </a:r>
          </a:p>
        </p:txBody>
      </p:sp>
      <p:sp>
        <p:nvSpPr>
          <p:cNvPr id="3" name="Espaço Reservado para Conteúdo 2"/>
          <p:cNvSpPr>
            <a:spLocks noGrp="1" noEditPoint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Plataforma de catálogo digital desenvolvida para impulsionar a digitalização de lojas de moda locais de forma simples e direta.</a:t>
            </a:r>
          </a:p>
          <a:p>
            <a:r>
              <a:rPr lang="pt-BR" dirty="0"/>
              <a:t>Resolves a desorganização e perda de tempo ao atender clientes nas redes sociais.</a:t>
            </a:r>
          </a:p>
          <a:p>
            <a:r>
              <a:rPr lang="pt-BR" dirty="0"/>
              <a:t>O cliente navega pela vitrine e envia o pedido totalmente formatado (com produtos, tamanhos e quantidades) direto para o WhatsApp do vendedor.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 noEditPoint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LEVANTAMENTO DE REQUISITOS</a:t>
            </a:r>
          </a:p>
        </p:txBody>
      </p:sp>
      <p:sp>
        <p:nvSpPr>
          <p:cNvPr id="3" name="Espaço Reservado para Conteúdo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DESCRIÇÃO DO PROJETO</a:t>
            </a:r>
          </a:p>
        </p:txBody>
      </p:sp>
      <p:sp>
        <p:nvSpPr>
          <p:cNvPr id="3" name="Espaço Reservado para Conteúdo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rPr lang="pt-BR" sz="2400"/>
              <a:t>A Vitrine Web resolve a necessidade de digitalizar o comércio local, proporcionando uma presença online</a:t>
            </a:r>
            <a:r>
              <a:rPr lang="pt-BR" sz="2000"/>
              <a:t>.</a:t>
            </a:r>
          </a:p>
          <a:p>
            <a:endParaRPr lang="pt-BR"/>
          </a:p>
          <a:p>
            <a:r>
              <a:rPr lang="pt-BR"/>
              <a:t>Gestão Administrativa: Painel completo para controle de estoque, cadastro de produtos com imagens e gerenciamento de equipe para o proprietário.</a:t>
            </a:r>
          </a:p>
          <a:p>
            <a:endParaRPr lang="pt-BR"/>
          </a:p>
          <a:p>
            <a:r>
              <a:rPr lang="pt-BR"/>
              <a:t>Experiência do Cliente: Navegação intuitiva por categorias e nome com montagem de carrinho e envio de pedido formatado direto para o WhatsApp da loja.</a:t>
            </a:r>
          </a:p>
          <a:p>
            <a:endParaRPr lang="pt-BR"/>
          </a:p>
          <a:p>
            <a:pPr marL="0" indent="0">
              <a:buNone/>
            </a:pPr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DIAGRAMA USE CASE</a:t>
            </a:r>
          </a:p>
        </p:txBody>
      </p:sp>
      <p:sp>
        <p:nvSpPr>
          <p:cNvPr id="3" name="Espaço Reservado para Conteúdo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 noEditPoint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sz="3200" dirty="0"/>
              <a:t>DIAGRAMA ENTIDADE RELACIONAMENTO</a:t>
            </a:r>
          </a:p>
        </p:txBody>
      </p:sp>
      <p:sp>
        <p:nvSpPr>
          <p:cNvPr id="3" name="Espaço Reservado para Conteúdo 2"/>
          <p:cNvSpPr>
            <a:spLocks noGrp="1" noEditPoints="1"/>
          </p:cNvSpPr>
          <p:nvPr>
            <p:ph idx="1"/>
          </p:nvPr>
        </p:nvSpPr>
        <p:spPr>
          <a:xfrm>
            <a:off x="41109" y="1196752"/>
            <a:ext cx="8928992" cy="4680520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Ferramenta utilizada: SQL Designer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619672" y="1844824"/>
            <a:ext cx="5547872" cy="39649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PROJETO NAVEGACIONAL</a:t>
            </a:r>
          </a:p>
        </p:txBody>
      </p:sp>
      <p:sp>
        <p:nvSpPr>
          <p:cNvPr id="3" name="Espaço Reservado para Conteúdo 2"/>
          <p:cNvSpPr>
            <a:spLocks noGrp="1" noEditPoints="1"/>
          </p:cNvSpPr>
          <p:nvPr>
            <p:ph idx="1"/>
          </p:nvPr>
        </p:nvSpPr>
        <p:spPr>
          <a:xfrm>
            <a:off x="41109" y="1340768"/>
            <a:ext cx="8928992" cy="4536504"/>
          </a:xfrm>
        </p:spPr>
        <p:txBody>
          <a:bodyPr/>
          <a:lstStyle/>
          <a:p>
            <a:r>
              <a:rPr lang="pt-BR" sz="2000" b="1">
                <a:latin typeface="Arial Black" pitchFamily="34" charset="0" panose="020B0A04020102020204"/>
                <a:ea typeface="Arial Black" pitchFamily="34" charset="0" panose="020B0A04020102020204"/>
                <a:cs typeface="Arial Black" pitchFamily="34" charset="0" panose="020B0A04020102020204"/>
              </a:rPr>
              <a:t>Página Pública (Experiência do Cliente):</a:t>
            </a:r>
          </a:p>
          <a:p>
            <a:pPr marL="1143000" lvl="2"/>
            <a:r>
              <a:rPr lang="pt-BR" sz="1800"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Página Inicial / Catálogo: Listagem geral de produtos, barra de pesquisa e filtros por categoria.</a:t>
            </a:r>
          </a:p>
          <a:p>
            <a:pPr marL="1143000" lvl="2"/>
            <a:r>
              <a:rPr lang="pt-BR" sz="1800"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Detalhes do Produto: Visualização da peça, seleção de variações (tamanho, cor, quantidade) e adição ao carrinho.</a:t>
            </a:r>
          </a:p>
          <a:p>
            <a:pPr lvl="2" algn="l">
              <a:buFont typeface="Arial" pitchFamily="34" charset="0" panose="020B0604020202020204"/>
              <a:buChar char="•"/>
            </a:pPr>
            <a:r>
              <a:rPr lang="pt-BR" sz="1800">
                <a:latin typeface="Arial" pitchFamily="34" charset="0" panose="020B0604020202020204"/>
                <a:ea typeface="Arial" pitchFamily="34" charset="0" panose="020B0604020202020204"/>
                <a:cs typeface="Arial" pitchFamily="34" charset="0" panose="020B0604020202020204"/>
              </a:rPr>
              <a:t>Carrinho de Compras: Conferência dos itens selecionados e botão de envio do pedido formatado para o WhatsApp.</a:t>
            </a:r>
          </a:p>
          <a:p>
            <a:pPr lvl="2" algn="l">
              <a:buFont typeface="Arial" pitchFamily="34" charset="0" panose="020B0604020202020204"/>
              <a:buChar char="•"/>
            </a:pPr>
            <a:endParaRPr lang="pt-BR" sz="2000"/>
          </a:p>
          <a:p>
            <a:pPr marL="342900" algn="l">
              <a:buFont typeface="Arial" pitchFamily="34" charset="0" panose="020B0604020202020204"/>
              <a:buChar char="•"/>
            </a:pPr>
            <a:r>
              <a:rPr lang="pt-BR" sz="2000" b="1">
                <a:latin typeface="Arial Black" pitchFamily="34" charset="0" panose="020B0A04020102020204"/>
                <a:ea typeface="Arial Black" pitchFamily="34" charset="0" panose="020B0A04020102020204"/>
                <a:cs typeface="Arial Black" pitchFamily="34" charset="0" panose="020B0A04020102020204"/>
              </a:rPr>
              <a:t>Painel Administrativo(Experiência do Vendedor): </a:t>
            </a:r>
          </a:p>
          <a:p>
            <a:pPr marL="1143000" lvl="2" algn="l">
              <a:buFont typeface="Arial" pitchFamily="34" charset="0" panose="020B0604020202020204"/>
              <a:buChar char="•"/>
            </a:pPr>
            <a:r>
              <a:rPr lang="pt-BR" sz="1800"/>
              <a:t>Dashboard: Visão geral da loja, gerenciamento </a:t>
            </a:r>
            <a:r>
              <a:rPr lang="pt-BR" sz="1800"/>
              <a:t>de produtos e funcionários.</a:t>
            </a:r>
          </a:p>
          <a:p>
            <a:pPr marL="1371600" lvl="3" indent="0" algn="l">
              <a:buFont typeface="Arial" pitchFamily="34" charset="0" panose="020B0604020202020204"/>
              <a:buNone/>
            </a:pPr>
            <a:endParaRPr lang="pt-BR" sz="1800"/>
          </a:p>
          <a:p>
            <a:pPr lvl="2" algn="l">
              <a:buFont typeface="Arial" pitchFamily="34" charset="0" panose="020B0604020202020204"/>
              <a:buChar char="•"/>
            </a:pPr>
            <a:endParaRPr lang="pt-BR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 noEditPoint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APRESENTAÇÃO DO PROJETO</a:t>
            </a:r>
          </a:p>
        </p:txBody>
      </p:sp>
      <p:sp>
        <p:nvSpPr>
          <p:cNvPr id="3" name="Espaço Reservado para Conteúdo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Criar um link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CONSIDERAÇÕES FINAIS</a:t>
            </a:r>
          </a:p>
        </p:txBody>
      </p:sp>
      <p:sp>
        <p:nvSpPr>
          <p:cNvPr id="3" name="Espaço Reservado para Conteúdo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sp>
        <p:nvSpPr>
          <p:cNvPr id="3" name="Espaço Reservado para Conteúdo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181</Words>
  <Application>Microsoft Office PowerPoint</Application>
  <PresentationFormat>Apresentação na tela (4:3)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Times New Roman</vt:lpstr>
      <vt:lpstr>Tema do Office</vt:lpstr>
      <vt:lpstr>Apresentação do PowerPoint</vt:lpstr>
      <vt:lpstr>INTRODUÇÃO/OBJETIVO</vt:lpstr>
      <vt:lpstr>LEVANTAMENTO DE REQUISITOS</vt:lpstr>
      <vt:lpstr>DESCRIÇÃO DO PROJETO</vt:lpstr>
      <vt:lpstr>DIAGRAMA USE CASE</vt:lpstr>
      <vt:lpstr>DIAGRAMA ENTIDADE RELACIONAMENTO</vt:lpstr>
      <vt:lpstr>PROJETO NAVEGACIONAL</vt:lpstr>
      <vt:lpstr>APRESENTAÇÃO DO PROJETO</vt:lpstr>
      <vt:lpstr>CONSIDERAÇÕES FINAIS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DE CONCLUSÃO DE CURSO</dc:title>
  <dc:creator>Usuário do Windows</dc:creator>
  <cp:lastModifiedBy>Moisés Figueiredo Santos Machado</cp:lastModifiedBy>
  <cp:revision>23</cp:revision>
  <dcterms:created xsi:type="dcterms:W3CDTF">2019-05-13T18:49:22Z</dcterms:created>
  <dcterms:modified xsi:type="dcterms:W3CDTF">2026-08-02T19:17:33Z</dcterms:modified>
</cp:coreProperties>
</file>