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0" r:id="rId3"/>
    <p:sldId id="257" r:id="rId5"/>
    <p:sldId id="260" r:id="rId6"/>
    <p:sldId id="267" r:id="rId7"/>
    <p:sldId id="261" r:id="rId8"/>
    <p:sldId id="266" r:id="rId9"/>
    <p:sldId id="271" r:id="rId10"/>
    <p:sldId id="268" r:id="rId11"/>
    <p:sldId id="263" r:id="rId12"/>
    <p:sldId id="264" r:id="rId13"/>
    <p:sldId id="272" r:id="rId14"/>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0000"/>
    <a:srgbClr val="8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5" d="100"/>
          <a:sy n="85" d="100"/>
        </p:scale>
        <p:origin x="1554" y="96"/>
      </p:cViewPr>
      <p:guideLst>
        <p:guide orient="horz" pos="2202"/>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Número de respostas</c:f>
              <c:strCache>
                <c:ptCount val="1"/>
                <c:pt idx="0">
                  <c:v>Número de respostas</c:v>
                </c:pt>
              </c:strCache>
            </c:strRef>
          </c:tx>
          <c:spPr>
            <a:solidFill>
              <a:srgbClr val="BD0000"/>
            </a:solidFill>
          </c:spPr>
          <c:invertIfNegative val="0"/>
          <c:dLbls>
            <c:numFmt formatCode="ge\ryy\l" sourceLinked="1"/>
            <c:spPr>
              <a:noFill/>
              <a:ln>
                <a:noFill/>
              </a:ln>
              <a:effectLst/>
            </c:spPr>
            <c:txPr>
              <a:bodyPr rot="0" spcFirstLastPara="0" vertOverflow="ellipsis" vert="horz" wrap="square" lIns="38100" tIns="19050" rIns="38100" bIns="19050" anchor="ctr" anchorCtr="1"/>
              <a:lstStyle/>
              <a:p>
                <a:pPr>
                  <a:defRPr lang="pt-BR"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formatCode="ge\ryy\l">
                  <c:v>Não</c:v>
                </c:pt>
                <c:pt idx="1" c:formatCode="ge\ryy\l">
                  <c:v>Sim</c:v>
                </c:pt>
              </c:strCache>
            </c:strRef>
          </c:cat>
          <c:val>
            <c:numRef>
              <c:f>'Chart Data'!$B$2:$B$3</c:f>
              <c:numCache>
                <c:formatCode>General</c:formatCode>
                <c:ptCount val="2"/>
                <c:pt idx="0">
                  <c:v>1</c:v>
                </c:pt>
                <c:pt idx="1">
                  <c:v>21</c:v>
                </c:pt>
              </c:numCache>
            </c:numRef>
          </c:val>
        </c:ser>
        <c:dLbls>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ryy\l" sourceLinked="1"/>
        <c:majorTickMark val="none"/>
        <c:minorTickMark val="none"/>
        <c:tickLblPos val="nextTo"/>
        <c:spPr>
          <a:ln w="0" cap="flat" cmpd="sng" algn="ctr">
            <a:noFill/>
            <a:prstDash val="solid"/>
            <a:round/>
          </a:ln>
        </c:spPr>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72768"/>
        <c:crosses val="autoZero"/>
        <c:auto val="1"/>
        <c:lblAlgn val="ctr"/>
        <c:lblOffset val="100"/>
        <c:noMultiLvlLbl val="0"/>
      </c:catAx>
      <c:valAx>
        <c:axId val="48672768"/>
        <c:scaling>
          <c:orientation val="minMax"/>
          <c:max val="24"/>
          <c:min val="0"/>
        </c:scaling>
        <c:delete val="1"/>
        <c:axPos val="b"/>
        <c:numFmt formatCode="ge\ryy\l" sourceLinked="1"/>
        <c:majorTickMark val="none"/>
        <c:minorTickMark val="none"/>
        <c:tickLblPos val="nextTo"/>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50112"/>
        <c:crosses val="autoZero"/>
        <c:crossBetween val="between"/>
      </c:valAx>
      <c:spPr>
        <a:solidFill>
          <a:srgbClr val="FFFFFF"/>
        </a:solidFill>
        <a:ln w="0">
          <a:noFill/>
        </a:ln>
      </c:spPr>
    </c:plotArea>
    <c:plotVisOnly val="1"/>
    <c:dispBlanksAs val="gap"/>
    <c:showDLblsOverMax val="0"/>
    <c:extLst>
      <c:ext uri="{0b15fc19-7d7d-44ad-8c2d-2c3a37ce22c3}">
        <chartProps xmlns="https://web.wps.cn/et/2018/main" chartId="{f5ca4b52-c709-4c41-ba99-1711eaf7539b}"/>
      </c:ext>
    </c:extLst>
  </c:chart>
  <c:spPr>
    <a:solidFill>
      <a:srgbClr val="FFFFFF"/>
    </a:solidFill>
    <a:ln w="0">
      <a:noFill/>
    </a:ln>
  </c:spPr>
  <c:txPr>
    <a:bodyPr/>
    <a:lstStyle/>
    <a:p>
      <a:pPr>
        <a:defRPr lang="pt-B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Número de respostas</c:f>
              <c:strCache>
                <c:ptCount val="1"/>
                <c:pt idx="0">
                  <c:v>Número de respostas</c:v>
                </c:pt>
              </c:strCache>
            </c:strRef>
          </c:tx>
          <c:spPr>
            <a:solidFill>
              <a:srgbClr val="BD0000"/>
            </a:solidFill>
          </c:spPr>
          <c:invertIfNegative val="0"/>
          <c:dLbls>
            <c:numFmt formatCode="ge\ryy\l" sourceLinked="1"/>
            <c:spPr>
              <a:noFill/>
              <a:ln>
                <a:noFill/>
              </a:ln>
              <a:effectLst/>
            </c:spPr>
            <c:txPr>
              <a:bodyPr rot="0" spcFirstLastPara="0" vertOverflow="ellipsis" vert="horz" wrap="square" lIns="38100" tIns="19050" rIns="38100" bIns="19050" anchor="ctr" anchorCtr="1"/>
              <a:lstStyle/>
              <a:p>
                <a:pPr>
                  <a:defRPr lang="pt-BR"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formatCode="ge\ryy\l">
                  <c:v>Sim, atrapalha</c:v>
                </c:pt>
                <c:pt idx="1" c:formatCode="ge\ryy\l">
                  <c:v>Não atrapalha</c:v>
                </c:pt>
              </c:strCache>
            </c:strRef>
          </c:cat>
          <c:val>
            <c:numRef>
              <c:f>'Chart Data'!$B$2:$B$3</c:f>
              <c:numCache>
                <c:formatCode>General</c:formatCode>
                <c:ptCount val="2"/>
                <c:pt idx="0">
                  <c:v>4</c:v>
                </c:pt>
                <c:pt idx="1">
                  <c:v>18</c:v>
                </c:pt>
              </c:numCache>
            </c:numRef>
          </c:val>
        </c:ser>
        <c:dLbls>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ryy\l" sourceLinked="1"/>
        <c:majorTickMark val="none"/>
        <c:minorTickMark val="none"/>
        <c:tickLblPos val="nextTo"/>
        <c:spPr>
          <a:ln w="0" cap="flat" cmpd="sng" algn="ctr">
            <a:noFill/>
            <a:prstDash val="solid"/>
            <a:round/>
          </a:ln>
        </c:spPr>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72768"/>
        <c:crosses val="autoZero"/>
        <c:auto val="1"/>
        <c:lblAlgn val="ctr"/>
        <c:lblOffset val="100"/>
        <c:noMultiLvlLbl val="0"/>
      </c:catAx>
      <c:valAx>
        <c:axId val="48672768"/>
        <c:scaling>
          <c:orientation val="minMax"/>
          <c:max val="24"/>
          <c:min val="0"/>
        </c:scaling>
        <c:delete val="1"/>
        <c:axPos val="b"/>
        <c:numFmt formatCode="ge\ryy\l" sourceLinked="1"/>
        <c:majorTickMark val="none"/>
        <c:minorTickMark val="none"/>
        <c:tickLblPos val="nextTo"/>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50112"/>
        <c:crosses val="autoZero"/>
        <c:crossBetween val="between"/>
      </c:valAx>
      <c:spPr>
        <a:solidFill>
          <a:srgbClr val="FFFFFF"/>
        </a:solidFill>
        <a:ln w="0">
          <a:noFill/>
        </a:ln>
      </c:spPr>
    </c:plotArea>
    <c:plotVisOnly val="1"/>
    <c:dispBlanksAs val="gap"/>
    <c:showDLblsOverMax val="0"/>
    <c:extLst>
      <c:ext uri="{0b15fc19-7d7d-44ad-8c2d-2c3a37ce22c3}">
        <chartProps xmlns="https://web.wps.cn/et/2018/main" chartId="{ac57f0a8-904e-45c6-89a8-5beee267ab16}"/>
      </c:ext>
    </c:extLst>
  </c:chart>
  <c:spPr>
    <a:solidFill>
      <a:srgbClr val="FFFFFF"/>
    </a:solidFill>
    <a:ln w="0">
      <a:noFill/>
    </a:ln>
  </c:spPr>
  <c:txPr>
    <a:bodyPr/>
    <a:lstStyle/>
    <a:p>
      <a:pPr>
        <a:defRPr lang="pt-B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Número de respostas</c:f>
              <c:strCache>
                <c:ptCount val="1"/>
                <c:pt idx="0">
                  <c:v>Número de respostas</c:v>
                </c:pt>
              </c:strCache>
            </c:strRef>
          </c:tx>
          <c:spPr>
            <a:solidFill>
              <a:srgbClr val="BD0000"/>
            </a:solidFill>
          </c:spPr>
          <c:invertIfNegative val="0"/>
          <c:dLbls>
            <c:numFmt formatCode="ge\ryy\l" sourceLinked="1"/>
            <c:spPr>
              <a:noFill/>
              <a:ln>
                <a:noFill/>
              </a:ln>
              <a:effectLst/>
            </c:spPr>
            <c:txPr>
              <a:bodyPr rot="0" spcFirstLastPara="0" vertOverflow="ellipsis" vert="horz" wrap="square" lIns="38100" tIns="19050" rIns="38100" bIns="19050" anchor="ctr" anchorCtr="1"/>
              <a:lstStyle/>
              <a:p>
                <a:pPr>
                  <a:defRPr lang="pt-BR"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Data'!$A$2:$A$5</c:f>
              <c:strCache>
                <c:ptCount val="4"/>
                <c:pt idx="0" c:formatCode="ge\ryy\l">
                  <c:v>Outros</c:v>
                </c:pt>
                <c:pt idx="1" c:formatCode="ge\ryy\l">
                  <c:v>Falta de confiança</c:v>
                </c:pt>
                <c:pt idx="2" c:formatCode="ge\ryy\l">
                  <c:v>Não poder experimentar</c:v>
                </c:pt>
                <c:pt idx="3" c:formatCode="ge\ryy\l">
                  <c:v>Incerteza do tamanho</c:v>
                </c:pt>
              </c:strCache>
            </c:strRef>
          </c:cat>
          <c:val>
            <c:numRef>
              <c:f>'Chart Data'!$B$2:$B$5</c:f>
              <c:numCache>
                <c:formatCode>General</c:formatCode>
                <c:ptCount val="4"/>
                <c:pt idx="0">
                  <c:v>2</c:v>
                </c:pt>
                <c:pt idx="1">
                  <c:v>5</c:v>
                </c:pt>
                <c:pt idx="2">
                  <c:v>6</c:v>
                </c:pt>
                <c:pt idx="3">
                  <c:v>9</c:v>
                </c:pt>
              </c:numCache>
            </c:numRef>
          </c:val>
        </c:ser>
        <c:dLbls>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ryy\l" sourceLinked="1"/>
        <c:majorTickMark val="none"/>
        <c:minorTickMark val="none"/>
        <c:tickLblPos val="nextTo"/>
        <c:spPr>
          <a:ln w="0" cap="flat" cmpd="sng" algn="ctr">
            <a:noFill/>
            <a:prstDash val="solid"/>
            <a:round/>
          </a:ln>
        </c:spPr>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72768"/>
        <c:crosses val="autoZero"/>
        <c:auto val="1"/>
        <c:lblAlgn val="ctr"/>
        <c:lblOffset val="100"/>
        <c:noMultiLvlLbl val="0"/>
      </c:catAx>
      <c:valAx>
        <c:axId val="48672768"/>
        <c:scaling>
          <c:orientation val="minMax"/>
          <c:max val="11"/>
          <c:min val="0"/>
        </c:scaling>
        <c:delete val="1"/>
        <c:axPos val="b"/>
        <c:numFmt formatCode="ge\ryy\l" sourceLinked="1"/>
        <c:majorTickMark val="none"/>
        <c:minorTickMark val="none"/>
        <c:tickLblPos val="nextTo"/>
        <c:txPr>
          <a:bodyPr rot="-60000000" spcFirstLastPara="0" vertOverflow="ellipsis" vert="horz" wrap="square" anchor="ctr" anchorCtr="1"/>
          <a:lstStyle/>
          <a:p>
            <a:pPr>
              <a:defRPr lang="pt-BR" sz="1350" b="0" i="0" u="none" strike="noStrike" kern="1200" baseline="0">
                <a:solidFill>
                  <a:srgbClr val="232323"/>
                </a:solidFill>
                <a:latin typeface="Arial" panose="020B0604020202020204"/>
                <a:ea typeface="Arial" panose="020B0604020202020204"/>
                <a:cs typeface="Arial" panose="020B0604020202020204"/>
              </a:defRPr>
            </a:pPr>
          </a:p>
        </c:txPr>
        <c:crossAx val="48650112"/>
        <c:crosses val="autoZero"/>
        <c:crossBetween val="between"/>
      </c:valAx>
      <c:spPr>
        <a:solidFill>
          <a:srgbClr val="FFFFFF"/>
        </a:solidFill>
        <a:ln w="0">
          <a:noFill/>
        </a:ln>
      </c:spPr>
    </c:plotArea>
    <c:plotVisOnly val="1"/>
    <c:dispBlanksAs val="gap"/>
    <c:showDLblsOverMax val="0"/>
    <c:extLst>
      <c:ext uri="{0b15fc19-7d7d-44ad-8c2d-2c3a37ce22c3}">
        <chartProps xmlns="https://web.wps.cn/et/2018/main" chartId="{5d0ec7bd-0671-44f6-982a-8860e57284a4}"/>
      </c:ext>
    </c:extLst>
  </c:chart>
  <c:spPr>
    <a:solidFill>
      <a:srgbClr val="FFFFFF"/>
    </a:solidFill>
    <a:ln w="0">
      <a:noFill/>
    </a:ln>
  </c:spPr>
  <c:txPr>
    <a:bodyPr/>
    <a:lstStyle/>
    <a:p>
      <a:pPr>
        <a:defRPr lang="pt-BR"/>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noEditPoints="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
            <a:endParaRPr lang="en-US"/>
          </a:p>
        </p:txBody>
      </p:sp>
      <p:sp>
        <p:nvSpPr>
          <p:cNvPr id="3" name="Espaço Reservado para Data 2"/>
          <p:cNvSpPr>
            <a:spLocks noGrp="1" noEditPoints="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
            <a:r>
              <a:rPr lang="en-US"/>
              <a:t>*</a:t>
            </a:r>
            <a:endParaRPr lang="en-US"/>
          </a:p>
        </p:txBody>
      </p:sp>
      <p:sp>
        <p:nvSpPr>
          <p:cNvPr id="4" name="Espaço reservado para imagem do slide 3"/>
          <p:cNvSpPr>
            <a:spLocks noGrp="1" noRot="1" noChangeAspect="1" noEditPoints="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
            <a:endParaRPr lang="en-US"/>
          </a:p>
        </p:txBody>
      </p:sp>
      <p:sp>
        <p:nvSpPr>
          <p:cNvPr id="5" name="Espaço reservado para notas 4"/>
          <p:cNvSpPr>
            <a:spLocks noGrp="1" noEditPoints="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ltLang="en-US"/>
              <a:t>Clique para editar os estilos de texto mestre</a:t>
            </a:r>
            <a:endParaRPr lang="en-US"/>
          </a:p>
          <a:p>
            <a:pPr lvl="1"/>
            <a:r>
              <a:rPr lang="pt-BR" altLang="en-US"/>
              <a:t>Segundo nível</a:t>
            </a:r>
            <a:endParaRPr lang="en-US"/>
          </a:p>
          <a:p>
            <a:pPr lvl="2"/>
            <a:r>
              <a:rPr lang="pt-BR" altLang="en-US"/>
              <a:t>Terceiro nível</a:t>
            </a:r>
            <a:endParaRPr lang="en-US"/>
          </a:p>
          <a:p>
            <a:pPr lvl="3"/>
            <a:r>
              <a:rPr lang="pt-BR" altLang="en-US"/>
              <a:t>Quarto nível</a:t>
            </a:r>
            <a:endParaRPr lang="en-US"/>
          </a:p>
          <a:p>
            <a:pPr lvl="4"/>
            <a:r>
              <a:rPr lang="pt-BR" altLang="en-US"/>
              <a:t>Quinto nível</a:t>
            </a:r>
            <a:endParaRPr lang="en-US"/>
          </a:p>
        </p:txBody>
      </p:sp>
      <p:sp>
        <p:nvSpPr>
          <p:cNvPr id="6" name="Espaço Reservado para Rodapé 5"/>
          <p:cNvSpPr>
            <a:spLocks noGrp="1" noEditPoints="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
            <a:endParaRPr lang="en-US"/>
          </a:p>
        </p:txBody>
      </p:sp>
      <p:sp>
        <p:nvSpPr>
          <p:cNvPr id="7" name="Espaço reservado para o número do slide 6"/>
          <p:cNvSpPr>
            <a:spLocks noGrp="1" noEditPoints="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
            <a:r>
              <a:rPr lang="en-US"/>
              <a:t>#</a:t>
            </a:r>
            <a:endParaRPr 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Apresentar o grupo e a Vitrine Web, um catálogo digital para lojas locais. Integrantes em ordem alfabética, conforme nomes fornecidos pelo grupo.</a:t>
            </a:r>
          </a:p>
        </p:txBody>
      </p:sp>
      <p:sp>
        <p:nvSpPr>
          <p:cNvPr id="4" name="Espaço reservado para o número do slide 3"/>
          <p:cNvSpPr>
            <a:spLocks noGrp="1" noEditPoints="1"/>
          </p:cNvSpPr>
          <p:nvPr>
            <p:ph type="sldNum" sz="quarter" idx="5"/>
          </p:nvPr>
        </p:nvSpPr>
        <p:spPr>
          <a:prstGeom prst="rect">
            <a:avLst/>
          </a:prstGeom>
        </p:spPr>
        <p:txBody>
          <a:bodyPr/>
          <a:lstStyle/>
          <a:p>
            <a:fld id="{1F49F4D1-D57C-43B5-BDEA-10178D6C7921}"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Problema que orienta a proposta: quando as informações dos produtos ficam espalhadas em publicações e conversas, consultar a oferta da loja pode exigir várias mensagens. Não afirmar que houve medição de tempo ou aumento de vendas. A Vitrine Web pretende organizar essa consulta mantendo o atendimento direto com a loja.</a:t>
            </a:r>
          </a:p>
        </p:txBody>
      </p:sp>
      <p:sp>
        <p:nvSpPr>
          <p:cNvPr id="4" name="Espaço reservado para o número do slide 3"/>
          <p:cNvSpPr>
            <a:spLocks noGrp="1" noEditPoints="1"/>
          </p:cNvSpPr>
          <p:nvPr>
            <p:ph type="sldNum" sz="quarter" idx="5"/>
          </p:nvPr>
        </p:nvSpPr>
        <p:spPr>
          <a:prstGeom prst="rect">
            <a:avLst/>
          </a:prstGeom>
        </p:spPr>
        <p:txBody>
          <a:bodyPr/>
          <a:lstStyle/>
          <a:p>
            <a:fld id="{2C9F487F-44D8-4B7A-BFF7-F2C40169783E}"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Fonte: questionário do grupo, Validação de Modelo de Compra de Roupas em Comércio Local, 2026, arquivo CSV fornecido. Há 23 registros. O registro de 14/04/2026 traz respostas incompatíveis com os enunciados atuais: Q2 “Qualidade das peças”, Q3 “Alto”, Q6 “Relevante”. Cada um desses itens foi excluído da respectiva pergunta, sem alterar o arquivo original, resultando em 22 respostas compatíveis por pergunta. Q2: Sim 21, Não 1 (95,5% e 4,5%). Q3: Incerteza do tamanho 9, Não poder experimentar 6, Falta de confiança 5, Outros 2 (Demora na entrega 1, Dinheiro kkkk 1), equivalentes a 40,9%, 27,3%, 22,7% e 9,1%. Q6: Não atrapalha 18, Sim atrapalha 4 (81,8% e 18,2%). Pesquisa exploratória, sem representatividade estatística assegurada e sem validação comercial com lojistas. Os resultados orientam o catálogo e o contato direto, mas não provam aumento de vendas.</a:t>
            </a:r>
          </a:p>
        </p:txBody>
      </p:sp>
      <p:sp>
        <p:nvSpPr>
          <p:cNvPr id="4" name="Espaço reservado para o número do slide 3"/>
          <p:cNvSpPr>
            <a:spLocks noGrp="1" noEditPoints="1"/>
          </p:cNvSpPr>
          <p:nvPr>
            <p:ph type="sldNum" sz="quarter" idx="5"/>
          </p:nvPr>
        </p:nvSpPr>
        <p:spPr>
          <a:prstGeom prst="rect">
            <a:avLst/>
          </a:prstGeom>
        </p:spPr>
        <p:txBody>
          <a:bodyPr/>
          <a:lstStyle/>
          <a:p>
            <a:fld id="{B3335888-3EE2-4BEB-A3A8-F1D8149BCE59}"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A Vitrine Web é um catálogo digital voltado às lojas locais. Cada loja apresenta sua oferta e recebe pelo WhatsApp a seleção feita pelo cliente. O carrinho reúne itens de uma mesma loja. O envio inicia ou organiza o atendimento: não representar a ação como pagamento concluído ou compra já confirmada. Fonte: materiais do projeto fornecidos pelo grupo e repositórios https://github.com/devmoisesz/vitrine-web e https://github.com/devmoisesz/vitrine-web-api.</a:t>
            </a:r>
          </a:p>
        </p:txBody>
      </p:sp>
      <p:sp>
        <p:nvSpPr>
          <p:cNvPr id="4" name="Espaço reservado para o número do slide 3"/>
          <p:cNvSpPr>
            <a:spLocks noGrp="1" noEditPoints="1"/>
          </p:cNvSpPr>
          <p:nvPr>
            <p:ph type="sldNum" sz="quarter" idx="5"/>
          </p:nvPr>
        </p:nvSpPr>
        <p:spPr>
          <a:prstGeom prst="rect">
            <a:avLst/>
          </a:prstGeom>
        </p:spPr>
        <p:txBody>
          <a:bodyPr/>
          <a:lstStyle/>
          <a:p>
            <a:fld id="{0D42DBBE-8022-4B6E-9CAC-F946D7428FE8}"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Fonte: diagrama de casos de uso elaborado pelo grupo e fornecido no material do projeto. O diagrama destaca as principais interações dos perfis. Outras funções não aparecem por limitação de espaço. Explicar quem usa o produto e quais ações pode realizar, sem ler cada elemento do diagrama.</a:t>
            </a:r>
          </a:p>
        </p:txBody>
      </p:sp>
      <p:sp>
        <p:nvSpPr>
          <p:cNvPr id="4" name="Espaço reservado para o número do slide 3"/>
          <p:cNvSpPr>
            <a:spLocks noGrp="1" noEditPoints="1"/>
          </p:cNvSpPr>
          <p:nvPr>
            <p:ph type="sldNum" sz="quarter" idx="5"/>
          </p:nvPr>
        </p:nvSpPr>
        <p:spPr>
          <a:prstGeom prst="rect">
            <a:avLst/>
          </a:prstGeom>
        </p:spPr>
        <p:txBody>
          <a:bodyPr/>
          <a:lstStyle/>
          <a:p>
            <a:fld id="{7B226321-E2F5-4F4C-800A-B1794FEBD0EF}"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Fonte: modelo de dados elaborado pelo grupo, fornecido como imagem, ferramenta SQL Designer. Explicar principalmente a relação entre loja, produto, usuário e carrinho. A estrutura mantém o vínculo dos produtos com cada loja e os itens escolhidos pelo cliente. As tabelas e nomes técnicos permanecem no diagrama original.</a:t>
            </a:r>
          </a:p>
        </p:txBody>
      </p:sp>
      <p:sp>
        <p:nvSpPr>
          <p:cNvPr id="4" name="Espaço reservado para o número do slide 3"/>
          <p:cNvSpPr>
            <a:spLocks noGrp="1" noEditPoints="1"/>
          </p:cNvSpPr>
          <p:nvPr>
            <p:ph type="sldNum" sz="quarter" idx="5"/>
          </p:nvPr>
        </p:nvSpPr>
        <p:spPr>
          <a:prstGeom prst="rect">
            <a:avLst/>
          </a:prstGeom>
        </p:spPr>
        <p:txBody>
          <a:bodyPr/>
          <a:lstStyle/>
          <a:p>
            <a:fld id="{D91A326F-F6F9-468D-A1A8-81A62607A085}"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Ferramentas informadas pelo grupo: Backend: Node.js, TypeScript e NestJS. Frontend: React, TypeScript, Next.js e Tailwind CSS. Persistência de Dados: PostgreSQL e Cloudinary.</a:t>
            </a:r>
          </a:p>
        </p:txBody>
      </p:sp>
      <p:sp>
        <p:nvSpPr>
          <p:cNvPr id="4" name="Espaço reservado para o número do slide 3"/>
          <p:cNvSpPr>
            <a:spLocks noGrp="1" noEditPoints="1"/>
          </p:cNvSpPr>
          <p:nvPr>
            <p:ph type="sldNum" sz="quarter" idx="5"/>
          </p:nvPr>
        </p:nvSpPr>
        <p:spPr>
          <a:prstGeom prst="rect">
            <a:avLst/>
          </a:prstGeom>
        </p:spPr>
        <p:txBody>
          <a:bodyPr/>
          <a:lstStyle/>
          <a:p>
            <a:fld id="{0D42DBBE-8022-4B6E-9CAC-F946D7428FE8}"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Navegação principal. O cliente encontra produtos, consulta os detalhes, escolhe as quantidades no carrinho e envia a seleção pelo WhatsApp. O lojista entra no painel e acessa produtos ou equipe conforme sua necessidade e suas permissões. Esses acessos não são etapas obrigatórias em sequência. Fonte: projeto e telas fornecidos pelo grupo.</a:t>
            </a:r>
          </a:p>
        </p:txBody>
      </p:sp>
      <p:sp>
        <p:nvSpPr>
          <p:cNvPr id="4" name="Espaço reservado para o número do slide 3"/>
          <p:cNvSpPr>
            <a:spLocks noGrp="1" noEditPoints="1"/>
          </p:cNvSpPr>
          <p:nvPr>
            <p:ph type="sldNum" sz="quarter" idx="5"/>
          </p:nvPr>
        </p:nvSpPr>
        <p:spPr>
          <a:prstGeom prst="rect">
            <a:avLst/>
          </a:prstGeom>
        </p:spPr>
        <p:txBody>
          <a:bodyPr/>
          <a:lstStyle/>
          <a:p>
            <a:fld id="{A6F41B08-B7DF-4B48-A923-A75C03765793}"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Fontes: captura da loja Linha e captura do painel de produtos enviadas pelo grupo. As telas ilustram o lado do cliente e o lado do lojista. Na vitrine, apontar os produtos e preços. No painel, apontar cadastro, estoque e situação do produto. Usar o endereço ou o QR code se houver tempo para a demonstração. O QR code foi preservado do arquivo original. Endereço: https://vitrineweb-app.vercel.app/.</a:t>
            </a:r>
          </a:p>
        </p:txBody>
      </p:sp>
      <p:sp>
        <p:nvSpPr>
          <p:cNvPr id="4" name="Espaço reservado para o número do slide 3"/>
          <p:cNvSpPr>
            <a:spLocks noGrp="1" noEditPoints="1"/>
          </p:cNvSpPr>
          <p:nvPr>
            <p:ph type="sldNum" sz="quarter" idx="5"/>
          </p:nvPr>
        </p:nvSpPr>
        <p:spPr>
          <a:prstGeom prst="rect">
            <a:avLst/>
          </a:prstGeom>
        </p:spPr>
        <p:txBody>
          <a:bodyPr/>
          <a:lstStyle/>
          <a:p>
            <a:fld id="{CD5A3B75-9901-4B35-8847-3ADEAB7B1E12}"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A entrega reúne a exposição de produtos, a seleção no carrinho e o contato pelo WhatsApp, com painel para a loja. Benefícios como redução de mensagens repetidas e aumento de vendas são expectativas, não resultados medidos. A próxima etapa é validar o uso com lojistas e clientes, observar dificuldades e priorizar melhorias. Não afirmar que o grupo já realizou negociações ou pilotos com comerciantes. Não há processamento de pagamento online no escopo apresentado.</a:t>
            </a:r>
          </a:p>
        </p:txBody>
      </p:sp>
      <p:sp>
        <p:nvSpPr>
          <p:cNvPr id="4" name="Espaço reservado para o número do slide 3"/>
          <p:cNvSpPr>
            <a:spLocks noGrp="1" noEditPoints="1"/>
          </p:cNvSpPr>
          <p:nvPr>
            <p:ph type="sldNum" sz="quarter" idx="5"/>
          </p:nvPr>
        </p:nvSpPr>
        <p:spPr>
          <a:prstGeom prst="rect">
            <a:avLst/>
          </a:prstGeom>
        </p:spPr>
        <p:txBody>
          <a:bodyPr/>
          <a:lstStyle/>
          <a:p>
            <a:fld id="{1B510531-59AF-42BC-A325-31D2165F8360}"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o slide 1"/>
          <p:cNvSpPr>
            <a:spLocks noGrp="1" noRot="1" noChangeAspect="1" noEditPoints="1"/>
          </p:cNvSpPr>
          <p:nvPr>
            <p:ph type="sldImg"/>
          </p:nvPr>
        </p:nvSpPr>
        <p:spPr>
          <a:xfrm>
            <a:off x="1143000" y="685800"/>
            <a:ext cx="4572000" cy="3429000"/>
          </a:xfrm>
          <a:prstGeom prst="rect">
            <a:avLst/>
          </a:prstGeom>
        </p:spPr>
        <p:txBody>
          <a:bodyPr/>
          <a:lstStyle/>
          <a:p/>
        </p:txBody>
      </p:sp>
      <p:sp>
        <p:nvSpPr>
          <p:cNvPr id="3" name="Espaço Reservado para Texto 2"/>
          <p:cNvSpPr>
            <a:spLocks noGrp="1" noEditPoints="1"/>
          </p:cNvSpPr>
          <p:nvPr>
            <p:ph type="body" idx="3"/>
          </p:nvPr>
        </p:nvSpPr>
        <p:spPr>
          <a:prstGeom prst="rect">
            <a:avLst/>
          </a:prstGeom>
        </p:spPr>
        <p:txBody>
          <a:bodyPr/>
          <a:lstStyle/>
          <a:p>
            <a:r>
              <a:t>Referências da apresentação: CENTRO PAULA SOUZA. Manual de Trabalho de Conclusão de Curso nas Etecs. 2. ed., 2022 (manual fornecido). Grupo Vitrine Web. Validação de Modelo de Compra de Roupas em Comércio Local. Questionário, 2026 (CSV fornecido). Repositórios do projeto, autoria devmoisesz: https://github.com/devmoisesz/vitrine-web e https://github.com/devmoisesz/vitrine-web-api. Os repositórios são fontes do próprio projeto, não pesquisas independentes. Amazon Brasil e Mercado Livre: referências visuais de catálogo já indicadas pelo grupo no arquivo original. Diagramas e capturas: elaboração do grupo.</a:t>
            </a:r>
          </a:p>
        </p:txBody>
      </p:sp>
      <p:sp>
        <p:nvSpPr>
          <p:cNvPr id="4" name="Espaço reservado para o número do slide 3"/>
          <p:cNvSpPr>
            <a:spLocks noGrp="1" noEditPoints="1"/>
          </p:cNvSpPr>
          <p:nvPr>
            <p:ph type="sldNum" sz="quarter" idx="5"/>
          </p:nvPr>
        </p:nvSpPr>
        <p:spPr>
          <a:prstGeom prst="rect">
            <a:avLst/>
          </a:prstGeom>
        </p:spPr>
        <p:txBody>
          <a:bodyPr/>
          <a:lstStyle/>
          <a:p>
            <a:fld id="{D5B22B2E-FFF5-460F-93E0-955B23720425}"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noEditPoints="1"/>
          </p:cNvSpPr>
          <p:nvPr>
            <p:ph type="title"/>
          </p:nvPr>
        </p:nvSpPr>
        <p:spPr>
          <a:xfrm>
            <a:off x="41109" y="188168"/>
            <a:ext cx="7951712" cy="925563"/>
          </a:xfrm>
        </p:spPr>
        <p:txBody>
          <a:bodyPr>
            <a:noAutofit/>
          </a:bodyPr>
          <a:lstStyle>
            <a:lvl1pPr algn="l">
              <a:defRPr sz="4000" b="1"/>
            </a:lvl1pPr>
          </a:lstStyle>
          <a:p>
            <a:r>
              <a:rPr lang="pt-BR" dirty="0"/>
              <a:t>Clique para editar o título mestre</a:t>
            </a:r>
            <a:endParaRPr lang="pt-BR" dirty="0"/>
          </a:p>
        </p:txBody>
      </p:sp>
      <p:sp>
        <p:nvSpPr>
          <p:cNvPr id="3" name="Espaço Reservado para Conteúdo 2"/>
          <p:cNvSpPr>
            <a:spLocks noGrp="1" noEditPoints="1"/>
          </p:cNvSpPr>
          <p:nvPr>
            <p:ph idx="1" hasCustomPrompt="1"/>
          </p:nvPr>
        </p:nvSpPr>
        <p:spPr>
          <a:xfrm>
            <a:off x="41109" y="1340768"/>
            <a:ext cx="8928992" cy="4525963"/>
          </a:xfrm>
        </p:spPr>
        <p:txBody>
          <a:bodyPr>
            <a:normAutofit/>
          </a:bodyPr>
          <a:lstStyle>
            <a:lvl1pPr>
              <a:defRPr sz="2400"/>
            </a:lvl1pPr>
            <a:lvl2pPr>
              <a:defRPr sz="2400"/>
            </a:lvl2pPr>
            <a:lvl3pPr>
              <a:defRPr sz="2400"/>
            </a:lvl3pPr>
            <a:lvl4pPr>
              <a:defRPr sz="2400"/>
            </a:lvl4pPr>
            <a:lvl5pPr>
              <a:defRPr sz="2400"/>
            </a:lvl5pPr>
          </a:lstStyle>
          <a:p>
            <a:pPr lvl="0"/>
            <a:r>
              <a:rPr lang="pt-BR" dirty="0"/>
              <a:t>Clique para editar o texto mestre</a:t>
            </a:r>
            <a:endParaRPr lang="pt-BR" dirty="0"/>
          </a:p>
          <a:p>
            <a:pPr lvl="1"/>
            <a:r>
              <a:rPr lang="pt-BR" dirty="0"/>
              <a:t>Segundo nível</a:t>
            </a:r>
            <a:endParaRPr lang="pt-BR" dirty="0"/>
          </a:p>
          <a:p>
            <a:pPr lvl="2"/>
            <a:r>
              <a:rPr lang="pt-BR" dirty="0"/>
              <a:t>Terceiro nível</a:t>
            </a:r>
            <a:endParaRPr lang="pt-BR" dirty="0"/>
          </a:p>
          <a:p>
            <a:pPr lvl="3"/>
            <a:r>
              <a:rPr lang="pt-BR" dirty="0"/>
              <a:t>Quarto nível</a:t>
            </a:r>
            <a:endParaRPr lang="pt-BR" dirty="0"/>
          </a:p>
          <a:p>
            <a:pPr lvl="4"/>
            <a:r>
              <a:rPr lang="pt-BR" dirty="0"/>
              <a:t>Quinto nível</a:t>
            </a:r>
            <a:endParaRPr lang="pt-BR" dirty="0"/>
          </a:p>
        </p:txBody>
      </p:sp>
      <p:sp>
        <p:nvSpPr>
          <p:cNvPr id="7" name="Espaço Reservado para Data 3"/>
          <p:cNvSpPr>
            <a:spLocks noGrp="1" noEditPoints="1"/>
          </p:cNvSpPr>
          <p:nvPr>
            <p:ph type="dt" sz="half" idx="10"/>
          </p:nvPr>
        </p:nvSpPr>
        <p:spPr>
          <a:xfrm>
            <a:off x="2419823" y="6331700"/>
            <a:ext cx="2133600" cy="365125"/>
          </a:xfrm>
        </p:spPr>
        <p:txBody>
          <a:bodyPr/>
          <a:lstStyle>
            <a:lvl1pPr>
              <a:defRPr>
                <a:solidFill>
                  <a:schemeClr val="bg1"/>
                </a:solidFill>
              </a:defRPr>
            </a:lvl1pPr>
          </a:lstStyle>
          <a:p>
            <a:fld id="{A6F6E65D-8DAF-473D-8F8C-DED78E0ED715}" type="datetimeFigureOut">
              <a:rPr lang="pt-BR" smtClean="0"/>
            </a:fld>
            <a:endParaRPr lang="pt-BR" dirty="0"/>
          </a:p>
        </p:txBody>
      </p:sp>
      <p:sp>
        <p:nvSpPr>
          <p:cNvPr id="8" name="Espaço Reservado para Número de Slide 5"/>
          <p:cNvSpPr>
            <a:spLocks noGrp="1" noEditPoints="1"/>
          </p:cNvSpPr>
          <p:nvPr>
            <p:ph type="sldNum" sz="quarter" idx="12"/>
          </p:nvPr>
        </p:nvSpPr>
        <p:spPr>
          <a:xfrm>
            <a:off x="7217" y="6356350"/>
            <a:ext cx="2133600" cy="365125"/>
          </a:xfrm>
        </p:spPr>
        <p:txBody>
          <a:bodyPr/>
          <a:lstStyle>
            <a:lvl1pPr algn="l">
              <a:defRPr>
                <a:solidFill>
                  <a:schemeClr val="bg1"/>
                </a:solidFill>
              </a:defRPr>
            </a:lvl1pPr>
          </a:lstStyle>
          <a:p>
            <a:fld id="{45950755-B738-4D9B-829E-82AFD49363A1}" type="slidenum">
              <a:rPr lang="pt-BR" smtClean="0"/>
            </a:fld>
            <a:r>
              <a:rPr lang="pt-BR" dirty="0"/>
              <a:t> - Versão : 0.0</a:t>
            </a:r>
            <a:endParaRPr lang="pt-BR"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4" name="Espaço Reservado para Data 3"/>
          <p:cNvSpPr>
            <a:spLocks noGrp="1" noEditPoints="1"/>
          </p:cNvSpPr>
          <p:nvPr>
            <p:ph type="dt" sz="half" idx="10"/>
          </p:nvPr>
        </p:nvSpPr>
        <p:spPr>
          <a:xfrm>
            <a:off x="2419823" y="6331700"/>
            <a:ext cx="2133600" cy="365125"/>
          </a:xfrm>
        </p:spPr>
        <p:txBody>
          <a:bodyPr/>
          <a:lstStyle>
            <a:lvl1pPr>
              <a:defRPr>
                <a:solidFill>
                  <a:schemeClr val="bg1"/>
                </a:solidFill>
              </a:defRPr>
            </a:lvl1pPr>
          </a:lstStyle>
          <a:p>
            <a:fld id="{A6F6E65D-8DAF-473D-8F8C-DED78E0ED715}" type="datetimeFigureOut">
              <a:rPr lang="pt-BR" smtClean="0"/>
            </a:fld>
            <a:endParaRPr lang="pt-BR" dirty="0"/>
          </a:p>
        </p:txBody>
      </p:sp>
      <p:sp>
        <p:nvSpPr>
          <p:cNvPr id="6" name="Espaço Reservado para Número de Slide 5"/>
          <p:cNvSpPr>
            <a:spLocks noGrp="1" noEditPoints="1"/>
          </p:cNvSpPr>
          <p:nvPr>
            <p:ph type="sldNum" sz="quarter" idx="12"/>
          </p:nvPr>
        </p:nvSpPr>
        <p:spPr>
          <a:xfrm>
            <a:off x="7217" y="6356350"/>
            <a:ext cx="2133600" cy="365125"/>
          </a:xfrm>
        </p:spPr>
        <p:txBody>
          <a:bodyPr/>
          <a:lstStyle>
            <a:lvl1pPr algn="l">
              <a:defRPr>
                <a:solidFill>
                  <a:schemeClr val="bg1"/>
                </a:solidFill>
              </a:defRPr>
            </a:lvl1pPr>
          </a:lstStyle>
          <a:p>
            <a:fld id="{45950755-B738-4D9B-829E-82AFD49363A1}" type="slidenum">
              <a:rPr lang="pt-BR" smtClean="0"/>
            </a:fld>
            <a:r>
              <a:rPr lang="pt-BR" dirty="0"/>
              <a:t> - Versão : 0.0</a:t>
            </a:r>
            <a:endParaRPr lang="pt-BR" dirty="0"/>
          </a:p>
        </p:txBody>
      </p:sp>
      <p:pic>
        <p:nvPicPr>
          <p:cNvPr id="7" name="Imagem 6"/>
          <p:cNvPicPr>
            <a:picLocks noChangeAspect="1"/>
          </p:cNvPicPr>
          <p:nvPr userDrawn="1"/>
        </p:nvPicPr>
        <p:blipFill>
          <a:blip r:embed="rId2"/>
          <a:srcRect/>
          <a:stretch>
            <a:fillRect/>
          </a:stretch>
        </p:blipFill>
        <p:spPr>
          <a:xfrm>
            <a:off x="7659836" y="-1984"/>
            <a:ext cx="1475656" cy="1229714"/>
          </a:xfrm>
          <a:prstGeom prst="rect">
            <a:avLst/>
          </a:prstGeom>
        </p:spPr>
      </p:pic>
      <p:cxnSp>
        <p:nvCxnSpPr>
          <p:cNvPr id="11" name="Conector Reto 10"/>
          <p:cNvCxnSpPr/>
          <p:nvPr userDrawn="1"/>
        </p:nvCxnSpPr>
        <p:spPr>
          <a:xfrm>
            <a:off x="0" y="1227730"/>
            <a:ext cx="9144000" cy="0"/>
          </a:xfrm>
          <a:prstGeom prst="line">
            <a:avLst/>
          </a:prstGeom>
          <a:ln w="38100"/>
        </p:spPr>
        <p:style>
          <a:lnRef idx="2">
            <a:schemeClr val="accent2"/>
          </a:lnRef>
          <a:fillRef idx="0">
            <a:schemeClr val="accent2"/>
          </a:fillRef>
          <a:effectRef idx="1">
            <a:schemeClr val="accent2"/>
          </a:effectRef>
          <a:fontRef idx="minor">
            <a:schemeClr val="tx1"/>
          </a:fontRef>
        </p:style>
      </p:cxnSp>
    </p:spTree>
  </p:cSld>
  <p:clrMapOvr>
    <a:masterClrMapping/>
  </p:clrMapOvr>
  <p:hf sldNum="0" hdr="0" ftr="0" dt="0"/>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noEditPoints="1"/>
          </p:cNvSpPr>
          <p:nvPr>
            <p:ph type="title"/>
          </p:nvPr>
        </p:nvSpPr>
        <p:spPr>
          <a:xfrm>
            <a:off x="107504" y="25796"/>
            <a:ext cx="7645678" cy="1143000"/>
          </a:xfrm>
          <a:prstGeom prst="rect">
            <a:avLst/>
          </a:prstGeom>
        </p:spPr>
        <p:txBody>
          <a:bodyPr vert="horz" lIns="91440" tIns="45720" rIns="91440" bIns="45720" rtlCol="0" anchor="ctr">
            <a:normAutofit/>
          </a:bodyPr>
          <a:lstStyle/>
          <a:p>
            <a:r>
              <a:rPr lang="pt-BR" dirty="0"/>
              <a:t>Clique para editar o título mestre</a:t>
            </a:r>
            <a:endParaRPr lang="pt-BR" dirty="0"/>
          </a:p>
        </p:txBody>
      </p:sp>
      <p:sp>
        <p:nvSpPr>
          <p:cNvPr id="3" name="Espaço Reservado para Texto 2"/>
          <p:cNvSpPr>
            <a:spLocks noGrp="1" noEditPoints="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dirty="0"/>
              <a:t>Clique para editar o texto mestre</a:t>
            </a:r>
            <a:endParaRPr lang="pt-BR" dirty="0"/>
          </a:p>
          <a:p>
            <a:pPr lvl="1"/>
            <a:r>
              <a:rPr lang="pt-BR" dirty="0"/>
              <a:t>Segundo nível</a:t>
            </a:r>
            <a:endParaRPr lang="pt-BR" dirty="0"/>
          </a:p>
          <a:p>
            <a:pPr lvl="2"/>
            <a:r>
              <a:rPr lang="pt-BR" dirty="0"/>
              <a:t>Terceiro nível</a:t>
            </a:r>
            <a:endParaRPr lang="pt-BR" dirty="0"/>
          </a:p>
          <a:p>
            <a:pPr lvl="3"/>
            <a:r>
              <a:rPr lang="pt-BR" dirty="0"/>
              <a:t>Quarto nível</a:t>
            </a:r>
            <a:endParaRPr lang="pt-BR" dirty="0"/>
          </a:p>
          <a:p>
            <a:pPr lvl="4"/>
            <a:r>
              <a:rPr lang="pt-BR" dirty="0"/>
              <a:t>Quinto nível</a:t>
            </a:r>
            <a:endParaRPr lang="pt-BR" dirty="0"/>
          </a:p>
        </p:txBody>
      </p:sp>
      <p:sp>
        <p:nvSpPr>
          <p:cNvPr id="4" name="Espaço Reservado para Data 3"/>
          <p:cNvSpPr>
            <a:spLocks noGrp="1" noEditPoints="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A6F6E65D-8DAF-473D-8F8C-DED78E0ED715}" type="datetimeFigureOut">
              <a:rPr lang="pt-BR" smtClean="0"/>
            </a:fld>
            <a:endParaRPr lang="pt-BR"/>
          </a:p>
        </p:txBody>
      </p:sp>
      <p:sp>
        <p:nvSpPr>
          <p:cNvPr id="5" name="Espaço Reservado para Rodapé 4"/>
          <p:cNvSpPr>
            <a:spLocks noGrp="1" noEditPoints="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pt-BR"/>
          </a:p>
        </p:txBody>
      </p:sp>
      <p:sp>
        <p:nvSpPr>
          <p:cNvPr id="6" name="Espaço Reservado para Número de Slide 5"/>
          <p:cNvSpPr>
            <a:spLocks noGrp="1" noEditPoints="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45950755-B738-4D9B-829E-82AFD49363A1}" type="slidenum">
              <a:rPr lang="pt-BR" smtClean="0"/>
            </a:fld>
            <a:endParaRPr lang="pt-BR"/>
          </a:p>
        </p:txBody>
      </p:sp>
      <p:cxnSp>
        <p:nvCxnSpPr>
          <p:cNvPr id="8" name="Conector Reto 7"/>
          <p:cNvCxnSpPr/>
          <p:nvPr userDrawn="1"/>
        </p:nvCxnSpPr>
        <p:spPr>
          <a:xfrm>
            <a:off x="0" y="1227730"/>
            <a:ext cx="9144000" cy="0"/>
          </a:xfrm>
          <a:prstGeom prst="line">
            <a:avLst/>
          </a:prstGeom>
          <a:ln w="38100"/>
        </p:spPr>
        <p:style>
          <a:lnRef idx="2">
            <a:schemeClr val="accent2"/>
          </a:lnRef>
          <a:fillRef idx="0">
            <a:schemeClr val="accent2"/>
          </a:fillRef>
          <a:effectRef idx="1">
            <a:schemeClr val="accent2"/>
          </a:effectRef>
          <a:fontRef idx="minor">
            <a:schemeClr val="tx1"/>
          </a:fontRef>
        </p:style>
      </p:cxnSp>
      <p:sp>
        <p:nvSpPr>
          <p:cNvPr id="11" name="Retângulo 10"/>
          <p:cNvSpPr/>
          <p:nvPr userDrawn="1"/>
        </p:nvSpPr>
        <p:spPr>
          <a:xfrm>
            <a:off x="0" y="5877274"/>
            <a:ext cx="9135492" cy="980726"/>
          </a:xfrm>
          <a:prstGeom prst="rect">
            <a:avLst/>
          </a:prstGeom>
          <a:solidFill>
            <a:srgbClr val="B4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pt-BR">
              <a:latin typeface="Arial" panose="020B0604020202020204" pitchFamily="34" charset="0"/>
              <a:cs typeface="Arial" panose="020B0604020202020204" pitchFamily="34" charset="0"/>
            </a:endParaRPr>
          </a:p>
        </p:txBody>
      </p:sp>
      <p:pic>
        <p:nvPicPr>
          <p:cNvPr id="10" name="Imagem 9"/>
          <p:cNvPicPr>
            <a:picLocks noChangeAspect="1"/>
          </p:cNvPicPr>
          <p:nvPr userDrawn="1"/>
        </p:nvPicPr>
        <p:blipFill>
          <a:blip r:embed="rId3"/>
          <a:srcRect/>
          <a:stretch>
            <a:fillRect/>
          </a:stretch>
        </p:blipFill>
        <p:spPr>
          <a:xfrm>
            <a:off x="6198122" y="6118495"/>
            <a:ext cx="2843756" cy="602980"/>
          </a:xfrm>
          <a:prstGeom prst="rect">
            <a:avLst/>
          </a:prstGeom>
        </p:spPr>
      </p:pic>
      <p:pic>
        <p:nvPicPr>
          <p:cNvPr id="15" name="Imagem 14"/>
          <p:cNvPicPr>
            <a:picLocks noChangeAspect="1"/>
          </p:cNvPicPr>
          <p:nvPr userDrawn="1"/>
        </p:nvPicPr>
        <p:blipFill>
          <a:blip r:embed="rId4"/>
          <a:srcRect/>
          <a:stretch>
            <a:fillRect/>
          </a:stretch>
        </p:blipFill>
        <p:spPr>
          <a:xfrm>
            <a:off x="4792617" y="5961054"/>
            <a:ext cx="1176905" cy="790592"/>
          </a:xfrm>
          <a:prstGeom prst="rect">
            <a:avLst/>
          </a:prstGeom>
        </p:spPr>
      </p:pic>
      <p:pic>
        <p:nvPicPr>
          <p:cNvPr id="7" name="Imagem 6"/>
          <p:cNvPicPr>
            <a:picLocks noChangeAspect="1"/>
          </p:cNvPicPr>
          <p:nvPr userDrawn="1"/>
        </p:nvPicPr>
        <p:blipFill>
          <a:blip r:embed="rId5"/>
          <a:srcRect/>
          <a:stretch>
            <a:fillRect/>
          </a:stretch>
        </p:blipFill>
        <p:spPr>
          <a:xfrm>
            <a:off x="7753182" y="38950"/>
            <a:ext cx="1382310" cy="115192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400" rtl="0" eaLnBrk="1" latinLnBrk="0" hangingPunct="1">
        <a:spcBef>
          <a:spcPct val="0"/>
        </a:spcBef>
        <a:buNone/>
        <a:defRPr sz="4000" b="1"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hyperlink" Target="https://vitrineweb-app.vercel.app/"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CENTRO ESTADUAL DE EDUCAÇÃO TECNOLÓGICA&#10;“PAULA SOUZA” – CEET"/>
          <p:cNvSpPr>
            <a:spLocks noGrp="1"/>
          </p:cNvSpPr>
          <p:nvPr/>
        </p:nvSpPr>
        <p:spPr>
          <a:xfrm>
            <a:off x="419100" y="438150"/>
            <a:ext cx="7010400" cy="533400"/>
          </a:xfrm>
          <a:prstGeom prst="rect">
            <a:avLst/>
          </a:prstGeom>
          <a:noFill/>
          <a:ln w="0">
            <a:noFill/>
          </a:ln>
        </p:spPr>
        <p:txBody>
          <a:bodyPr lIns="0" tIns="0" rIns="0" bIns="0" anchor="t">
            <a:noAutofit/>
          </a:bodyPr>
          <a:lstStyle/>
          <a:p>
            <a:pPr algn="ctr">
              <a:defRPr sz="1425" b="1">
                <a:solidFill>
                  <a:srgbClr val="232323"/>
                </a:solidFill>
                <a:latin typeface="Arial" panose="020B0604020202020204"/>
                <a:ea typeface="Arial" panose="020B0604020202020204"/>
                <a:cs typeface="Arial" panose="020B0604020202020204"/>
              </a:defRPr>
            </a:pPr>
            <a:r>
              <a:rPr sz="1425" b="1">
                <a:solidFill>
                  <a:srgbClr val="232323"/>
                </a:solidFill>
                <a:latin typeface="Arial" panose="020B0604020202020204"/>
                <a:ea typeface="Arial" panose="020B0604020202020204"/>
                <a:cs typeface="Arial" panose="020B0604020202020204"/>
              </a:rPr>
              <a:t>CENTRO ESTADUAL DE EDUCAÇÃO TECNOLÓGICA</a:t>
            </a:r>
            <a:endParaRPr sz="1425" b="1">
              <a:solidFill>
                <a:srgbClr val="232323"/>
              </a:solidFill>
              <a:latin typeface="Arial" panose="020B0604020202020204"/>
              <a:ea typeface="Arial" panose="020B0604020202020204"/>
              <a:cs typeface="Arial" panose="020B0604020202020204"/>
            </a:endParaRPr>
          </a:p>
          <a:p>
            <a:pPr algn="ctr">
              <a:defRPr sz="1425" b="1">
                <a:solidFill>
                  <a:srgbClr val="232323"/>
                </a:solidFill>
                <a:latin typeface="Arial" panose="020B0604020202020204"/>
                <a:ea typeface="Arial" panose="020B0604020202020204"/>
                <a:cs typeface="Arial" panose="020B0604020202020204"/>
              </a:defRPr>
            </a:pPr>
            <a:r>
              <a:rPr sz="1425" b="1">
                <a:solidFill>
                  <a:srgbClr val="232323"/>
                </a:solidFill>
                <a:latin typeface="Arial" panose="020B0604020202020204"/>
                <a:ea typeface="Arial" panose="020B0604020202020204"/>
                <a:cs typeface="Arial" panose="020B0604020202020204"/>
              </a:rPr>
              <a:t>“PAULA SOUZA” – CEETEPS</a:t>
            </a:r>
            <a:endParaRPr sz="1425" b="1">
              <a:solidFill>
                <a:srgbClr val="232323"/>
              </a:solidFill>
              <a:latin typeface="Arial" panose="020B0604020202020204"/>
              <a:ea typeface="Arial" panose="020B0604020202020204"/>
              <a:cs typeface="Arial" panose="020B0604020202020204"/>
            </a:endParaRPr>
          </a:p>
        </p:txBody>
      </p:sp>
      <p:sp>
        <p:nvSpPr>
          <p:cNvPr id="102" name="ESCOLA TÉCNICA ESTADUAL “DR. ADAIL NUNES DA SILVA”"/>
          <p:cNvSpPr>
            <a:spLocks noGrp="1"/>
          </p:cNvSpPr>
          <p:nvPr/>
        </p:nvSpPr>
        <p:spPr>
          <a:xfrm>
            <a:off x="457200" y="1238250"/>
            <a:ext cx="8229600" cy="304800"/>
          </a:xfrm>
          <a:prstGeom prst="rect">
            <a:avLst/>
          </a:prstGeom>
          <a:noFill/>
          <a:ln w="0">
            <a:noFill/>
          </a:ln>
        </p:spPr>
        <p:txBody>
          <a:bodyPr lIns="0" tIns="0" rIns="0" bIns="0" anchor="t">
            <a:noAutofit/>
          </a:bodyPr>
          <a:lstStyle/>
          <a:p>
            <a:pPr algn="ctr">
              <a:defRPr sz="1500" b="0">
                <a:solidFill>
                  <a:srgbClr val="232323"/>
                </a:solidFill>
                <a:latin typeface="Arial" panose="020B0604020202020204"/>
                <a:ea typeface="Arial" panose="020B0604020202020204"/>
                <a:cs typeface="Arial" panose="020B0604020202020204"/>
              </a:defRPr>
            </a:pPr>
            <a:r>
              <a:rPr sz="1500" b="0">
                <a:solidFill>
                  <a:srgbClr val="232323"/>
                </a:solidFill>
                <a:latin typeface="Arial" panose="020B0604020202020204"/>
                <a:ea typeface="Arial" panose="020B0604020202020204"/>
                <a:cs typeface="Arial" panose="020B0604020202020204"/>
              </a:rPr>
              <a:t>ESCOLA TÉCNICA ESTADUAL “DR. ADAIL NUNES DA SILVA”</a:t>
            </a:r>
            <a:endParaRPr sz="1500" b="0">
              <a:solidFill>
                <a:srgbClr val="232323"/>
              </a:solidFill>
              <a:latin typeface="Arial" panose="020B0604020202020204"/>
              <a:ea typeface="Arial" panose="020B0604020202020204"/>
              <a:cs typeface="Arial" panose="020B0604020202020204"/>
            </a:endParaRPr>
          </a:p>
        </p:txBody>
      </p:sp>
      <p:sp>
        <p:nvSpPr>
          <p:cNvPr id="103" name="TÉCNICO EM DESENVOLVIMENTO DE SISTEMAS"/>
          <p:cNvSpPr>
            <a:spLocks noGrp="1"/>
          </p:cNvSpPr>
          <p:nvPr/>
        </p:nvSpPr>
        <p:spPr>
          <a:xfrm>
            <a:off x="457200" y="1619250"/>
            <a:ext cx="8229600" cy="266700"/>
          </a:xfrm>
          <a:prstGeom prst="rect">
            <a:avLst/>
          </a:prstGeom>
          <a:noFill/>
          <a:ln w="0">
            <a:noFill/>
          </a:ln>
        </p:spPr>
        <p:txBody>
          <a:bodyPr lIns="0" tIns="0" rIns="0" bIns="0" anchor="t">
            <a:noAutofit/>
          </a:bodyPr>
          <a:lstStyle/>
          <a:p>
            <a:pPr algn="ctr">
              <a:defRPr sz="1500" b="0">
                <a:solidFill>
                  <a:srgbClr val="232323"/>
                </a:solidFill>
                <a:latin typeface="Arial" panose="020B0604020202020204"/>
                <a:ea typeface="Arial" panose="020B0604020202020204"/>
                <a:cs typeface="Arial" panose="020B0604020202020204"/>
              </a:defRPr>
            </a:pPr>
            <a:r>
              <a:rPr sz="1500" b="0">
                <a:solidFill>
                  <a:srgbClr val="232323"/>
                </a:solidFill>
                <a:latin typeface="Arial" panose="020B0604020202020204"/>
                <a:ea typeface="Arial" panose="020B0604020202020204"/>
                <a:cs typeface="Arial" panose="020B0604020202020204"/>
              </a:rPr>
              <a:t>TÉCNICO EM DESENVOLVIMENTO DE SISTEMAS</a:t>
            </a:r>
            <a:endParaRPr sz="1500" b="0">
              <a:solidFill>
                <a:srgbClr val="232323"/>
              </a:solidFill>
              <a:latin typeface="Arial" panose="020B0604020202020204"/>
              <a:ea typeface="Arial" panose="020B0604020202020204"/>
              <a:cs typeface="Arial" panose="020B0604020202020204"/>
            </a:endParaRPr>
          </a:p>
        </p:txBody>
      </p:sp>
      <p:sp>
        <p:nvSpPr>
          <p:cNvPr id="104" name="Catálogo Digital: Vitrine Web"/>
          <p:cNvSpPr>
            <a:spLocks noGrp="1"/>
          </p:cNvSpPr>
          <p:nvPr/>
        </p:nvSpPr>
        <p:spPr>
          <a:xfrm>
            <a:off x="457200" y="2333625"/>
            <a:ext cx="8229600" cy="495300"/>
          </a:xfrm>
          <a:prstGeom prst="rect">
            <a:avLst/>
          </a:prstGeom>
          <a:noFill/>
          <a:ln w="0">
            <a:noFill/>
          </a:ln>
        </p:spPr>
        <p:txBody>
          <a:bodyPr lIns="0" tIns="0" rIns="0" bIns="0" anchor="t">
            <a:noAutofit/>
          </a:bodyPr>
          <a:lstStyle/>
          <a:p>
            <a:pPr algn="ctr">
              <a:defRPr sz="2925" b="1">
                <a:solidFill>
                  <a:srgbClr val="232323"/>
                </a:solidFill>
                <a:latin typeface="Arial" panose="020B0604020202020204"/>
                <a:ea typeface="Arial" panose="020B0604020202020204"/>
                <a:cs typeface="Arial" panose="020B0604020202020204"/>
              </a:defRPr>
            </a:pPr>
            <a:r>
              <a:rPr sz="2925" b="1">
                <a:solidFill>
                  <a:srgbClr val="232323"/>
                </a:solidFill>
                <a:latin typeface="Arial" panose="020B0604020202020204"/>
                <a:ea typeface="Arial" panose="020B0604020202020204"/>
                <a:cs typeface="Arial" panose="020B0604020202020204"/>
              </a:rPr>
              <a:t>Catálogo Digital: Vitrine Web</a:t>
            </a:r>
            <a:endParaRPr sz="2925" b="1">
              <a:solidFill>
                <a:srgbClr val="232323"/>
              </a:solidFill>
              <a:latin typeface="Arial" panose="020B0604020202020204"/>
              <a:ea typeface="Arial" panose="020B0604020202020204"/>
              <a:cs typeface="Arial" panose="020B0604020202020204"/>
            </a:endParaRPr>
          </a:p>
        </p:txBody>
      </p:sp>
      <p:sp>
        <p:nvSpPr>
          <p:cNvPr id="105" name="Discentes"/>
          <p:cNvSpPr>
            <a:spLocks noGrp="1"/>
          </p:cNvSpPr>
          <p:nvPr/>
        </p:nvSpPr>
        <p:spPr>
          <a:xfrm>
            <a:off x="457200" y="3105150"/>
            <a:ext cx="8229600" cy="247650"/>
          </a:xfrm>
          <a:prstGeom prst="rect">
            <a:avLst/>
          </a:prstGeom>
          <a:noFill/>
          <a:ln w="0">
            <a:noFill/>
          </a:ln>
        </p:spPr>
        <p:txBody>
          <a:bodyPr lIns="0" tIns="0" rIns="0" bIns="0" anchor="t">
            <a:noAutofit/>
          </a:bodyPr>
          <a:lstStyle/>
          <a:p>
            <a:pPr algn="ctr">
              <a:defRPr sz="1575" b="1">
                <a:solidFill>
                  <a:srgbClr val="232323"/>
                </a:solidFill>
                <a:latin typeface="Arial" panose="020B0604020202020204"/>
                <a:ea typeface="Arial" panose="020B0604020202020204"/>
                <a:cs typeface="Arial" panose="020B0604020202020204"/>
              </a:defRPr>
            </a:pPr>
            <a:r>
              <a:rPr sz="1575" b="1">
                <a:solidFill>
                  <a:srgbClr val="232323"/>
                </a:solidFill>
                <a:latin typeface="Arial" panose="020B0604020202020204"/>
                <a:ea typeface="Arial" panose="020B0604020202020204"/>
                <a:cs typeface="Arial" panose="020B0604020202020204"/>
              </a:rPr>
              <a:t>Discentes</a:t>
            </a:r>
            <a:endParaRPr sz="1575" b="1">
              <a:solidFill>
                <a:srgbClr val="232323"/>
              </a:solidFill>
              <a:latin typeface="Arial" panose="020B0604020202020204"/>
              <a:ea typeface="Arial" panose="020B0604020202020204"/>
              <a:cs typeface="Arial" panose="020B0604020202020204"/>
            </a:endParaRPr>
          </a:p>
        </p:txBody>
      </p:sp>
      <p:sp>
        <p:nvSpPr>
          <p:cNvPr id="106" name="Gustavo Henrique Pereira"/>
          <p:cNvSpPr>
            <a:spLocks noGrp="1"/>
          </p:cNvSpPr>
          <p:nvPr/>
        </p:nvSpPr>
        <p:spPr>
          <a:xfrm>
            <a:off x="457200" y="3448050"/>
            <a:ext cx="8229600" cy="295275"/>
          </a:xfrm>
          <a:prstGeom prst="rect">
            <a:avLst/>
          </a:prstGeom>
          <a:noFill/>
          <a:ln w="0">
            <a:noFill/>
          </a:ln>
        </p:spPr>
        <p:txBody>
          <a:bodyPr lIns="0" tIns="0" rIns="0" bIns="0" anchor="t">
            <a:noAutofit/>
          </a:bodyPr>
          <a:lstStyle/>
          <a:p>
            <a:pPr algn="ctr">
              <a:defRPr sz="1725" b="0">
                <a:solidFill>
                  <a:srgbClr val="232323"/>
                </a:solidFill>
                <a:latin typeface="Arial" panose="020B0604020202020204"/>
                <a:ea typeface="Arial" panose="020B0604020202020204"/>
                <a:cs typeface="Arial" panose="020B0604020202020204"/>
              </a:defRPr>
            </a:pPr>
            <a:r>
              <a:rPr sz="1725" b="0">
                <a:solidFill>
                  <a:srgbClr val="232323"/>
                </a:solidFill>
                <a:latin typeface="Arial" panose="020B0604020202020204"/>
                <a:ea typeface="Arial" panose="020B0604020202020204"/>
                <a:cs typeface="Arial" panose="020B0604020202020204"/>
              </a:rPr>
              <a:t>Gustavo Henrique Pereira</a:t>
            </a:r>
            <a:endParaRPr sz="1725" b="0">
              <a:solidFill>
                <a:srgbClr val="232323"/>
              </a:solidFill>
              <a:latin typeface="Arial" panose="020B0604020202020204"/>
              <a:ea typeface="Arial" panose="020B0604020202020204"/>
              <a:cs typeface="Arial" panose="020B0604020202020204"/>
            </a:endParaRPr>
          </a:p>
        </p:txBody>
      </p:sp>
      <p:sp>
        <p:nvSpPr>
          <p:cNvPr id="107" name="Jason Nicolas Pires"/>
          <p:cNvSpPr>
            <a:spLocks noGrp="1"/>
          </p:cNvSpPr>
          <p:nvPr/>
        </p:nvSpPr>
        <p:spPr>
          <a:xfrm>
            <a:off x="457200" y="3743325"/>
            <a:ext cx="8229600" cy="295275"/>
          </a:xfrm>
          <a:prstGeom prst="rect">
            <a:avLst/>
          </a:prstGeom>
          <a:noFill/>
          <a:ln w="0">
            <a:noFill/>
          </a:ln>
        </p:spPr>
        <p:txBody>
          <a:bodyPr lIns="0" tIns="0" rIns="0" bIns="0" anchor="t">
            <a:noAutofit/>
          </a:bodyPr>
          <a:lstStyle/>
          <a:p>
            <a:pPr algn="ctr">
              <a:defRPr sz="1725" b="0">
                <a:solidFill>
                  <a:srgbClr val="232323"/>
                </a:solidFill>
                <a:latin typeface="Arial" panose="020B0604020202020204"/>
                <a:ea typeface="Arial" panose="020B0604020202020204"/>
                <a:cs typeface="Arial" panose="020B0604020202020204"/>
              </a:defRPr>
            </a:pPr>
            <a:r>
              <a:rPr sz="1725" b="0">
                <a:solidFill>
                  <a:srgbClr val="232323"/>
                </a:solidFill>
                <a:latin typeface="Arial" panose="020B0604020202020204"/>
                <a:ea typeface="Arial" panose="020B0604020202020204"/>
                <a:cs typeface="Arial" panose="020B0604020202020204"/>
              </a:rPr>
              <a:t>Jason Nicolas Pires</a:t>
            </a:r>
            <a:endParaRPr sz="1725" b="0">
              <a:solidFill>
                <a:srgbClr val="232323"/>
              </a:solidFill>
              <a:latin typeface="Arial" panose="020B0604020202020204"/>
              <a:ea typeface="Arial" panose="020B0604020202020204"/>
              <a:cs typeface="Arial" panose="020B0604020202020204"/>
            </a:endParaRPr>
          </a:p>
        </p:txBody>
      </p:sp>
      <p:sp>
        <p:nvSpPr>
          <p:cNvPr id="108" name="Luiz Gustavo Morata Pereira"/>
          <p:cNvSpPr>
            <a:spLocks noGrp="1"/>
          </p:cNvSpPr>
          <p:nvPr/>
        </p:nvSpPr>
        <p:spPr>
          <a:xfrm>
            <a:off x="457200" y="4038600"/>
            <a:ext cx="8229600" cy="295275"/>
          </a:xfrm>
          <a:prstGeom prst="rect">
            <a:avLst/>
          </a:prstGeom>
          <a:noFill/>
          <a:ln w="0">
            <a:noFill/>
          </a:ln>
        </p:spPr>
        <p:txBody>
          <a:bodyPr lIns="0" tIns="0" rIns="0" bIns="0" anchor="t">
            <a:noAutofit/>
          </a:bodyPr>
          <a:lstStyle/>
          <a:p>
            <a:pPr algn="ctr">
              <a:defRPr sz="1725" b="0">
                <a:solidFill>
                  <a:srgbClr val="232323"/>
                </a:solidFill>
                <a:latin typeface="Arial" panose="020B0604020202020204"/>
                <a:ea typeface="Arial" panose="020B0604020202020204"/>
                <a:cs typeface="Arial" panose="020B0604020202020204"/>
              </a:defRPr>
            </a:pPr>
            <a:r>
              <a:rPr sz="1725" b="0">
                <a:solidFill>
                  <a:srgbClr val="232323"/>
                </a:solidFill>
                <a:latin typeface="Arial" panose="020B0604020202020204"/>
                <a:ea typeface="Arial" panose="020B0604020202020204"/>
                <a:cs typeface="Arial" panose="020B0604020202020204"/>
              </a:rPr>
              <a:t>Luiz Gustavo Morata Pereira</a:t>
            </a:r>
            <a:endParaRPr sz="1725" b="0">
              <a:solidFill>
                <a:srgbClr val="232323"/>
              </a:solidFill>
              <a:latin typeface="Arial" panose="020B0604020202020204"/>
              <a:ea typeface="Arial" panose="020B0604020202020204"/>
              <a:cs typeface="Arial" panose="020B0604020202020204"/>
            </a:endParaRPr>
          </a:p>
        </p:txBody>
      </p:sp>
      <p:sp>
        <p:nvSpPr>
          <p:cNvPr id="109" name="Moisés Figueiredo Santos Machado"/>
          <p:cNvSpPr>
            <a:spLocks noGrp="1"/>
          </p:cNvSpPr>
          <p:nvPr/>
        </p:nvSpPr>
        <p:spPr>
          <a:xfrm>
            <a:off x="457200" y="4333875"/>
            <a:ext cx="8229600" cy="295275"/>
          </a:xfrm>
          <a:prstGeom prst="rect">
            <a:avLst/>
          </a:prstGeom>
          <a:noFill/>
          <a:ln w="0">
            <a:noFill/>
          </a:ln>
        </p:spPr>
        <p:txBody>
          <a:bodyPr lIns="0" tIns="0" rIns="0" bIns="0" anchor="t">
            <a:noAutofit/>
          </a:bodyPr>
          <a:lstStyle/>
          <a:p>
            <a:pPr algn="ctr">
              <a:defRPr sz="1725" b="0">
                <a:solidFill>
                  <a:srgbClr val="232323"/>
                </a:solidFill>
                <a:latin typeface="Arial" panose="020B0604020202020204"/>
                <a:ea typeface="Arial" panose="020B0604020202020204"/>
                <a:cs typeface="Arial" panose="020B0604020202020204"/>
              </a:defRPr>
            </a:pPr>
            <a:r>
              <a:rPr sz="1725" b="0">
                <a:solidFill>
                  <a:srgbClr val="232323"/>
                </a:solidFill>
                <a:latin typeface="Arial" panose="020B0604020202020204"/>
                <a:ea typeface="Arial" panose="020B0604020202020204"/>
                <a:cs typeface="Arial" panose="020B0604020202020204"/>
              </a:rPr>
              <a:t>Moisés Figueiredo Santos Machado</a:t>
            </a:r>
            <a:endParaRPr sz="1725" b="0">
              <a:solidFill>
                <a:srgbClr val="232323"/>
              </a:solidFill>
              <a:latin typeface="Arial" panose="020B0604020202020204"/>
              <a:ea typeface="Arial" panose="020B0604020202020204"/>
              <a:cs typeface="Arial" panose="020B0604020202020204"/>
            </a:endParaRPr>
          </a:p>
        </p:txBody>
      </p:sp>
      <p:sp>
        <p:nvSpPr>
          <p:cNvPr id="110" name="Orientador: Prof. Leonardo Murilo Hervas"/>
          <p:cNvSpPr>
            <a:spLocks noGrp="1"/>
          </p:cNvSpPr>
          <p:nvPr/>
        </p:nvSpPr>
        <p:spPr>
          <a:xfrm>
            <a:off x="457200" y="4886325"/>
            <a:ext cx="8229600" cy="323850"/>
          </a:xfrm>
          <a:prstGeom prst="rect">
            <a:avLst/>
          </a:prstGeom>
          <a:noFill/>
          <a:ln w="0">
            <a:noFill/>
          </a:ln>
        </p:spPr>
        <p:txBody>
          <a:bodyPr lIns="0" tIns="0" rIns="0" bIns="0" anchor="t">
            <a:noAutofit/>
          </a:bodyPr>
          <a:lstStyle/>
          <a:p>
            <a:pPr algn="ctr">
              <a:defRPr sz="1650" b="0">
                <a:solidFill>
                  <a:srgbClr val="232323"/>
                </a:solidFill>
                <a:latin typeface="Arial" panose="020B0604020202020204"/>
                <a:ea typeface="Arial" panose="020B0604020202020204"/>
                <a:cs typeface="Arial" panose="020B0604020202020204"/>
              </a:defRPr>
            </a:pPr>
            <a:r>
              <a:rPr sz="1650" b="0">
                <a:solidFill>
                  <a:srgbClr val="232323"/>
                </a:solidFill>
                <a:latin typeface="Arial" panose="020B0604020202020204"/>
                <a:ea typeface="Arial" panose="020B0604020202020204"/>
                <a:cs typeface="Arial" panose="020B0604020202020204"/>
              </a:rPr>
              <a:t>Orientador: Prof. Leonardo Murilo Hervas</a:t>
            </a:r>
            <a:endParaRPr sz="1650" b="0">
              <a:solidFill>
                <a:srgbClr val="232323"/>
              </a:solidFill>
              <a:latin typeface="Arial" panose="020B0604020202020204"/>
              <a:ea typeface="Arial" panose="020B0604020202020204"/>
              <a:cs typeface="Arial" panose="020B0604020202020204"/>
            </a:endParaRPr>
          </a:p>
        </p:txBody>
      </p:sp>
      <p:sp>
        <p:nvSpPr>
          <p:cNvPr id="111" name="Taquaritinga, 2026"/>
          <p:cNvSpPr>
            <a:spLocks noGrp="1"/>
          </p:cNvSpPr>
          <p:nvPr/>
        </p:nvSpPr>
        <p:spPr>
          <a:xfrm>
            <a:off x="457200" y="5400675"/>
            <a:ext cx="8229600" cy="276225"/>
          </a:xfrm>
          <a:prstGeom prst="rect">
            <a:avLst/>
          </a:prstGeom>
          <a:noFill/>
          <a:ln w="0">
            <a:noFill/>
          </a:ln>
        </p:spPr>
        <p:txBody>
          <a:bodyPr lIns="0" tIns="0" rIns="0" bIns="0" anchor="t">
            <a:noAutofit/>
          </a:bodyPr>
          <a:lstStyle/>
          <a:p>
            <a:pPr algn="ctr">
              <a:defRPr sz="1500" b="0">
                <a:solidFill>
                  <a:srgbClr val="232323"/>
                </a:solidFill>
                <a:latin typeface="Arial" panose="020B0604020202020204"/>
                <a:ea typeface="Arial" panose="020B0604020202020204"/>
                <a:cs typeface="Arial" panose="020B0604020202020204"/>
              </a:defRPr>
            </a:pPr>
            <a:r>
              <a:rPr sz="1500" b="0">
                <a:solidFill>
                  <a:srgbClr val="232323"/>
                </a:solidFill>
                <a:latin typeface="Arial" panose="020B0604020202020204"/>
                <a:ea typeface="Arial" panose="020B0604020202020204"/>
                <a:cs typeface="Arial" panose="020B0604020202020204"/>
              </a:rPr>
              <a:t>Taquaritinga, 2026</a:t>
            </a:r>
            <a:endParaRPr sz="1500" b="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INTRODUÇÃO</a:t>
            </a:r>
            <a:endParaRPr sz="2400" b="1">
              <a:solidFill>
                <a:srgbClr val="232323"/>
              </a:solidFill>
              <a:latin typeface="Arial" panose="020B0604020202020204"/>
              <a:ea typeface="Arial" panose="020B0604020202020204"/>
              <a:cs typeface="Arial" panose="020B0604020202020204"/>
            </a:endParaRPr>
          </a:p>
        </p:txBody>
      </p:sp>
      <p:sp>
        <p:nvSpPr>
          <p:cNvPr id="201" name="Introdução texto"/>
          <p:cNvSpPr>
            <a:spLocks noGrp="1"/>
          </p:cNvSpPr>
          <p:nvPr/>
        </p:nvSpPr>
        <p:spPr>
          <a:xfrm>
            <a:off x="619125" y="1752600"/>
            <a:ext cx="7858125" cy="3476625"/>
          </a:xfrm>
          <a:prstGeom prst="rect">
            <a:avLst/>
          </a:prstGeom>
          <a:noFill/>
          <a:ln w="0">
            <a:noFill/>
          </a:ln>
        </p:spPr>
        <p:txBody>
          <a:bodyPr lIns="0" tIns="0" rIns="0" bIns="0" anchor="t">
            <a:noAutofit/>
          </a:bodyPr>
          <a:lstStyle>
            <a:defPPr algn="l">
              <a:defRPr sz="2325" b="0">
                <a:solidFill>
                  <a:srgbClr val="232323"/>
                </a:solidFill>
                <a:latin typeface="Arial" panose="020B0604020202020204"/>
                <a:ea typeface="Arial" panose="020B0604020202020204"/>
                <a:cs typeface="Arial" panose="020B0604020202020204"/>
              </a:defRPr>
            </a:defPPr>
          </a:lstStyle>
          <a:p>
            <a:pPr algn="l">
              <a:lnSpc>
                <a:spcPct val="112000"/>
              </a:lnSpc>
              <a:buNone/>
              <a:defRPr sz="2325" b="0">
                <a:solidFill>
                  <a:srgbClr val="232323"/>
                </a:solidFill>
                <a:latin typeface="Arial" panose="020B0604020202020204"/>
                <a:ea typeface="Arial" panose="020B0604020202020204"/>
                <a:cs typeface="Arial" panose="020B0604020202020204"/>
              </a:defRPr>
            </a:pPr>
            <a:r>
              <a:rPr sz="2325" b="0">
                <a:solidFill>
                  <a:srgbClr val="232323"/>
                </a:solidFill>
                <a:latin typeface="Arial" panose="020B0604020202020204"/>
                <a:ea typeface="Arial" panose="020B0604020202020204"/>
                <a:cs typeface="Arial" panose="020B0604020202020204"/>
              </a:rPr>
              <a:t>Quando fotos e preços ficam espalhados entre publicações e conversas, conhecer os produtos de uma loja exige várias perguntas ao vendedor. A Vitrine Web nasceu para organizar essa consulta em um só lugar. A proposta reúne lojas do comércio local em uma plataforma na qual o cliente encontra o que procura e inicia o atendimento com uma seleção de produtos já definida.</a:t>
            </a:r>
            <a:endParaRPr sz="2325" b="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LEVANTAMENTO DE REQUISITOS</a:t>
            </a:r>
            <a:endParaRPr sz="2400" b="1">
              <a:solidFill>
                <a:srgbClr val="232323"/>
              </a:solidFill>
              <a:latin typeface="Arial" panose="020B0604020202020204"/>
              <a:ea typeface="Arial" panose="020B0604020202020204"/>
              <a:cs typeface="Arial" panose="020B0604020202020204"/>
            </a:endParaRPr>
          </a:p>
        </p:txBody>
      </p:sp>
      <p:sp>
        <p:nvSpPr>
          <p:cNvPr id="102" name="2. Compraria pelo catálogo&#10;de uma loja local?"/>
          <p:cNvSpPr>
            <a:spLocks noGrp="1"/>
          </p:cNvSpPr>
          <p:nvPr/>
        </p:nvSpPr>
        <p:spPr>
          <a:xfrm>
            <a:off x="428625" y="1333500"/>
            <a:ext cx="4000500" cy="619125"/>
          </a:xfrm>
          <a:prstGeom prst="rect">
            <a:avLst/>
          </a:prstGeom>
          <a:noFill/>
          <a:ln w="0">
            <a:noFill/>
          </a:ln>
        </p:spPr>
        <p:txBody>
          <a:bodyPr lIns="0" tIns="0" rIns="0" bIns="0" anchor="t">
            <a:noAutofit/>
          </a:bodyPr>
          <a:lstStyle/>
          <a:p>
            <a:pPr algn="l">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2. Compraria pelo catálogo</a:t>
            </a:r>
            <a:endParaRPr sz="1725" b="1">
              <a:solidFill>
                <a:srgbClr val="232323"/>
              </a:solidFill>
              <a:latin typeface="Arial" panose="020B0604020202020204"/>
              <a:ea typeface="Arial" panose="020B0604020202020204"/>
              <a:cs typeface="Arial" panose="020B0604020202020204"/>
            </a:endParaRPr>
          </a:p>
          <a:p>
            <a:pPr algn="l">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de uma loja local?</a:t>
            </a:r>
            <a:endParaRPr sz="1725" b="1">
              <a:solidFill>
                <a:srgbClr val="232323"/>
              </a:solidFill>
              <a:latin typeface="Arial" panose="020B0604020202020204"/>
              <a:ea typeface="Arial" panose="020B0604020202020204"/>
              <a:cs typeface="Arial" panose="020B0604020202020204"/>
            </a:endParaRPr>
          </a:p>
        </p:txBody>
      </p:sp>
      <p:graphicFrame>
        <p:nvGraphicFramePr>
          <p:cNvPr id="103" name="Chart"/>
          <p:cNvGraphicFramePr/>
          <p:nvPr/>
        </p:nvGraphicFramePr>
        <p:xfrm>
          <a:off x="428625" y="1971675"/>
          <a:ext cx="3962400" cy="1171575"/>
        </p:xfrm>
        <a:graphic>
          <a:graphicData uri="http://schemas.openxmlformats.org/drawingml/2006/chart">
            <c:chart xmlns:c="http://schemas.openxmlformats.org/drawingml/2006/chart" xmlns:r="http://schemas.openxmlformats.org/officeDocument/2006/relationships" r:id="rId1"/>
          </a:graphicData>
        </a:graphic>
      </p:graphicFrame>
      <p:sp>
        <p:nvSpPr>
          <p:cNvPr id="104" name="6. Finalizar pelo WhatsApp&#10;atrapalharia a compra?"/>
          <p:cNvSpPr>
            <a:spLocks noGrp="1"/>
          </p:cNvSpPr>
          <p:nvPr/>
        </p:nvSpPr>
        <p:spPr>
          <a:xfrm>
            <a:off x="4762500" y="1333500"/>
            <a:ext cx="4000500" cy="619125"/>
          </a:xfrm>
          <a:prstGeom prst="rect">
            <a:avLst/>
          </a:prstGeom>
          <a:noFill/>
          <a:ln w="0">
            <a:noFill/>
          </a:ln>
        </p:spPr>
        <p:txBody>
          <a:bodyPr lIns="0" tIns="0" rIns="0" bIns="0" anchor="t">
            <a:noAutofit/>
          </a:bodyPr>
          <a:lstStyle/>
          <a:p>
            <a:pPr algn="l">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6. Finalizar pelo WhatsApp</a:t>
            </a:r>
            <a:endParaRPr sz="1725" b="1">
              <a:solidFill>
                <a:srgbClr val="232323"/>
              </a:solidFill>
              <a:latin typeface="Arial" panose="020B0604020202020204"/>
              <a:ea typeface="Arial" panose="020B0604020202020204"/>
              <a:cs typeface="Arial" panose="020B0604020202020204"/>
            </a:endParaRPr>
          </a:p>
          <a:p>
            <a:pPr algn="l">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atrapalharia a compra?</a:t>
            </a:r>
            <a:endParaRPr sz="1725" b="1">
              <a:solidFill>
                <a:srgbClr val="232323"/>
              </a:solidFill>
              <a:latin typeface="Arial" panose="020B0604020202020204"/>
              <a:ea typeface="Arial" panose="020B0604020202020204"/>
              <a:cs typeface="Arial" panose="020B0604020202020204"/>
            </a:endParaRPr>
          </a:p>
        </p:txBody>
      </p:sp>
      <p:graphicFrame>
        <p:nvGraphicFramePr>
          <p:cNvPr id="105" name="Chart"/>
          <p:cNvGraphicFramePr/>
          <p:nvPr/>
        </p:nvGraphicFramePr>
        <p:xfrm>
          <a:off x="4714875" y="1971675"/>
          <a:ext cx="4019550" cy="1171575"/>
        </p:xfrm>
        <a:graphic>
          <a:graphicData uri="http://schemas.openxmlformats.org/drawingml/2006/chart">
            <c:chart xmlns:c="http://schemas.openxmlformats.org/drawingml/2006/chart" xmlns:r="http://schemas.openxmlformats.org/officeDocument/2006/relationships" r:id="rId2"/>
          </a:graphicData>
        </a:graphic>
      </p:graphicFrame>
      <p:sp>
        <p:nvSpPr>
          <p:cNvPr id="106" name="3. O que mais impede a compra de roupas online?"/>
          <p:cNvSpPr>
            <a:spLocks noGrp="1"/>
          </p:cNvSpPr>
          <p:nvPr/>
        </p:nvSpPr>
        <p:spPr>
          <a:xfrm>
            <a:off x="428625" y="3390900"/>
            <a:ext cx="8239125" cy="342900"/>
          </a:xfrm>
          <a:prstGeom prst="rect">
            <a:avLst/>
          </a:prstGeom>
          <a:noFill/>
          <a:ln w="0">
            <a:noFill/>
          </a:ln>
        </p:spPr>
        <p:txBody>
          <a:bodyPr lIns="0" tIns="0" rIns="0" bIns="0" anchor="t">
            <a:noAutofit/>
          </a:bodyPr>
          <a:lstStyle/>
          <a:p>
            <a:pPr algn="l">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3. O que mais impede a compra de roupas online?</a:t>
            </a:r>
            <a:endParaRPr sz="1725" b="1">
              <a:solidFill>
                <a:srgbClr val="232323"/>
              </a:solidFill>
              <a:latin typeface="Arial" panose="020B0604020202020204"/>
              <a:ea typeface="Arial" panose="020B0604020202020204"/>
              <a:cs typeface="Arial" panose="020B0604020202020204"/>
            </a:endParaRPr>
          </a:p>
        </p:txBody>
      </p:sp>
      <p:graphicFrame>
        <p:nvGraphicFramePr>
          <p:cNvPr id="107" name="Chart"/>
          <p:cNvGraphicFramePr/>
          <p:nvPr/>
        </p:nvGraphicFramePr>
        <p:xfrm>
          <a:off x="428625" y="3800475"/>
          <a:ext cx="8229600" cy="1457325"/>
        </p:xfrm>
        <a:graphic>
          <a:graphicData uri="http://schemas.openxmlformats.org/drawingml/2006/chart">
            <c:chart xmlns:c="http://schemas.openxmlformats.org/drawingml/2006/chart" xmlns:r="http://schemas.openxmlformats.org/officeDocument/2006/relationships" r:id="rId3"/>
          </a:graphicData>
        </a:graphic>
      </p:graphicFrame>
      <p:sp>
        <p:nvSpPr>
          <p:cNvPr id="108" name="Fonte: pesquisa do grupo (2026). Valores em número de respos"/>
          <p:cNvSpPr>
            <a:spLocks noGrp="1"/>
          </p:cNvSpPr>
          <p:nvPr/>
        </p:nvSpPr>
        <p:spPr>
          <a:xfrm>
            <a:off x="428625" y="5372100"/>
            <a:ext cx="8382000" cy="209550"/>
          </a:xfrm>
          <a:prstGeom prst="rect">
            <a:avLst/>
          </a:prstGeom>
          <a:noFill/>
          <a:ln w="0">
            <a:noFill/>
          </a:ln>
        </p:spPr>
        <p:txBody>
          <a:bodyPr lIns="0" tIns="0" rIns="0" bIns="0" anchor="t">
            <a:noAutofit/>
          </a:bodyPr>
          <a:lstStyle/>
          <a:p>
            <a:pPr algn="l">
              <a:defRPr sz="1050" b="0">
                <a:solidFill>
                  <a:srgbClr val="5B5B5B"/>
                </a:solidFill>
                <a:latin typeface="Arial" panose="020B0604020202020204"/>
                <a:ea typeface="Arial" panose="020B0604020202020204"/>
                <a:cs typeface="Arial" panose="020B0604020202020204"/>
              </a:defRPr>
            </a:pPr>
            <a:r>
              <a:rPr sz="1050" b="0">
                <a:solidFill>
                  <a:srgbClr val="5B5B5B"/>
                </a:solidFill>
                <a:latin typeface="Arial" panose="020B0604020202020204"/>
                <a:ea typeface="Arial" panose="020B0604020202020204"/>
                <a:cs typeface="Arial" panose="020B0604020202020204"/>
              </a:rPr>
              <a:t>Fonte: pesquisa do grupo (2026). Valores em número de respostas. Outros: entrega e dinheiro.</a:t>
            </a:r>
            <a:endParaRPr sz="1050" b="0">
              <a:solidFill>
                <a:srgbClr val="5B5B5B"/>
              </a:solidFill>
              <a:latin typeface="Arial" panose="020B0604020202020204"/>
              <a:ea typeface="Arial" panose="020B0604020202020204"/>
              <a:cs typeface="Arial" panose="020B0604020202020204"/>
            </a:endParaRPr>
          </a:p>
        </p:txBody>
      </p:sp>
      <p:sp>
        <p:nvSpPr>
          <p:cNvPr id="109" name="Pesquisa exploratória. 22 respostas válidas por pergunta, ap"/>
          <p:cNvSpPr>
            <a:spLocks noGrp="1"/>
          </p:cNvSpPr>
          <p:nvPr/>
        </p:nvSpPr>
        <p:spPr>
          <a:xfrm>
            <a:off x="428625" y="5572125"/>
            <a:ext cx="8382000" cy="209550"/>
          </a:xfrm>
          <a:prstGeom prst="rect">
            <a:avLst/>
          </a:prstGeom>
          <a:noFill/>
          <a:ln w="0">
            <a:noFill/>
          </a:ln>
        </p:spPr>
        <p:txBody>
          <a:bodyPr lIns="0" tIns="0" rIns="0" bIns="0" anchor="t">
            <a:noAutofit/>
          </a:bodyPr>
          <a:lstStyle/>
          <a:p>
            <a:pPr algn="l">
              <a:defRPr sz="1050" b="0">
                <a:solidFill>
                  <a:srgbClr val="5B5B5B"/>
                </a:solidFill>
                <a:latin typeface="Arial" panose="020B0604020202020204"/>
                <a:ea typeface="Arial" panose="020B0604020202020204"/>
                <a:cs typeface="Arial" panose="020B0604020202020204"/>
              </a:defRPr>
            </a:pPr>
            <a:r>
              <a:rPr sz="1050" b="0">
                <a:solidFill>
                  <a:srgbClr val="5B5B5B"/>
                </a:solidFill>
                <a:latin typeface="Arial" panose="020B0604020202020204"/>
                <a:ea typeface="Arial" panose="020B0604020202020204"/>
                <a:cs typeface="Arial" panose="020B0604020202020204"/>
              </a:rPr>
              <a:t>Pesquisa exploratória. 22 respostas válidas por pergunta, após excluir 1 resposta incompatível.</a:t>
            </a:r>
            <a:endParaRPr sz="1050" b="0">
              <a:solidFill>
                <a:srgbClr val="5B5B5B"/>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DESCRIÇÃO DO PROJETO</a:t>
            </a:r>
            <a:endParaRPr sz="2400" b="1">
              <a:solidFill>
                <a:srgbClr val="232323"/>
              </a:solidFill>
              <a:latin typeface="Arial" panose="020B0604020202020204"/>
              <a:ea typeface="Arial" panose="020B0604020202020204"/>
              <a:cs typeface="Arial" panose="020B0604020202020204"/>
            </a:endParaRPr>
          </a:p>
        </p:txBody>
      </p:sp>
      <p:sp>
        <p:nvSpPr>
          <p:cNvPr id="201" name="Descrição texto"/>
          <p:cNvSpPr>
            <a:spLocks noGrp="1"/>
          </p:cNvSpPr>
          <p:nvPr/>
        </p:nvSpPr>
        <p:spPr>
          <a:xfrm>
            <a:off x="619125" y="1571625"/>
            <a:ext cx="7905750" cy="3943350"/>
          </a:xfrm>
          <a:prstGeom prst="rect">
            <a:avLst/>
          </a:prstGeom>
          <a:noFill/>
          <a:ln w="0">
            <a:noFill/>
          </a:ln>
        </p:spPr>
        <p:txBody>
          <a:bodyPr lIns="0" tIns="0" rIns="0" bIns="0" anchor="t">
            <a:noAutofit/>
          </a:bodyPr>
          <a:lstStyle>
            <a:defPPr algn="l">
              <a:defRPr sz="2025" b="0">
                <a:solidFill>
                  <a:srgbClr val="232323"/>
                </a:solidFill>
                <a:latin typeface="Arial" panose="020B0604020202020204"/>
                <a:ea typeface="Arial" panose="020B0604020202020204"/>
                <a:cs typeface="Arial" panose="020B0604020202020204"/>
              </a:defRPr>
            </a:defPPr>
          </a:lstStyle>
          <a:p>
            <a:pPr algn="l">
              <a:lnSpc>
                <a:spcPct val="112000"/>
              </a:lnSpc>
              <a:buNone/>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A Vitrine Web oferece a cada lojista uma página para apresentar sua loja e um catálogo com fotos, preços e disponibilidade dos produtos</a:t>
            </a:r>
            <a:r>
              <a:rPr lang="pt-BR" sz="2025" b="0">
                <a:solidFill>
                  <a:srgbClr val="232323"/>
                </a:solidFill>
                <a:latin typeface="Arial" panose="020B0604020202020204"/>
                <a:ea typeface="Arial" panose="020B0604020202020204"/>
                <a:cs typeface="Arial" panose="020B0604020202020204"/>
              </a:rPr>
              <a:t>, sem disputa de preços com outras lojas</a:t>
            </a:r>
            <a:r>
              <a:rPr sz="2025" b="0">
                <a:solidFill>
                  <a:srgbClr val="232323"/>
                </a:solidFill>
                <a:latin typeface="Arial" panose="020B0604020202020204"/>
                <a:ea typeface="Arial" panose="020B0604020202020204"/>
                <a:cs typeface="Arial" panose="020B0604020202020204"/>
              </a:rPr>
              <a:t>. O cliente encontra estabelecimentos por segmento, consulta os detalhes das peças e reúne os itens em um carrinho por loja. Ao solicitar o pedido, o site prepara uma mensagem para envio pelo WhatsApp, onde as partes combinam pagamento e entrega. No painel, o lojista consulta os pedidos solicitados e gerencia produtos, estoque e dados da loja. Assim, a plataforma conecta a consulta on-line à operação do varejo local e mantém o contato direto entre cliente e vendedor.</a:t>
            </a:r>
            <a:endParaRPr sz="2025" b="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DIAGRAMA DE CASOS DE USO</a:t>
            </a:r>
            <a:endParaRPr sz="2400" b="1">
              <a:solidFill>
                <a:srgbClr val="232323"/>
              </a:solidFill>
              <a:latin typeface="Arial" panose="020B0604020202020204"/>
              <a:ea typeface="Arial" panose="020B0604020202020204"/>
              <a:cs typeface="Arial" panose="020B0604020202020204"/>
            </a:endParaRPr>
          </a:p>
        </p:txBody>
      </p:sp>
      <p:pic>
        <p:nvPicPr>
          <p:cNvPr id="102" name="Imagem 101"/>
          <p:cNvPicPr>
            <a:picLocks noChangeAspect="1"/>
          </p:cNvPicPr>
          <p:nvPr/>
        </p:nvPicPr>
        <p:blipFill>
          <a:blip r:embed="rId1"/>
          <a:stretch>
            <a:fillRect/>
          </a:stretch>
        </p:blipFill>
        <p:spPr>
          <a:xfrm>
            <a:off x="468627" y="1219200"/>
            <a:ext cx="4358647" cy="4524375"/>
          </a:xfrm>
          <a:prstGeom prst="rect">
            <a:avLst/>
          </a:prstGeom>
        </p:spPr>
      </p:pic>
      <p:sp>
        <p:nvSpPr>
          <p:cNvPr id="103" name="Cliente"/>
          <p:cNvSpPr>
            <a:spLocks noGrp="1"/>
          </p:cNvSpPr>
          <p:nvPr/>
        </p:nvSpPr>
        <p:spPr>
          <a:xfrm>
            <a:off x="5238750" y="1476375"/>
            <a:ext cx="3381375" cy="285750"/>
          </a:xfrm>
          <a:prstGeom prst="rect">
            <a:avLst/>
          </a:prstGeom>
          <a:noFill/>
          <a:ln w="0">
            <a:noFill/>
          </a:ln>
        </p:spPr>
        <p:txBody>
          <a:bodyPr lIns="0" tIns="0" rIns="0" bIns="0" anchor="t">
            <a:noAutofit/>
          </a:bodyPr>
          <a:lstStyle/>
          <a:p>
            <a:pPr algn="l">
              <a:defRPr sz="1800" b="1">
                <a:solidFill>
                  <a:srgbClr val="BD0000"/>
                </a:solidFill>
                <a:latin typeface="Arial" panose="020B0604020202020204"/>
                <a:ea typeface="Arial" panose="020B0604020202020204"/>
                <a:cs typeface="Arial" panose="020B0604020202020204"/>
              </a:defRPr>
            </a:pPr>
            <a:r>
              <a:rPr sz="1800" b="1">
                <a:solidFill>
                  <a:srgbClr val="BD0000"/>
                </a:solidFill>
                <a:latin typeface="Arial" panose="020B0604020202020204"/>
                <a:ea typeface="Arial" panose="020B0604020202020204"/>
                <a:cs typeface="Arial" panose="020B0604020202020204"/>
              </a:rPr>
              <a:t>Cliente</a:t>
            </a:r>
            <a:endParaRPr sz="1800" b="1">
              <a:solidFill>
                <a:srgbClr val="BD0000"/>
              </a:solidFill>
              <a:latin typeface="Arial" panose="020B0604020202020204"/>
              <a:ea typeface="Arial" panose="020B0604020202020204"/>
              <a:cs typeface="Arial" panose="020B0604020202020204"/>
            </a:endParaRPr>
          </a:p>
        </p:txBody>
      </p:sp>
      <p:sp>
        <p:nvSpPr>
          <p:cNvPr id="104" name="Consulta os produtos e envia&#10;sua seleção pelo WhatsApp."/>
          <p:cNvSpPr>
            <a:spLocks noGrp="1"/>
          </p:cNvSpPr>
          <p:nvPr/>
        </p:nvSpPr>
        <p:spPr>
          <a:xfrm>
            <a:off x="5238750" y="1809750"/>
            <a:ext cx="3381375" cy="5524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Consulta os produtos e envia</a:t>
            </a:r>
            <a:endParaRPr sz="1575" b="0">
              <a:solidFill>
                <a:srgbClr val="232323"/>
              </a:solidFill>
              <a:latin typeface="Arial" panose="020B0604020202020204"/>
              <a:ea typeface="Arial" panose="020B0604020202020204"/>
              <a:cs typeface="Arial" panose="020B0604020202020204"/>
            </a:endParaRPr>
          </a:p>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sua seleção pelo WhatsApp.</a:t>
            </a:r>
            <a:endParaRPr sz="1575" b="0">
              <a:solidFill>
                <a:srgbClr val="232323"/>
              </a:solidFill>
              <a:latin typeface="Arial" panose="020B0604020202020204"/>
              <a:ea typeface="Arial" panose="020B0604020202020204"/>
              <a:cs typeface="Arial" panose="020B0604020202020204"/>
            </a:endParaRPr>
          </a:p>
        </p:txBody>
      </p:sp>
      <p:sp>
        <p:nvSpPr>
          <p:cNvPr id="105" name="Funcionário"/>
          <p:cNvSpPr>
            <a:spLocks noGrp="1"/>
          </p:cNvSpPr>
          <p:nvPr/>
        </p:nvSpPr>
        <p:spPr>
          <a:xfrm>
            <a:off x="5238750" y="2457450"/>
            <a:ext cx="3381375" cy="285750"/>
          </a:xfrm>
          <a:prstGeom prst="rect">
            <a:avLst/>
          </a:prstGeom>
          <a:noFill/>
          <a:ln w="0">
            <a:noFill/>
          </a:ln>
        </p:spPr>
        <p:txBody>
          <a:bodyPr lIns="0" tIns="0" rIns="0" bIns="0" anchor="t">
            <a:noAutofit/>
          </a:bodyPr>
          <a:lstStyle/>
          <a:p>
            <a:pPr algn="l">
              <a:defRPr sz="1800" b="1">
                <a:solidFill>
                  <a:srgbClr val="BD0000"/>
                </a:solidFill>
                <a:latin typeface="Arial" panose="020B0604020202020204"/>
                <a:ea typeface="Arial" panose="020B0604020202020204"/>
                <a:cs typeface="Arial" panose="020B0604020202020204"/>
              </a:defRPr>
            </a:pPr>
            <a:r>
              <a:rPr sz="1800" b="1">
                <a:solidFill>
                  <a:srgbClr val="BD0000"/>
                </a:solidFill>
                <a:latin typeface="Arial" panose="020B0604020202020204"/>
                <a:ea typeface="Arial" panose="020B0604020202020204"/>
                <a:cs typeface="Arial" panose="020B0604020202020204"/>
              </a:rPr>
              <a:t>Funcionário</a:t>
            </a:r>
            <a:endParaRPr sz="1800" b="1">
              <a:solidFill>
                <a:srgbClr val="BD0000"/>
              </a:solidFill>
              <a:latin typeface="Arial" panose="020B0604020202020204"/>
              <a:ea typeface="Arial" panose="020B0604020202020204"/>
              <a:cs typeface="Arial" panose="020B0604020202020204"/>
            </a:endParaRPr>
          </a:p>
        </p:txBody>
      </p:sp>
      <p:sp>
        <p:nvSpPr>
          <p:cNvPr id="106" name="Cadastra e atualiza produtos."/>
          <p:cNvSpPr>
            <a:spLocks noGrp="1"/>
          </p:cNvSpPr>
          <p:nvPr/>
        </p:nvSpPr>
        <p:spPr>
          <a:xfrm>
            <a:off x="5238750" y="2790825"/>
            <a:ext cx="3381375" cy="5524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Cadastra e atualiza produtos.</a:t>
            </a:r>
            <a:endParaRPr sz="1575" b="0">
              <a:solidFill>
                <a:srgbClr val="232323"/>
              </a:solidFill>
              <a:latin typeface="Arial" panose="020B0604020202020204"/>
              <a:ea typeface="Arial" panose="020B0604020202020204"/>
              <a:cs typeface="Arial" panose="020B0604020202020204"/>
            </a:endParaRPr>
          </a:p>
        </p:txBody>
      </p:sp>
      <p:sp>
        <p:nvSpPr>
          <p:cNvPr id="107" name="Proprietário"/>
          <p:cNvSpPr>
            <a:spLocks noGrp="1"/>
          </p:cNvSpPr>
          <p:nvPr/>
        </p:nvSpPr>
        <p:spPr>
          <a:xfrm>
            <a:off x="5238750" y="3438525"/>
            <a:ext cx="3381375" cy="285750"/>
          </a:xfrm>
          <a:prstGeom prst="rect">
            <a:avLst/>
          </a:prstGeom>
          <a:noFill/>
          <a:ln w="0">
            <a:noFill/>
          </a:ln>
        </p:spPr>
        <p:txBody>
          <a:bodyPr lIns="0" tIns="0" rIns="0" bIns="0" anchor="t">
            <a:noAutofit/>
          </a:bodyPr>
          <a:lstStyle/>
          <a:p>
            <a:pPr algn="l">
              <a:defRPr sz="1800" b="1">
                <a:solidFill>
                  <a:srgbClr val="BD0000"/>
                </a:solidFill>
                <a:latin typeface="Arial" panose="020B0604020202020204"/>
                <a:ea typeface="Arial" panose="020B0604020202020204"/>
                <a:cs typeface="Arial" panose="020B0604020202020204"/>
              </a:defRPr>
            </a:pPr>
            <a:r>
              <a:rPr sz="1800" b="1">
                <a:solidFill>
                  <a:srgbClr val="BD0000"/>
                </a:solidFill>
                <a:latin typeface="Arial" panose="020B0604020202020204"/>
                <a:ea typeface="Arial" panose="020B0604020202020204"/>
                <a:cs typeface="Arial" panose="020B0604020202020204"/>
              </a:rPr>
              <a:t>Proprietário</a:t>
            </a:r>
            <a:endParaRPr sz="1800" b="1">
              <a:solidFill>
                <a:srgbClr val="BD0000"/>
              </a:solidFill>
              <a:latin typeface="Arial" panose="020B0604020202020204"/>
              <a:ea typeface="Arial" panose="020B0604020202020204"/>
              <a:cs typeface="Arial" panose="020B0604020202020204"/>
            </a:endParaRPr>
          </a:p>
        </p:txBody>
      </p:sp>
      <p:sp>
        <p:nvSpPr>
          <p:cNvPr id="108" name="Cuida da loja e da equipe."/>
          <p:cNvSpPr>
            <a:spLocks noGrp="1"/>
          </p:cNvSpPr>
          <p:nvPr/>
        </p:nvSpPr>
        <p:spPr>
          <a:xfrm>
            <a:off x="5238750" y="3771900"/>
            <a:ext cx="3381375" cy="5524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Cuida da loja e da equipe.</a:t>
            </a:r>
            <a:endParaRPr sz="1575" b="0">
              <a:solidFill>
                <a:srgbClr val="232323"/>
              </a:solidFill>
              <a:latin typeface="Arial" panose="020B0604020202020204"/>
              <a:ea typeface="Arial" panose="020B0604020202020204"/>
              <a:cs typeface="Arial" panose="020B0604020202020204"/>
            </a:endParaRPr>
          </a:p>
        </p:txBody>
      </p:sp>
      <p:sp>
        <p:nvSpPr>
          <p:cNvPr id="109" name="Administrador"/>
          <p:cNvSpPr>
            <a:spLocks noGrp="1"/>
          </p:cNvSpPr>
          <p:nvPr/>
        </p:nvSpPr>
        <p:spPr>
          <a:xfrm>
            <a:off x="5238750" y="4419600"/>
            <a:ext cx="3381375" cy="285750"/>
          </a:xfrm>
          <a:prstGeom prst="rect">
            <a:avLst/>
          </a:prstGeom>
          <a:noFill/>
          <a:ln w="0">
            <a:noFill/>
          </a:ln>
        </p:spPr>
        <p:txBody>
          <a:bodyPr lIns="0" tIns="0" rIns="0" bIns="0" anchor="t">
            <a:noAutofit/>
          </a:bodyPr>
          <a:lstStyle/>
          <a:p>
            <a:pPr algn="l">
              <a:defRPr sz="1800" b="1">
                <a:solidFill>
                  <a:srgbClr val="BD0000"/>
                </a:solidFill>
                <a:latin typeface="Arial" panose="020B0604020202020204"/>
                <a:ea typeface="Arial" panose="020B0604020202020204"/>
                <a:cs typeface="Arial" panose="020B0604020202020204"/>
              </a:defRPr>
            </a:pPr>
            <a:r>
              <a:rPr sz="1800" b="1">
                <a:solidFill>
                  <a:srgbClr val="BD0000"/>
                </a:solidFill>
                <a:latin typeface="Arial" panose="020B0604020202020204"/>
                <a:ea typeface="Arial" panose="020B0604020202020204"/>
                <a:cs typeface="Arial" panose="020B0604020202020204"/>
              </a:rPr>
              <a:t>Administrador</a:t>
            </a:r>
            <a:endParaRPr sz="1800" b="1">
              <a:solidFill>
                <a:srgbClr val="BD0000"/>
              </a:solidFill>
              <a:latin typeface="Arial" panose="020B0604020202020204"/>
              <a:ea typeface="Arial" panose="020B0604020202020204"/>
              <a:cs typeface="Arial" panose="020B0604020202020204"/>
            </a:endParaRPr>
          </a:p>
        </p:txBody>
      </p:sp>
      <p:sp>
        <p:nvSpPr>
          <p:cNvPr id="110" name="Gerencia as lojas e os acessos&#10;à plataforma."/>
          <p:cNvSpPr>
            <a:spLocks noGrp="1"/>
          </p:cNvSpPr>
          <p:nvPr/>
        </p:nvSpPr>
        <p:spPr>
          <a:xfrm>
            <a:off x="5238750" y="4752975"/>
            <a:ext cx="3381375" cy="5524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Gerencia as lojas e os acessos</a:t>
            </a:r>
            <a:endParaRPr sz="1575" b="0">
              <a:solidFill>
                <a:srgbClr val="232323"/>
              </a:solidFill>
              <a:latin typeface="Arial" panose="020B0604020202020204"/>
              <a:ea typeface="Arial" panose="020B0604020202020204"/>
              <a:cs typeface="Arial" panose="020B0604020202020204"/>
            </a:endParaRPr>
          </a:p>
          <a:p>
            <a:pPr algn="l">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à plataforma.</a:t>
            </a:r>
            <a:endParaRPr sz="1575" b="0">
              <a:solidFill>
                <a:srgbClr val="232323"/>
              </a:solidFill>
              <a:latin typeface="Arial" panose="020B0604020202020204"/>
              <a:ea typeface="Arial" panose="020B0604020202020204"/>
              <a:cs typeface="Arial" panose="020B0604020202020204"/>
            </a:endParaRPr>
          </a:p>
        </p:txBody>
      </p:sp>
      <p:sp>
        <p:nvSpPr>
          <p:cNvPr id="111" name="Fonte: elaboração do grupo."/>
          <p:cNvSpPr>
            <a:spLocks noGrp="1"/>
          </p:cNvSpPr>
          <p:nvPr/>
        </p:nvSpPr>
        <p:spPr>
          <a:xfrm>
            <a:off x="5238750" y="5581650"/>
            <a:ext cx="3429000" cy="200025"/>
          </a:xfrm>
          <a:prstGeom prst="rect">
            <a:avLst/>
          </a:prstGeom>
          <a:noFill/>
          <a:ln w="0">
            <a:noFill/>
          </a:ln>
        </p:spPr>
        <p:txBody>
          <a:bodyPr lIns="0" tIns="0" rIns="0" bIns="0" anchor="t">
            <a:noAutofit/>
          </a:bodyPr>
          <a:lstStyle/>
          <a:p>
            <a:pPr algn="l">
              <a:defRPr sz="1050" b="0">
                <a:solidFill>
                  <a:srgbClr val="5B5B5B"/>
                </a:solidFill>
                <a:latin typeface="Arial" panose="020B0604020202020204"/>
                <a:ea typeface="Arial" panose="020B0604020202020204"/>
                <a:cs typeface="Arial" panose="020B0604020202020204"/>
              </a:defRPr>
            </a:pPr>
            <a:r>
              <a:rPr sz="1050" b="0">
                <a:solidFill>
                  <a:srgbClr val="5B5B5B"/>
                </a:solidFill>
                <a:latin typeface="Arial" panose="020B0604020202020204"/>
                <a:ea typeface="Arial" panose="020B0604020202020204"/>
                <a:cs typeface="Arial" panose="020B0604020202020204"/>
              </a:rPr>
              <a:t>Fonte: elaboração do grupo.</a:t>
            </a:r>
            <a:endParaRPr sz="1050" b="0">
              <a:solidFill>
                <a:srgbClr val="5B5B5B"/>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250" b="1">
                <a:solidFill>
                  <a:srgbClr val="232323"/>
                </a:solidFill>
                <a:latin typeface="Arial" panose="020B0604020202020204"/>
                <a:ea typeface="Arial" panose="020B0604020202020204"/>
                <a:cs typeface="Arial" panose="020B0604020202020204"/>
              </a:defRPr>
            </a:pPr>
            <a:r>
              <a:rPr sz="2250" b="1">
                <a:solidFill>
                  <a:srgbClr val="232323"/>
                </a:solidFill>
                <a:latin typeface="Arial" panose="020B0604020202020204"/>
                <a:ea typeface="Arial" panose="020B0604020202020204"/>
                <a:cs typeface="Arial" panose="020B0604020202020204"/>
              </a:rPr>
              <a:t>DIAGRAMA ENTIDADE–RELACIONAMENTO</a:t>
            </a:r>
            <a:endParaRPr sz="2250" b="1">
              <a:solidFill>
                <a:srgbClr val="232323"/>
              </a:solidFill>
              <a:latin typeface="Arial" panose="020B0604020202020204"/>
              <a:ea typeface="Arial" panose="020B0604020202020204"/>
              <a:cs typeface="Arial" panose="020B0604020202020204"/>
            </a:endParaRPr>
          </a:p>
        </p:txBody>
      </p:sp>
      <p:pic>
        <p:nvPicPr>
          <p:cNvPr id="102" name="Imagem 101"/>
          <p:cNvPicPr>
            <a:picLocks noChangeAspect="1"/>
          </p:cNvPicPr>
          <p:nvPr/>
        </p:nvPicPr>
        <p:blipFill>
          <a:blip r:embed="rId1"/>
          <a:stretch>
            <a:fillRect/>
          </a:stretch>
        </p:blipFill>
        <p:spPr>
          <a:xfrm>
            <a:off x="285750" y="1619250"/>
            <a:ext cx="5334000" cy="3812153"/>
          </a:xfrm>
          <a:prstGeom prst="rect">
            <a:avLst/>
          </a:prstGeom>
        </p:spPr>
      </p:pic>
      <p:sp>
        <p:nvSpPr>
          <p:cNvPr id="103" name="Fonte: elaboração do grupo. Ferramenta de modelagem: SQL Des"/>
          <p:cNvSpPr>
            <a:spLocks noGrp="1"/>
          </p:cNvSpPr>
          <p:nvPr/>
        </p:nvSpPr>
        <p:spPr>
          <a:xfrm>
            <a:off x="285750" y="5553075"/>
            <a:ext cx="5391150" cy="190500"/>
          </a:xfrm>
          <a:prstGeom prst="rect">
            <a:avLst/>
          </a:prstGeom>
          <a:noFill/>
          <a:ln w="0">
            <a:noFill/>
          </a:ln>
        </p:spPr>
        <p:txBody>
          <a:bodyPr lIns="0" tIns="0" rIns="0" bIns="0" anchor="t">
            <a:noAutofit/>
          </a:bodyPr>
          <a:lstStyle/>
          <a:p>
            <a:pPr algn="l">
              <a:defRPr sz="900" b="0">
                <a:solidFill>
                  <a:srgbClr val="5B5B5B"/>
                </a:solidFill>
                <a:latin typeface="Arial" panose="020B0604020202020204"/>
                <a:ea typeface="Arial" panose="020B0604020202020204"/>
                <a:cs typeface="Arial" panose="020B0604020202020204"/>
              </a:defRPr>
            </a:pPr>
            <a:r>
              <a:rPr sz="900" b="0">
                <a:solidFill>
                  <a:srgbClr val="5B5B5B"/>
                </a:solidFill>
                <a:latin typeface="Arial" panose="020B0604020202020204"/>
                <a:ea typeface="Arial" panose="020B0604020202020204"/>
                <a:cs typeface="Arial" panose="020B0604020202020204"/>
              </a:rPr>
              <a:t>Fonte: elaboração do grupo. Ferramenta de modelagem: SQL Designer.</a:t>
            </a:r>
            <a:endParaRPr sz="900" b="0">
              <a:solidFill>
                <a:srgbClr val="5B5B5B"/>
              </a:solidFill>
              <a:latin typeface="Arial" panose="020B0604020202020204"/>
              <a:ea typeface="Arial" panose="020B0604020202020204"/>
              <a:cs typeface="Arial" panose="020B0604020202020204"/>
            </a:endParaRPr>
          </a:p>
        </p:txBody>
      </p:sp>
      <p:sp>
        <p:nvSpPr>
          <p:cNvPr id="203" name="Relações SQL título"/>
          <p:cNvSpPr>
            <a:spLocks noGrp="1"/>
          </p:cNvSpPr>
          <p:nvPr/>
        </p:nvSpPr>
        <p:spPr>
          <a:xfrm>
            <a:off x="5953125" y="1524000"/>
            <a:ext cx="2857500" cy="514350"/>
          </a:xfrm>
          <a:prstGeom prst="rect">
            <a:avLst/>
          </a:prstGeom>
          <a:noFill/>
          <a:ln w="0">
            <a:noFill/>
          </a:ln>
        </p:spPr>
        <p:txBody>
          <a:bodyPr lIns="0" tIns="0" rIns="0" bIns="0" anchor="t">
            <a:noAutofit/>
          </a:bodyPr>
          <a:lstStyle>
            <a:defPPr algn="l">
              <a:defRPr sz="1800" b="1">
                <a:solidFill>
                  <a:srgbClr val="BD0000"/>
                </a:solidFill>
                <a:latin typeface="Arial" panose="020B0604020202020204"/>
                <a:ea typeface="Arial" panose="020B0604020202020204"/>
                <a:cs typeface="Arial" panose="020B0604020202020204"/>
              </a:defRPr>
            </a:defPPr>
          </a:lstStyle>
          <a:p>
            <a:pPr algn="l">
              <a:lnSpc>
                <a:spcPct val="112000"/>
              </a:lnSpc>
              <a:buNone/>
              <a:defRPr sz="1800" b="1">
                <a:solidFill>
                  <a:srgbClr val="BD0000"/>
                </a:solidFill>
                <a:latin typeface="Arial" panose="020B0604020202020204"/>
                <a:ea typeface="Arial" panose="020B0604020202020204"/>
                <a:cs typeface="Arial" panose="020B0604020202020204"/>
              </a:defRPr>
            </a:pPr>
            <a:r>
              <a:rPr sz="1800" b="1">
                <a:solidFill>
                  <a:srgbClr val="BD0000"/>
                </a:solidFill>
                <a:latin typeface="Arial" panose="020B0604020202020204"/>
                <a:ea typeface="Arial" panose="020B0604020202020204"/>
                <a:cs typeface="Arial" panose="020B0604020202020204"/>
              </a:rPr>
              <a:t>Relações entre tabelas</a:t>
            </a:r>
            <a:endParaRPr sz="1800" b="1">
              <a:solidFill>
                <a:srgbClr val="BD0000"/>
              </a:solidFill>
              <a:latin typeface="Arial" panose="020B0604020202020204"/>
              <a:ea typeface="Arial" panose="020B0604020202020204"/>
              <a:cs typeface="Arial" panose="020B0604020202020204"/>
            </a:endParaRPr>
          </a:p>
        </p:txBody>
      </p:sp>
      <p:sp>
        <p:nvSpPr>
          <p:cNvPr id="204" name="Relações SQL texto"/>
          <p:cNvSpPr>
            <a:spLocks noGrp="1"/>
          </p:cNvSpPr>
          <p:nvPr/>
        </p:nvSpPr>
        <p:spPr>
          <a:xfrm>
            <a:off x="5953125" y="2057400"/>
            <a:ext cx="2809875" cy="1581150"/>
          </a:xfrm>
          <a:prstGeom prst="rect">
            <a:avLst/>
          </a:prstGeom>
          <a:noFill/>
          <a:ln w="0">
            <a:noFill/>
          </a:ln>
        </p:spPr>
        <p:txBody>
          <a:bodyPr lIns="0" tIns="0" rIns="0" bIns="0" anchor="t">
            <a:noAutofit/>
          </a:bodyPr>
          <a:lstStyle>
            <a:defPPr algn="l">
              <a:defRPr sz="1650" b="0">
                <a:solidFill>
                  <a:srgbClr val="232323"/>
                </a:solidFill>
                <a:latin typeface="Arial" panose="020B0604020202020204"/>
                <a:ea typeface="Arial" panose="020B0604020202020204"/>
                <a:cs typeface="Arial" panose="020B0604020202020204"/>
              </a:defRPr>
            </a:defPPr>
          </a:lstStyle>
          <a:p>
            <a:pPr algn="l">
              <a:lnSpc>
                <a:spcPct val="112000"/>
              </a:lnSpc>
              <a:buNone/>
              <a:defRPr sz="1650" b="0">
                <a:solidFill>
                  <a:srgbClr val="232323"/>
                </a:solidFill>
                <a:latin typeface="Arial" panose="020B0604020202020204"/>
                <a:ea typeface="Arial" panose="020B0604020202020204"/>
                <a:cs typeface="Arial" panose="020B0604020202020204"/>
              </a:defRPr>
            </a:pPr>
            <a:r>
              <a:rPr sz="1650" b="0">
                <a:solidFill>
                  <a:srgbClr val="232323"/>
                </a:solidFill>
                <a:latin typeface="Arial" panose="020B0604020202020204"/>
                <a:ea typeface="Arial" panose="020B0604020202020204"/>
                <a:cs typeface="Arial" panose="020B0604020202020204"/>
              </a:rPr>
              <a:t>Chaves primárias e estrangeiras conectam lojas, produtos e carrinhos, preservando os vínculos entre os registros.</a:t>
            </a:r>
            <a:endParaRPr sz="1650" b="0">
              <a:solidFill>
                <a:srgbClr val="232323"/>
              </a:solidFill>
              <a:latin typeface="Arial" panose="020B0604020202020204"/>
              <a:ea typeface="Arial" panose="020B0604020202020204"/>
              <a:cs typeface="Arial" panose="020B0604020202020204"/>
            </a:endParaRPr>
          </a:p>
        </p:txBody>
      </p:sp>
      <p:sp>
        <p:nvSpPr>
          <p:cNvPr id="205" name="Crescimento título"/>
          <p:cNvSpPr>
            <a:spLocks noGrp="1"/>
          </p:cNvSpPr>
          <p:nvPr/>
        </p:nvSpPr>
        <p:spPr>
          <a:xfrm>
            <a:off x="5953125" y="3724275"/>
            <a:ext cx="2857500" cy="361950"/>
          </a:xfrm>
          <a:prstGeom prst="rect">
            <a:avLst/>
          </a:prstGeom>
          <a:noFill/>
          <a:ln w="0">
            <a:noFill/>
          </a:ln>
        </p:spPr>
        <p:txBody>
          <a:bodyPr lIns="0" tIns="0" rIns="0" bIns="0" anchor="t">
            <a:noAutofit/>
          </a:bodyPr>
          <a:lstStyle>
            <a:defPPr algn="l">
              <a:defRPr sz="1800" b="1">
                <a:solidFill>
                  <a:srgbClr val="BD0000"/>
                </a:solidFill>
                <a:latin typeface="Arial" panose="020B0604020202020204"/>
                <a:ea typeface="Arial" panose="020B0604020202020204"/>
                <a:cs typeface="Arial" panose="020B0604020202020204"/>
              </a:defRPr>
            </a:defPPr>
          </a:lstStyle>
          <a:p>
            <a:pPr algn="l">
              <a:lnSpc>
                <a:spcPct val="112000"/>
              </a:lnSpc>
              <a:buNone/>
              <a:defRPr sz="1800" b="1">
                <a:solidFill>
                  <a:srgbClr val="BD0000"/>
                </a:solidFill>
                <a:latin typeface="Arial" panose="020B0604020202020204"/>
                <a:ea typeface="Arial" panose="020B0604020202020204"/>
                <a:cs typeface="Arial" panose="020B0604020202020204"/>
              </a:defRPr>
            </a:pPr>
            <a:r>
              <a:rPr sz="1800" b="1">
                <a:solidFill>
                  <a:srgbClr val="BD0000"/>
                </a:solidFill>
                <a:latin typeface="Arial" panose="020B0604020202020204"/>
                <a:ea typeface="Arial" panose="020B0604020202020204"/>
                <a:cs typeface="Arial" panose="020B0604020202020204"/>
              </a:rPr>
              <a:t>Base para crescer</a:t>
            </a:r>
            <a:endParaRPr sz="1800" b="1">
              <a:solidFill>
                <a:srgbClr val="BD0000"/>
              </a:solidFill>
              <a:latin typeface="Arial" panose="020B0604020202020204"/>
              <a:ea typeface="Arial" panose="020B0604020202020204"/>
              <a:cs typeface="Arial" panose="020B0604020202020204"/>
            </a:endParaRPr>
          </a:p>
        </p:txBody>
      </p:sp>
      <p:sp>
        <p:nvSpPr>
          <p:cNvPr id="206" name="Crescimento texto"/>
          <p:cNvSpPr>
            <a:spLocks noGrp="1"/>
          </p:cNvSpPr>
          <p:nvPr/>
        </p:nvSpPr>
        <p:spPr>
          <a:xfrm>
            <a:off x="5953125" y="4171950"/>
            <a:ext cx="2809875" cy="1428750"/>
          </a:xfrm>
          <a:prstGeom prst="rect">
            <a:avLst/>
          </a:prstGeom>
          <a:noFill/>
          <a:ln w="0">
            <a:noFill/>
          </a:ln>
        </p:spPr>
        <p:txBody>
          <a:bodyPr lIns="0" tIns="0" rIns="0" bIns="0" anchor="t">
            <a:noAutofit/>
          </a:bodyPr>
          <a:lstStyle>
            <a:defPPr algn="l">
              <a:defRPr sz="1650" b="0">
                <a:solidFill>
                  <a:srgbClr val="232323"/>
                </a:solidFill>
                <a:latin typeface="Arial" panose="020B0604020202020204"/>
                <a:ea typeface="Arial" panose="020B0604020202020204"/>
                <a:cs typeface="Arial" panose="020B0604020202020204"/>
              </a:defRPr>
            </a:defPPr>
          </a:lstStyle>
          <a:p>
            <a:pPr algn="l">
              <a:lnSpc>
                <a:spcPct val="112000"/>
              </a:lnSpc>
              <a:buNone/>
              <a:defRPr sz="1650" b="0">
                <a:solidFill>
                  <a:srgbClr val="232323"/>
                </a:solidFill>
                <a:latin typeface="Arial" panose="020B0604020202020204"/>
                <a:ea typeface="Arial" panose="020B0604020202020204"/>
                <a:cs typeface="Arial" panose="020B0604020202020204"/>
              </a:defRPr>
            </a:pPr>
            <a:r>
              <a:rPr sz="1650" b="0">
                <a:solidFill>
                  <a:srgbClr val="232323"/>
                </a:solidFill>
                <a:latin typeface="Arial" panose="020B0604020202020204"/>
                <a:ea typeface="Arial" panose="020B0604020202020204"/>
                <a:cs typeface="Arial" panose="020B0604020202020204"/>
              </a:rPr>
              <a:t>A estrutura reduz duplicações e facilita a inclusão de novas lojas e produtos, mantendo a consistência dos dados.</a:t>
            </a:r>
            <a:endParaRPr sz="1650" b="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ERRAMENTAS UTILIZADAS"/>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lang="pt-BR" sz="2400" b="1">
                <a:solidFill>
                  <a:srgbClr val="232323"/>
                </a:solidFill>
                <a:latin typeface="Arial" panose="020B0604020202020204"/>
                <a:ea typeface="Arial" panose="020B0604020202020204"/>
                <a:cs typeface="Arial" panose="020B0604020202020204"/>
              </a:rPr>
              <a:t>SOFTWARE</a:t>
            </a:r>
            <a:r>
              <a:rPr sz="2400" b="1">
                <a:solidFill>
                  <a:srgbClr val="232323"/>
                </a:solidFill>
                <a:latin typeface="Arial" panose="020B0604020202020204"/>
                <a:ea typeface="Arial" panose="020B0604020202020204"/>
                <a:cs typeface="Arial" panose="020B0604020202020204"/>
              </a:rPr>
              <a:t> UTILIZAD</a:t>
            </a:r>
            <a:r>
              <a:rPr lang="pt-BR" sz="2400" b="1">
                <a:solidFill>
                  <a:srgbClr val="232323"/>
                </a:solidFill>
                <a:latin typeface="Arial" panose="020B0604020202020204"/>
                <a:ea typeface="Arial" panose="020B0604020202020204"/>
                <a:cs typeface="Arial" panose="020B0604020202020204"/>
              </a:rPr>
              <a:t>O</a:t>
            </a:r>
            <a:r>
              <a:rPr sz="2400" b="1">
                <a:solidFill>
                  <a:srgbClr val="232323"/>
                </a:solidFill>
                <a:latin typeface="Arial" panose="020B0604020202020204"/>
                <a:ea typeface="Arial" panose="020B0604020202020204"/>
                <a:cs typeface="Arial" panose="020B0604020202020204"/>
              </a:rPr>
              <a:t>S</a:t>
            </a:r>
            <a:endParaRPr sz="2400" b="1">
              <a:solidFill>
                <a:srgbClr val="232323"/>
              </a:solidFill>
              <a:latin typeface="Arial" panose="020B0604020202020204"/>
              <a:ea typeface="Arial" panose="020B0604020202020204"/>
              <a:cs typeface="Arial" panose="020B0604020202020204"/>
            </a:endParaRPr>
          </a:p>
        </p:txBody>
      </p:sp>
      <p:sp>
        <p:nvSpPr>
          <p:cNvPr id="108" name="Backend"/>
          <p:cNvSpPr>
            <a:spLocks noGrp="1"/>
          </p:cNvSpPr>
          <p:nvPr/>
        </p:nvSpPr>
        <p:spPr>
          <a:xfrm>
            <a:off x="428625" y="1333500"/>
            <a:ext cx="2628900" cy="314325"/>
          </a:xfrm>
          <a:prstGeom prst="rect">
            <a:avLst/>
          </a:prstGeom>
          <a:noFill/>
          <a:ln w="0">
            <a:noFill/>
          </a:ln>
        </p:spPr>
        <p:txBody>
          <a:bodyPr lIns="0" tIns="0" rIns="0" bIns="0" anchor="t">
            <a:noAutofit/>
          </a:bodyPr>
          <a:lstStyle>
            <a:defPPr algn="l">
              <a:defRPr sz="1875" b="1">
                <a:solidFill>
                  <a:srgbClr val="BD0000"/>
                </a:solidFill>
                <a:latin typeface="Arial" panose="020B0604020202020204"/>
                <a:ea typeface="Arial" panose="020B0604020202020204"/>
                <a:cs typeface="Arial" panose="020B0604020202020204"/>
              </a:defRPr>
            </a:defPPr>
          </a:lstStyle>
          <a:p>
            <a:pPr algn="l">
              <a:lnSpc>
                <a:spcPct val="112000"/>
              </a:lnSpc>
              <a:buNone/>
              <a:defRPr sz="1875" b="1">
                <a:solidFill>
                  <a:srgbClr val="BD0000"/>
                </a:solidFill>
                <a:latin typeface="Arial" panose="020B0604020202020204"/>
                <a:ea typeface="Arial" panose="020B0604020202020204"/>
                <a:cs typeface="Arial" panose="020B0604020202020204"/>
              </a:defRPr>
            </a:pPr>
            <a:r>
              <a:rPr sz="1875" b="1">
                <a:solidFill>
                  <a:srgbClr val="BD0000"/>
                </a:solidFill>
                <a:latin typeface="Arial" panose="020B0604020202020204"/>
                <a:ea typeface="Arial" panose="020B0604020202020204"/>
                <a:cs typeface="Arial" panose="020B0604020202020204"/>
              </a:rPr>
              <a:t>Backend</a:t>
            </a:r>
            <a:endParaRPr sz="1875" b="1">
              <a:solidFill>
                <a:srgbClr val="BD0000"/>
              </a:solidFill>
              <a:latin typeface="Arial" panose="020B0604020202020204"/>
              <a:ea typeface="Arial" panose="020B0604020202020204"/>
              <a:cs typeface="Arial" panose="020B0604020202020204"/>
            </a:endParaRPr>
          </a:p>
        </p:txBody>
      </p:sp>
      <p:sp>
        <p:nvSpPr>
          <p:cNvPr id="109" name="Frontend"/>
          <p:cNvSpPr>
            <a:spLocks noGrp="1"/>
          </p:cNvSpPr>
          <p:nvPr/>
        </p:nvSpPr>
        <p:spPr>
          <a:xfrm>
            <a:off x="3257550" y="1333500"/>
            <a:ext cx="2628900" cy="314325"/>
          </a:xfrm>
          <a:prstGeom prst="rect">
            <a:avLst/>
          </a:prstGeom>
          <a:noFill/>
          <a:ln w="0">
            <a:noFill/>
          </a:ln>
        </p:spPr>
        <p:txBody>
          <a:bodyPr lIns="0" tIns="0" rIns="0" bIns="0" anchor="t">
            <a:noAutofit/>
          </a:bodyPr>
          <a:lstStyle>
            <a:defPPr algn="l">
              <a:defRPr sz="1875" b="1">
                <a:solidFill>
                  <a:srgbClr val="BD0000"/>
                </a:solidFill>
                <a:latin typeface="Arial" panose="020B0604020202020204"/>
                <a:ea typeface="Arial" panose="020B0604020202020204"/>
                <a:cs typeface="Arial" panose="020B0604020202020204"/>
              </a:defRPr>
            </a:defPPr>
          </a:lstStyle>
          <a:p>
            <a:pPr algn="l">
              <a:lnSpc>
                <a:spcPct val="112000"/>
              </a:lnSpc>
              <a:buNone/>
              <a:defRPr sz="1875" b="1">
                <a:solidFill>
                  <a:srgbClr val="BD0000"/>
                </a:solidFill>
                <a:latin typeface="Arial" panose="020B0604020202020204"/>
                <a:ea typeface="Arial" panose="020B0604020202020204"/>
                <a:cs typeface="Arial" panose="020B0604020202020204"/>
              </a:defRPr>
            </a:pPr>
            <a:r>
              <a:rPr sz="1875" b="1">
                <a:solidFill>
                  <a:srgbClr val="BD0000"/>
                </a:solidFill>
                <a:latin typeface="Arial" panose="020B0604020202020204"/>
                <a:ea typeface="Arial" panose="020B0604020202020204"/>
                <a:cs typeface="Arial" panose="020B0604020202020204"/>
              </a:rPr>
              <a:t>Frontend</a:t>
            </a:r>
            <a:endParaRPr sz="1875" b="1">
              <a:solidFill>
                <a:srgbClr val="BD0000"/>
              </a:solidFill>
              <a:latin typeface="Arial" panose="020B0604020202020204"/>
              <a:ea typeface="Arial" panose="020B0604020202020204"/>
              <a:cs typeface="Arial" panose="020B0604020202020204"/>
            </a:endParaRPr>
          </a:p>
        </p:txBody>
      </p:sp>
      <p:sp>
        <p:nvSpPr>
          <p:cNvPr id="110" name="Persistência"/>
          <p:cNvSpPr>
            <a:spLocks noGrp="1"/>
          </p:cNvSpPr>
          <p:nvPr/>
        </p:nvSpPr>
        <p:spPr>
          <a:xfrm>
            <a:off x="6086475" y="1333500"/>
            <a:ext cx="2628900" cy="314325"/>
          </a:xfrm>
          <a:prstGeom prst="rect">
            <a:avLst/>
          </a:prstGeom>
          <a:noFill/>
          <a:ln w="0">
            <a:noFill/>
          </a:ln>
        </p:spPr>
        <p:txBody>
          <a:bodyPr lIns="0" tIns="0" rIns="0" bIns="0" anchor="t">
            <a:noAutofit/>
          </a:bodyPr>
          <a:lstStyle>
            <a:defPPr algn="l">
              <a:defRPr sz="1800" b="1">
                <a:solidFill>
                  <a:srgbClr val="BD0000"/>
                </a:solidFill>
                <a:latin typeface="Arial" panose="020B0604020202020204"/>
                <a:ea typeface="Arial" panose="020B0604020202020204"/>
                <a:cs typeface="Arial" panose="020B0604020202020204"/>
              </a:defRPr>
            </a:defPPr>
          </a:lstStyle>
          <a:p>
            <a:pPr algn="l">
              <a:lnSpc>
                <a:spcPct val="112000"/>
              </a:lnSpc>
              <a:buNone/>
              <a:defRPr sz="1800" b="1">
                <a:solidFill>
                  <a:srgbClr val="BD0000"/>
                </a:solidFill>
                <a:latin typeface="Arial" panose="020B0604020202020204"/>
                <a:ea typeface="Arial" panose="020B0604020202020204"/>
                <a:cs typeface="Arial" panose="020B0604020202020204"/>
              </a:defRPr>
            </a:pPr>
            <a:r>
              <a:rPr sz="1800" b="1">
                <a:solidFill>
                  <a:srgbClr val="BD0000"/>
                </a:solidFill>
                <a:latin typeface="Arial" panose="020B0604020202020204"/>
                <a:ea typeface="Arial" panose="020B0604020202020204"/>
                <a:cs typeface="Arial" panose="020B0604020202020204"/>
              </a:rPr>
              <a:t>Persistência de dados</a:t>
            </a:r>
            <a:endParaRPr sz="1800" b="1">
              <a:solidFill>
                <a:srgbClr val="BD0000"/>
              </a:solidFill>
              <a:latin typeface="Arial" panose="020B0604020202020204"/>
              <a:ea typeface="Arial" panose="020B0604020202020204"/>
              <a:cs typeface="Arial" panose="020B0604020202020204"/>
            </a:endParaRPr>
          </a:p>
        </p:txBody>
      </p:sp>
      <p:sp>
        <p:nvSpPr>
          <p:cNvPr id="111" name="Backend Node.js"/>
          <p:cNvSpPr>
            <a:spLocks noGrp="1"/>
          </p:cNvSpPr>
          <p:nvPr/>
        </p:nvSpPr>
        <p:spPr>
          <a:xfrm>
            <a:off x="428625" y="1781175"/>
            <a:ext cx="2628900" cy="1133475"/>
          </a:xfrm>
          <a:prstGeom prst="rect">
            <a:avLst/>
          </a:prstGeom>
          <a:solidFill>
            <a:srgbClr val="FAFAFA"/>
          </a:solidFill>
          <a:ln w="9525">
            <a:solidFill>
              <a:srgbClr val="B9B9B9"/>
            </a:solidFill>
          </a:ln>
        </p:spPr>
      </p:sp>
      <p:sp>
        <p:nvSpPr>
          <p:cNvPr id="112" name="Backend Node.js title"/>
          <p:cNvSpPr>
            <a:spLocks noGrp="1"/>
          </p:cNvSpPr>
          <p:nvPr/>
        </p:nvSpPr>
        <p:spPr>
          <a:xfrm>
            <a:off x="571500" y="1895475"/>
            <a:ext cx="2343150" cy="285750"/>
          </a:xfrm>
          <a:prstGeom prst="rect">
            <a:avLst/>
          </a:prstGeom>
          <a:noFill/>
          <a:ln w="0">
            <a:noFill/>
          </a:ln>
        </p:spPr>
        <p:txBody>
          <a:bodyPr lIns="0" tIns="0" rIns="0" bIns="0" anchor="t">
            <a:noAutofit/>
          </a:bodyPr>
          <a:lstStyle>
            <a:defPPr algn="l">
              <a:defRPr sz="1650" b="1">
                <a:solidFill>
                  <a:srgbClr val="232323"/>
                </a:solidFill>
                <a:latin typeface="Arial" panose="020B0604020202020204"/>
                <a:ea typeface="Arial" panose="020B0604020202020204"/>
                <a:cs typeface="Arial" panose="020B0604020202020204"/>
              </a:defRPr>
            </a:defPPr>
          </a:lstStyle>
          <a:p>
            <a:pPr algn="l">
              <a:lnSpc>
                <a:spcPct val="112000"/>
              </a:lnSpc>
              <a:buNone/>
              <a:defRPr sz="1650" b="1">
                <a:solidFill>
                  <a:srgbClr val="232323"/>
                </a:solidFill>
                <a:latin typeface="Arial" panose="020B0604020202020204"/>
                <a:ea typeface="Arial" panose="020B0604020202020204"/>
                <a:cs typeface="Arial" panose="020B0604020202020204"/>
              </a:defRPr>
            </a:pPr>
            <a:r>
              <a:rPr sz="1650" b="1">
                <a:solidFill>
                  <a:srgbClr val="232323"/>
                </a:solidFill>
                <a:latin typeface="Arial" panose="020B0604020202020204"/>
                <a:ea typeface="Arial" panose="020B0604020202020204"/>
                <a:cs typeface="Arial" panose="020B0604020202020204"/>
              </a:rPr>
              <a:t>Node.js</a:t>
            </a:r>
            <a:endParaRPr sz="1650" b="1">
              <a:solidFill>
                <a:srgbClr val="232323"/>
              </a:solidFill>
              <a:latin typeface="Arial" panose="020B0604020202020204"/>
              <a:ea typeface="Arial" panose="020B0604020202020204"/>
              <a:cs typeface="Arial" panose="020B0604020202020204"/>
            </a:endParaRPr>
          </a:p>
        </p:txBody>
      </p:sp>
      <p:sp>
        <p:nvSpPr>
          <p:cNvPr id="113" name="Backend Node.js description"/>
          <p:cNvSpPr>
            <a:spLocks noGrp="1"/>
          </p:cNvSpPr>
          <p:nvPr/>
        </p:nvSpPr>
        <p:spPr>
          <a:xfrm>
            <a:off x="571500" y="2228850"/>
            <a:ext cx="2343150" cy="628650"/>
          </a:xfrm>
          <a:prstGeom prst="rect">
            <a:avLst/>
          </a:prstGeom>
          <a:noFill/>
          <a:ln w="0">
            <a:noFill/>
          </a:ln>
        </p:spPr>
        <p:txBody>
          <a:bodyPr lIns="0" tIns="0" rIns="0" bIns="0" anchor="t">
            <a:noAutofit/>
          </a:bodyPr>
          <a:lstStyle>
            <a:defPPr algn="l">
              <a:defRPr sz="1425" b="0">
                <a:solidFill>
                  <a:srgbClr val="232323"/>
                </a:solidFill>
                <a:latin typeface="Arial" panose="020B0604020202020204"/>
                <a:ea typeface="Arial" panose="020B0604020202020204"/>
                <a:cs typeface="Arial" panose="020B0604020202020204"/>
              </a:defRPr>
            </a:defPPr>
          </a:lstStyle>
          <a:p>
            <a:pPr algn="l">
              <a:lnSpc>
                <a:spcPct val="112000"/>
              </a:lnSpc>
              <a:buNone/>
              <a:defRPr sz="1425" b="0">
                <a:solidFill>
                  <a:srgbClr val="232323"/>
                </a:solidFill>
                <a:latin typeface="Arial" panose="020B0604020202020204"/>
                <a:ea typeface="Arial" panose="020B0604020202020204"/>
                <a:cs typeface="Arial" panose="020B0604020202020204"/>
              </a:defRPr>
            </a:pPr>
            <a:r>
              <a:rPr sz="1425" b="0">
                <a:solidFill>
                  <a:srgbClr val="232323"/>
                </a:solidFill>
                <a:latin typeface="Arial" panose="020B0604020202020204"/>
                <a:ea typeface="Arial" panose="020B0604020202020204"/>
                <a:cs typeface="Arial" panose="020B0604020202020204"/>
              </a:rPr>
              <a:t>Executa </a:t>
            </a:r>
            <a:r>
              <a:rPr lang="pt-BR" sz="1425" b="0">
                <a:solidFill>
                  <a:srgbClr val="232323"/>
                </a:solidFill>
                <a:latin typeface="Arial" panose="020B0604020202020204"/>
                <a:ea typeface="Arial" panose="020B0604020202020204"/>
                <a:cs typeface="Arial" panose="020B0604020202020204"/>
              </a:rPr>
              <a:t>JavaScript</a:t>
            </a:r>
            <a:r>
              <a:rPr sz="1425" b="0">
                <a:solidFill>
                  <a:srgbClr val="232323"/>
                </a:solidFill>
                <a:latin typeface="Arial" panose="020B0604020202020204"/>
                <a:ea typeface="Arial" panose="020B0604020202020204"/>
                <a:cs typeface="Arial" panose="020B0604020202020204"/>
              </a:rPr>
              <a:t> no servidor.</a:t>
            </a:r>
            <a:endParaRPr sz="1425" b="0">
              <a:solidFill>
                <a:srgbClr val="232323"/>
              </a:solidFill>
              <a:latin typeface="Arial" panose="020B0604020202020204"/>
              <a:ea typeface="Arial" panose="020B0604020202020204"/>
              <a:cs typeface="Arial" panose="020B0604020202020204"/>
            </a:endParaRPr>
          </a:p>
        </p:txBody>
      </p:sp>
      <p:sp>
        <p:nvSpPr>
          <p:cNvPr id="114" name="Backend TypeScript"/>
          <p:cNvSpPr>
            <a:spLocks noGrp="1"/>
          </p:cNvSpPr>
          <p:nvPr/>
        </p:nvSpPr>
        <p:spPr>
          <a:xfrm>
            <a:off x="428625" y="3048000"/>
            <a:ext cx="2628900" cy="1133475"/>
          </a:xfrm>
          <a:prstGeom prst="rect">
            <a:avLst/>
          </a:prstGeom>
          <a:solidFill>
            <a:srgbClr val="FAFAFA"/>
          </a:solidFill>
          <a:ln w="9525">
            <a:solidFill>
              <a:srgbClr val="B9B9B9"/>
            </a:solidFill>
          </a:ln>
        </p:spPr>
      </p:sp>
      <p:sp>
        <p:nvSpPr>
          <p:cNvPr id="115" name="Backend TypeScript title"/>
          <p:cNvSpPr>
            <a:spLocks noGrp="1"/>
          </p:cNvSpPr>
          <p:nvPr/>
        </p:nvSpPr>
        <p:spPr>
          <a:xfrm>
            <a:off x="571500" y="3162300"/>
            <a:ext cx="2343150" cy="285750"/>
          </a:xfrm>
          <a:prstGeom prst="rect">
            <a:avLst/>
          </a:prstGeom>
          <a:noFill/>
          <a:ln w="0">
            <a:noFill/>
          </a:ln>
        </p:spPr>
        <p:txBody>
          <a:bodyPr lIns="0" tIns="0" rIns="0" bIns="0" anchor="t">
            <a:noAutofit/>
          </a:bodyPr>
          <a:lstStyle>
            <a:defPPr algn="l">
              <a:defRPr sz="1650" b="1">
                <a:solidFill>
                  <a:srgbClr val="232323"/>
                </a:solidFill>
                <a:latin typeface="Arial" panose="020B0604020202020204"/>
                <a:ea typeface="Arial" panose="020B0604020202020204"/>
                <a:cs typeface="Arial" panose="020B0604020202020204"/>
              </a:defRPr>
            </a:defPPr>
          </a:lstStyle>
          <a:p>
            <a:pPr algn="l">
              <a:lnSpc>
                <a:spcPct val="112000"/>
              </a:lnSpc>
              <a:buNone/>
              <a:defRPr sz="1650" b="1">
                <a:solidFill>
                  <a:srgbClr val="232323"/>
                </a:solidFill>
                <a:latin typeface="Arial" panose="020B0604020202020204"/>
                <a:ea typeface="Arial" panose="020B0604020202020204"/>
                <a:cs typeface="Arial" panose="020B0604020202020204"/>
              </a:defRPr>
            </a:pPr>
            <a:r>
              <a:rPr sz="1650" b="1">
                <a:solidFill>
                  <a:srgbClr val="232323"/>
                </a:solidFill>
                <a:latin typeface="Arial" panose="020B0604020202020204"/>
                <a:ea typeface="Arial" panose="020B0604020202020204"/>
                <a:cs typeface="Arial" panose="020B0604020202020204"/>
              </a:rPr>
              <a:t>TypeScript</a:t>
            </a:r>
            <a:endParaRPr sz="1650" b="1">
              <a:solidFill>
                <a:srgbClr val="232323"/>
              </a:solidFill>
              <a:latin typeface="Arial" panose="020B0604020202020204"/>
              <a:ea typeface="Arial" panose="020B0604020202020204"/>
              <a:cs typeface="Arial" panose="020B0604020202020204"/>
            </a:endParaRPr>
          </a:p>
        </p:txBody>
      </p:sp>
      <p:sp>
        <p:nvSpPr>
          <p:cNvPr id="116" name="Backend TypeScript description"/>
          <p:cNvSpPr>
            <a:spLocks noGrp="1"/>
          </p:cNvSpPr>
          <p:nvPr/>
        </p:nvSpPr>
        <p:spPr>
          <a:xfrm>
            <a:off x="571500" y="3495675"/>
            <a:ext cx="2343150" cy="628650"/>
          </a:xfrm>
          <a:prstGeom prst="rect">
            <a:avLst/>
          </a:prstGeom>
          <a:noFill/>
          <a:ln w="0">
            <a:noFill/>
          </a:ln>
        </p:spPr>
        <p:txBody>
          <a:bodyPr lIns="0" tIns="0" rIns="0" bIns="0" anchor="t">
            <a:noAutofit/>
          </a:bodyPr>
          <a:lstStyle>
            <a:defPPr algn="l">
              <a:defRPr sz="1425" b="0">
                <a:solidFill>
                  <a:srgbClr val="232323"/>
                </a:solidFill>
                <a:latin typeface="Arial" panose="020B0604020202020204"/>
                <a:ea typeface="Arial" panose="020B0604020202020204"/>
                <a:cs typeface="Arial" panose="020B0604020202020204"/>
              </a:defRPr>
            </a:defPPr>
          </a:lstStyle>
          <a:p>
            <a:pPr algn="l">
              <a:lnSpc>
                <a:spcPct val="112000"/>
              </a:lnSpc>
              <a:buNone/>
              <a:defRPr sz="1425" b="0">
                <a:solidFill>
                  <a:srgbClr val="232323"/>
                </a:solidFill>
                <a:latin typeface="Arial" panose="020B0604020202020204"/>
                <a:ea typeface="Arial" panose="020B0604020202020204"/>
                <a:cs typeface="Arial" panose="020B0604020202020204"/>
              </a:defRPr>
            </a:pPr>
            <a:r>
              <a:rPr sz="1425" b="0">
                <a:solidFill>
                  <a:srgbClr val="232323"/>
                </a:solidFill>
                <a:latin typeface="Arial" panose="020B0604020202020204"/>
                <a:ea typeface="Arial" panose="020B0604020202020204"/>
                <a:cs typeface="Arial" panose="020B0604020202020204"/>
              </a:rPr>
              <a:t>Define os tipos de dados usados na API.</a:t>
            </a:r>
            <a:endParaRPr sz="1425" b="0">
              <a:solidFill>
                <a:srgbClr val="232323"/>
              </a:solidFill>
              <a:latin typeface="Arial" panose="020B0604020202020204"/>
              <a:ea typeface="Arial" panose="020B0604020202020204"/>
              <a:cs typeface="Arial" panose="020B0604020202020204"/>
            </a:endParaRPr>
          </a:p>
        </p:txBody>
      </p:sp>
      <p:sp>
        <p:nvSpPr>
          <p:cNvPr id="117" name="Backend NestJS"/>
          <p:cNvSpPr>
            <a:spLocks noGrp="1"/>
          </p:cNvSpPr>
          <p:nvPr/>
        </p:nvSpPr>
        <p:spPr>
          <a:xfrm>
            <a:off x="428625" y="4314825"/>
            <a:ext cx="2628900" cy="1133475"/>
          </a:xfrm>
          <a:prstGeom prst="rect">
            <a:avLst/>
          </a:prstGeom>
          <a:solidFill>
            <a:srgbClr val="FAFAFA"/>
          </a:solidFill>
          <a:ln w="9525">
            <a:solidFill>
              <a:srgbClr val="B9B9B9"/>
            </a:solidFill>
          </a:ln>
        </p:spPr>
      </p:sp>
      <p:sp>
        <p:nvSpPr>
          <p:cNvPr id="118" name="Backend NestJS title"/>
          <p:cNvSpPr>
            <a:spLocks noGrp="1"/>
          </p:cNvSpPr>
          <p:nvPr/>
        </p:nvSpPr>
        <p:spPr>
          <a:xfrm>
            <a:off x="571500" y="4429125"/>
            <a:ext cx="2343150" cy="285750"/>
          </a:xfrm>
          <a:prstGeom prst="rect">
            <a:avLst/>
          </a:prstGeom>
          <a:noFill/>
          <a:ln w="0">
            <a:noFill/>
          </a:ln>
        </p:spPr>
        <p:txBody>
          <a:bodyPr lIns="0" tIns="0" rIns="0" bIns="0" anchor="t">
            <a:noAutofit/>
          </a:bodyPr>
          <a:lstStyle>
            <a:defPPr algn="l">
              <a:defRPr sz="1650" b="1">
                <a:solidFill>
                  <a:srgbClr val="232323"/>
                </a:solidFill>
                <a:latin typeface="Arial" panose="020B0604020202020204"/>
                <a:ea typeface="Arial" panose="020B0604020202020204"/>
                <a:cs typeface="Arial" panose="020B0604020202020204"/>
              </a:defRPr>
            </a:defPPr>
          </a:lstStyle>
          <a:p>
            <a:pPr algn="l">
              <a:lnSpc>
                <a:spcPct val="112000"/>
              </a:lnSpc>
              <a:buNone/>
              <a:defRPr sz="1650" b="1">
                <a:solidFill>
                  <a:srgbClr val="232323"/>
                </a:solidFill>
                <a:latin typeface="Arial" panose="020B0604020202020204"/>
                <a:ea typeface="Arial" panose="020B0604020202020204"/>
                <a:cs typeface="Arial" panose="020B0604020202020204"/>
              </a:defRPr>
            </a:pPr>
            <a:r>
              <a:rPr sz="1650" b="1">
                <a:solidFill>
                  <a:srgbClr val="232323"/>
                </a:solidFill>
                <a:latin typeface="Arial" panose="020B0604020202020204"/>
                <a:ea typeface="Arial" panose="020B0604020202020204"/>
                <a:cs typeface="Arial" panose="020B0604020202020204"/>
              </a:rPr>
              <a:t>NestJS</a:t>
            </a:r>
            <a:endParaRPr sz="1650" b="1">
              <a:solidFill>
                <a:srgbClr val="232323"/>
              </a:solidFill>
              <a:latin typeface="Arial" panose="020B0604020202020204"/>
              <a:ea typeface="Arial" panose="020B0604020202020204"/>
              <a:cs typeface="Arial" panose="020B0604020202020204"/>
            </a:endParaRPr>
          </a:p>
        </p:txBody>
      </p:sp>
      <p:sp>
        <p:nvSpPr>
          <p:cNvPr id="119" name="Backend NestJS description"/>
          <p:cNvSpPr>
            <a:spLocks noGrp="1"/>
          </p:cNvSpPr>
          <p:nvPr/>
        </p:nvSpPr>
        <p:spPr>
          <a:xfrm>
            <a:off x="571500" y="4762500"/>
            <a:ext cx="2343150" cy="628650"/>
          </a:xfrm>
          <a:prstGeom prst="rect">
            <a:avLst/>
          </a:prstGeom>
          <a:noFill/>
          <a:ln w="0">
            <a:noFill/>
          </a:ln>
        </p:spPr>
        <p:txBody>
          <a:bodyPr lIns="0" tIns="0" rIns="0" bIns="0" anchor="t">
            <a:noAutofit/>
          </a:bodyPr>
          <a:lstStyle>
            <a:defPPr algn="l">
              <a:defRPr sz="1425" b="0">
                <a:solidFill>
                  <a:srgbClr val="232323"/>
                </a:solidFill>
                <a:latin typeface="Arial" panose="020B0604020202020204"/>
                <a:ea typeface="Arial" panose="020B0604020202020204"/>
                <a:cs typeface="Arial" panose="020B0604020202020204"/>
              </a:defRPr>
            </a:defPPr>
          </a:lstStyle>
          <a:p>
            <a:pPr algn="l">
              <a:lnSpc>
                <a:spcPct val="112000"/>
              </a:lnSpc>
              <a:buNone/>
              <a:defRPr sz="1425" b="0">
                <a:solidFill>
                  <a:srgbClr val="232323"/>
                </a:solidFill>
                <a:latin typeface="Arial" panose="020B0604020202020204"/>
                <a:ea typeface="Arial" panose="020B0604020202020204"/>
                <a:cs typeface="Arial" panose="020B0604020202020204"/>
              </a:defRPr>
            </a:pPr>
            <a:r>
              <a:rPr sz="1425" b="0">
                <a:solidFill>
                  <a:srgbClr val="232323"/>
                </a:solidFill>
                <a:latin typeface="Arial" panose="020B0604020202020204"/>
                <a:ea typeface="Arial" panose="020B0604020202020204"/>
                <a:cs typeface="Arial" panose="020B0604020202020204"/>
              </a:rPr>
              <a:t>Organiza as rotas e as regras da aplicação.</a:t>
            </a:r>
            <a:endParaRPr sz="1425" b="0">
              <a:solidFill>
                <a:srgbClr val="232323"/>
              </a:solidFill>
              <a:latin typeface="Arial" panose="020B0604020202020204"/>
              <a:ea typeface="Arial" panose="020B0604020202020204"/>
              <a:cs typeface="Arial" panose="020B0604020202020204"/>
            </a:endParaRPr>
          </a:p>
        </p:txBody>
      </p:sp>
      <p:sp>
        <p:nvSpPr>
          <p:cNvPr id="120" name="Frontend React"/>
          <p:cNvSpPr>
            <a:spLocks noGrp="1"/>
          </p:cNvSpPr>
          <p:nvPr/>
        </p:nvSpPr>
        <p:spPr>
          <a:xfrm>
            <a:off x="3257550" y="1781175"/>
            <a:ext cx="2628900" cy="895350"/>
          </a:xfrm>
          <a:prstGeom prst="rect">
            <a:avLst/>
          </a:prstGeom>
          <a:solidFill>
            <a:srgbClr val="FAFAFA"/>
          </a:solidFill>
          <a:ln w="9525">
            <a:solidFill>
              <a:srgbClr val="B9B9B9"/>
            </a:solidFill>
          </a:ln>
        </p:spPr>
      </p:sp>
      <p:sp>
        <p:nvSpPr>
          <p:cNvPr id="121" name="Frontend React title"/>
          <p:cNvSpPr>
            <a:spLocks noGrp="1"/>
          </p:cNvSpPr>
          <p:nvPr/>
        </p:nvSpPr>
        <p:spPr>
          <a:xfrm>
            <a:off x="3400425" y="1895475"/>
            <a:ext cx="2343150" cy="285750"/>
          </a:xfrm>
          <a:prstGeom prst="rect">
            <a:avLst/>
          </a:prstGeom>
          <a:noFill/>
          <a:ln w="0">
            <a:noFill/>
          </a:ln>
        </p:spPr>
        <p:txBody>
          <a:bodyPr lIns="0" tIns="0" rIns="0" bIns="0" anchor="t">
            <a:noAutofit/>
          </a:bodyPr>
          <a:lstStyle>
            <a:defPPr algn="l">
              <a:defRPr sz="1650" b="1">
                <a:solidFill>
                  <a:srgbClr val="232323"/>
                </a:solidFill>
                <a:latin typeface="Arial" panose="020B0604020202020204"/>
                <a:ea typeface="Arial" panose="020B0604020202020204"/>
                <a:cs typeface="Arial" panose="020B0604020202020204"/>
              </a:defRPr>
            </a:defPPr>
          </a:lstStyle>
          <a:p>
            <a:pPr algn="l">
              <a:lnSpc>
                <a:spcPct val="112000"/>
              </a:lnSpc>
              <a:buNone/>
              <a:defRPr sz="1650" b="1">
                <a:solidFill>
                  <a:srgbClr val="232323"/>
                </a:solidFill>
                <a:latin typeface="Arial" panose="020B0604020202020204"/>
                <a:ea typeface="Arial" panose="020B0604020202020204"/>
                <a:cs typeface="Arial" panose="020B0604020202020204"/>
              </a:defRPr>
            </a:pPr>
            <a:r>
              <a:rPr sz="1650" b="1">
                <a:solidFill>
                  <a:srgbClr val="232323"/>
                </a:solidFill>
                <a:latin typeface="Arial" panose="020B0604020202020204"/>
                <a:ea typeface="Arial" panose="020B0604020202020204"/>
                <a:cs typeface="Arial" panose="020B0604020202020204"/>
              </a:rPr>
              <a:t>React</a:t>
            </a:r>
            <a:endParaRPr sz="1650" b="1">
              <a:solidFill>
                <a:srgbClr val="232323"/>
              </a:solidFill>
              <a:latin typeface="Arial" panose="020B0604020202020204"/>
              <a:ea typeface="Arial" panose="020B0604020202020204"/>
              <a:cs typeface="Arial" panose="020B0604020202020204"/>
            </a:endParaRPr>
          </a:p>
        </p:txBody>
      </p:sp>
      <p:sp>
        <p:nvSpPr>
          <p:cNvPr id="122" name="Frontend React description"/>
          <p:cNvSpPr>
            <a:spLocks noGrp="1"/>
          </p:cNvSpPr>
          <p:nvPr/>
        </p:nvSpPr>
        <p:spPr>
          <a:xfrm>
            <a:off x="3400425" y="2181225"/>
            <a:ext cx="2343150" cy="438150"/>
          </a:xfrm>
          <a:prstGeom prst="rect">
            <a:avLst/>
          </a:prstGeom>
          <a:noFill/>
          <a:ln w="0">
            <a:noFill/>
          </a:ln>
        </p:spPr>
        <p:txBody>
          <a:bodyPr lIns="0" tIns="0" rIns="0" bIns="0" anchor="t">
            <a:noAutofit/>
          </a:bodyPr>
          <a:lstStyle>
            <a:defPPr algn="l">
              <a:defRPr sz="1350" b="0">
                <a:solidFill>
                  <a:srgbClr val="232323"/>
                </a:solidFill>
                <a:latin typeface="Arial" panose="020B0604020202020204"/>
                <a:ea typeface="Arial" panose="020B0604020202020204"/>
                <a:cs typeface="Arial" panose="020B0604020202020204"/>
              </a:defRPr>
            </a:defPPr>
          </a:lstStyle>
          <a:p>
            <a:pPr algn="l">
              <a:lnSpc>
                <a:spcPct val="112000"/>
              </a:lnSpc>
              <a:buNone/>
              <a:defRPr sz="1350" b="0">
                <a:solidFill>
                  <a:srgbClr val="232323"/>
                </a:solidFill>
                <a:latin typeface="Arial" panose="020B0604020202020204"/>
                <a:ea typeface="Arial" panose="020B0604020202020204"/>
                <a:cs typeface="Arial" panose="020B0604020202020204"/>
              </a:defRPr>
            </a:pPr>
            <a:r>
              <a:rPr sz="1350" b="0">
                <a:solidFill>
                  <a:srgbClr val="232323"/>
                </a:solidFill>
                <a:latin typeface="Arial" panose="020B0604020202020204"/>
                <a:ea typeface="Arial" panose="020B0604020202020204"/>
                <a:cs typeface="Arial" panose="020B0604020202020204"/>
              </a:rPr>
              <a:t>Cria os componentes da interface.</a:t>
            </a:r>
            <a:endParaRPr sz="1350" b="0">
              <a:solidFill>
                <a:srgbClr val="232323"/>
              </a:solidFill>
              <a:latin typeface="Arial" panose="020B0604020202020204"/>
              <a:ea typeface="Arial" panose="020B0604020202020204"/>
              <a:cs typeface="Arial" panose="020B0604020202020204"/>
            </a:endParaRPr>
          </a:p>
        </p:txBody>
      </p:sp>
      <p:sp>
        <p:nvSpPr>
          <p:cNvPr id="123" name="Frontend TypeScript"/>
          <p:cNvSpPr>
            <a:spLocks noGrp="1"/>
          </p:cNvSpPr>
          <p:nvPr/>
        </p:nvSpPr>
        <p:spPr>
          <a:xfrm>
            <a:off x="3257550" y="2733675"/>
            <a:ext cx="2628900" cy="895350"/>
          </a:xfrm>
          <a:prstGeom prst="rect">
            <a:avLst/>
          </a:prstGeom>
          <a:solidFill>
            <a:srgbClr val="FAFAFA"/>
          </a:solidFill>
          <a:ln w="9525">
            <a:solidFill>
              <a:srgbClr val="B9B9B9"/>
            </a:solidFill>
          </a:ln>
        </p:spPr>
      </p:sp>
      <p:sp>
        <p:nvSpPr>
          <p:cNvPr id="124" name="Frontend TypeScript title"/>
          <p:cNvSpPr>
            <a:spLocks noGrp="1"/>
          </p:cNvSpPr>
          <p:nvPr/>
        </p:nvSpPr>
        <p:spPr>
          <a:xfrm>
            <a:off x="3400425" y="2847975"/>
            <a:ext cx="2343150" cy="285750"/>
          </a:xfrm>
          <a:prstGeom prst="rect">
            <a:avLst/>
          </a:prstGeom>
          <a:noFill/>
          <a:ln w="0">
            <a:noFill/>
          </a:ln>
        </p:spPr>
        <p:txBody>
          <a:bodyPr lIns="0" tIns="0" rIns="0" bIns="0" anchor="t">
            <a:noAutofit/>
          </a:bodyPr>
          <a:lstStyle>
            <a:defPPr algn="l">
              <a:defRPr sz="1650" b="1">
                <a:solidFill>
                  <a:srgbClr val="232323"/>
                </a:solidFill>
                <a:latin typeface="Arial" panose="020B0604020202020204"/>
                <a:ea typeface="Arial" panose="020B0604020202020204"/>
                <a:cs typeface="Arial" panose="020B0604020202020204"/>
              </a:defRPr>
            </a:defPPr>
          </a:lstStyle>
          <a:p>
            <a:pPr algn="l">
              <a:lnSpc>
                <a:spcPct val="112000"/>
              </a:lnSpc>
              <a:buNone/>
              <a:defRPr sz="1650" b="1">
                <a:solidFill>
                  <a:srgbClr val="232323"/>
                </a:solidFill>
                <a:latin typeface="Arial" panose="020B0604020202020204"/>
                <a:ea typeface="Arial" panose="020B0604020202020204"/>
                <a:cs typeface="Arial" panose="020B0604020202020204"/>
              </a:defRPr>
            </a:pPr>
            <a:r>
              <a:rPr sz="1650" b="1">
                <a:solidFill>
                  <a:srgbClr val="232323"/>
                </a:solidFill>
                <a:latin typeface="Arial" panose="020B0604020202020204"/>
                <a:ea typeface="Arial" panose="020B0604020202020204"/>
                <a:cs typeface="Arial" panose="020B0604020202020204"/>
              </a:rPr>
              <a:t>TypeScript</a:t>
            </a:r>
            <a:endParaRPr sz="1650" b="1">
              <a:solidFill>
                <a:srgbClr val="232323"/>
              </a:solidFill>
              <a:latin typeface="Arial" panose="020B0604020202020204"/>
              <a:ea typeface="Arial" panose="020B0604020202020204"/>
              <a:cs typeface="Arial" panose="020B0604020202020204"/>
            </a:endParaRPr>
          </a:p>
        </p:txBody>
      </p:sp>
      <p:sp>
        <p:nvSpPr>
          <p:cNvPr id="125" name="Frontend TypeScript description"/>
          <p:cNvSpPr>
            <a:spLocks noGrp="1"/>
          </p:cNvSpPr>
          <p:nvPr/>
        </p:nvSpPr>
        <p:spPr>
          <a:xfrm>
            <a:off x="3400425" y="3133725"/>
            <a:ext cx="2343150" cy="438150"/>
          </a:xfrm>
          <a:prstGeom prst="rect">
            <a:avLst/>
          </a:prstGeom>
          <a:noFill/>
          <a:ln w="0">
            <a:noFill/>
          </a:ln>
        </p:spPr>
        <p:txBody>
          <a:bodyPr lIns="0" tIns="0" rIns="0" bIns="0" anchor="t">
            <a:noAutofit/>
          </a:bodyPr>
          <a:lstStyle>
            <a:defPPr algn="l">
              <a:defRPr sz="1350" b="0">
                <a:solidFill>
                  <a:srgbClr val="232323"/>
                </a:solidFill>
                <a:latin typeface="Arial" panose="020B0604020202020204"/>
                <a:ea typeface="Arial" panose="020B0604020202020204"/>
                <a:cs typeface="Arial" panose="020B0604020202020204"/>
              </a:defRPr>
            </a:defPPr>
          </a:lstStyle>
          <a:p>
            <a:pPr algn="l">
              <a:lnSpc>
                <a:spcPct val="112000"/>
              </a:lnSpc>
              <a:buNone/>
              <a:defRPr sz="1350" b="0">
                <a:solidFill>
                  <a:srgbClr val="232323"/>
                </a:solidFill>
                <a:latin typeface="Arial" panose="020B0604020202020204"/>
                <a:ea typeface="Arial" panose="020B0604020202020204"/>
                <a:cs typeface="Arial" panose="020B0604020202020204"/>
              </a:defRPr>
            </a:pPr>
            <a:r>
              <a:rPr sz="1350" b="0">
                <a:solidFill>
                  <a:srgbClr val="232323"/>
                </a:solidFill>
                <a:latin typeface="Arial" panose="020B0604020202020204"/>
                <a:ea typeface="Arial" panose="020B0604020202020204"/>
                <a:cs typeface="Arial" panose="020B0604020202020204"/>
              </a:rPr>
              <a:t>Define os tipos de dados da interface.</a:t>
            </a:r>
            <a:endParaRPr sz="1350" b="0">
              <a:solidFill>
                <a:srgbClr val="232323"/>
              </a:solidFill>
              <a:latin typeface="Arial" panose="020B0604020202020204"/>
              <a:ea typeface="Arial" panose="020B0604020202020204"/>
              <a:cs typeface="Arial" panose="020B0604020202020204"/>
            </a:endParaRPr>
          </a:p>
        </p:txBody>
      </p:sp>
      <p:sp>
        <p:nvSpPr>
          <p:cNvPr id="126" name="Frontend Next.js"/>
          <p:cNvSpPr>
            <a:spLocks noGrp="1"/>
          </p:cNvSpPr>
          <p:nvPr/>
        </p:nvSpPr>
        <p:spPr>
          <a:xfrm>
            <a:off x="3257550" y="3686175"/>
            <a:ext cx="2628900" cy="895350"/>
          </a:xfrm>
          <a:prstGeom prst="rect">
            <a:avLst/>
          </a:prstGeom>
          <a:solidFill>
            <a:srgbClr val="FAFAFA"/>
          </a:solidFill>
          <a:ln w="9525">
            <a:solidFill>
              <a:srgbClr val="B9B9B9"/>
            </a:solidFill>
          </a:ln>
        </p:spPr>
      </p:sp>
      <p:sp>
        <p:nvSpPr>
          <p:cNvPr id="127" name="Frontend Next.js title"/>
          <p:cNvSpPr>
            <a:spLocks noGrp="1"/>
          </p:cNvSpPr>
          <p:nvPr/>
        </p:nvSpPr>
        <p:spPr>
          <a:xfrm>
            <a:off x="3400425" y="3800475"/>
            <a:ext cx="2343150" cy="285750"/>
          </a:xfrm>
          <a:prstGeom prst="rect">
            <a:avLst/>
          </a:prstGeom>
          <a:noFill/>
          <a:ln w="0">
            <a:noFill/>
          </a:ln>
        </p:spPr>
        <p:txBody>
          <a:bodyPr lIns="0" tIns="0" rIns="0" bIns="0" anchor="t">
            <a:noAutofit/>
          </a:bodyPr>
          <a:lstStyle>
            <a:defPPr algn="l">
              <a:defRPr sz="1650" b="1">
                <a:solidFill>
                  <a:srgbClr val="232323"/>
                </a:solidFill>
                <a:latin typeface="Arial" panose="020B0604020202020204"/>
                <a:ea typeface="Arial" panose="020B0604020202020204"/>
                <a:cs typeface="Arial" panose="020B0604020202020204"/>
              </a:defRPr>
            </a:defPPr>
          </a:lstStyle>
          <a:p>
            <a:pPr algn="l">
              <a:lnSpc>
                <a:spcPct val="112000"/>
              </a:lnSpc>
              <a:buNone/>
              <a:defRPr sz="1650" b="1">
                <a:solidFill>
                  <a:srgbClr val="232323"/>
                </a:solidFill>
                <a:latin typeface="Arial" panose="020B0604020202020204"/>
                <a:ea typeface="Arial" panose="020B0604020202020204"/>
                <a:cs typeface="Arial" panose="020B0604020202020204"/>
              </a:defRPr>
            </a:pPr>
            <a:r>
              <a:rPr sz="1650" b="1">
                <a:solidFill>
                  <a:srgbClr val="232323"/>
                </a:solidFill>
                <a:latin typeface="Arial" panose="020B0604020202020204"/>
                <a:ea typeface="Arial" panose="020B0604020202020204"/>
                <a:cs typeface="Arial" panose="020B0604020202020204"/>
              </a:rPr>
              <a:t>Next.js</a:t>
            </a:r>
            <a:endParaRPr sz="1650" b="1">
              <a:solidFill>
                <a:srgbClr val="232323"/>
              </a:solidFill>
              <a:latin typeface="Arial" panose="020B0604020202020204"/>
              <a:ea typeface="Arial" panose="020B0604020202020204"/>
              <a:cs typeface="Arial" panose="020B0604020202020204"/>
            </a:endParaRPr>
          </a:p>
        </p:txBody>
      </p:sp>
      <p:sp>
        <p:nvSpPr>
          <p:cNvPr id="128" name="Frontend Next.js description"/>
          <p:cNvSpPr>
            <a:spLocks noGrp="1"/>
          </p:cNvSpPr>
          <p:nvPr/>
        </p:nvSpPr>
        <p:spPr>
          <a:xfrm>
            <a:off x="3400425" y="4086225"/>
            <a:ext cx="2343150" cy="438150"/>
          </a:xfrm>
          <a:prstGeom prst="rect">
            <a:avLst/>
          </a:prstGeom>
          <a:noFill/>
          <a:ln w="0">
            <a:noFill/>
          </a:ln>
        </p:spPr>
        <p:txBody>
          <a:bodyPr lIns="0" tIns="0" rIns="0" bIns="0" anchor="t">
            <a:noAutofit/>
          </a:bodyPr>
          <a:lstStyle>
            <a:defPPr algn="l">
              <a:defRPr sz="1350" b="0">
                <a:solidFill>
                  <a:srgbClr val="232323"/>
                </a:solidFill>
                <a:latin typeface="Arial" panose="020B0604020202020204"/>
                <a:ea typeface="Arial" panose="020B0604020202020204"/>
                <a:cs typeface="Arial" panose="020B0604020202020204"/>
              </a:defRPr>
            </a:defPPr>
          </a:lstStyle>
          <a:p>
            <a:pPr algn="l">
              <a:lnSpc>
                <a:spcPct val="112000"/>
              </a:lnSpc>
              <a:buNone/>
              <a:defRPr sz="1350" b="0">
                <a:solidFill>
                  <a:srgbClr val="232323"/>
                </a:solidFill>
                <a:latin typeface="Arial" panose="020B0604020202020204"/>
                <a:ea typeface="Arial" panose="020B0604020202020204"/>
                <a:cs typeface="Arial" panose="020B0604020202020204"/>
              </a:defRPr>
            </a:pPr>
            <a:r>
              <a:rPr sz="1350" b="0">
                <a:solidFill>
                  <a:srgbClr val="232323"/>
                </a:solidFill>
                <a:latin typeface="Arial" panose="020B0604020202020204"/>
                <a:ea typeface="Arial" panose="020B0604020202020204"/>
                <a:cs typeface="Arial" panose="020B0604020202020204"/>
              </a:rPr>
              <a:t>Organiza as páginas e a navegação.</a:t>
            </a:r>
            <a:endParaRPr sz="1350" b="0">
              <a:solidFill>
                <a:srgbClr val="232323"/>
              </a:solidFill>
              <a:latin typeface="Arial" panose="020B0604020202020204"/>
              <a:ea typeface="Arial" panose="020B0604020202020204"/>
              <a:cs typeface="Arial" panose="020B0604020202020204"/>
            </a:endParaRPr>
          </a:p>
        </p:txBody>
      </p:sp>
      <p:sp>
        <p:nvSpPr>
          <p:cNvPr id="129" name="Frontend Tailwind CSS"/>
          <p:cNvSpPr>
            <a:spLocks noGrp="1"/>
          </p:cNvSpPr>
          <p:nvPr/>
        </p:nvSpPr>
        <p:spPr>
          <a:xfrm>
            <a:off x="3257550" y="4638675"/>
            <a:ext cx="2628900" cy="895350"/>
          </a:xfrm>
          <a:prstGeom prst="rect">
            <a:avLst/>
          </a:prstGeom>
          <a:solidFill>
            <a:srgbClr val="FAFAFA"/>
          </a:solidFill>
          <a:ln w="9525">
            <a:solidFill>
              <a:srgbClr val="B9B9B9"/>
            </a:solidFill>
          </a:ln>
        </p:spPr>
      </p:sp>
      <p:sp>
        <p:nvSpPr>
          <p:cNvPr id="130" name="Frontend Tailwind CSS title"/>
          <p:cNvSpPr>
            <a:spLocks noGrp="1"/>
          </p:cNvSpPr>
          <p:nvPr/>
        </p:nvSpPr>
        <p:spPr>
          <a:xfrm>
            <a:off x="3400425" y="4752975"/>
            <a:ext cx="2343150" cy="285750"/>
          </a:xfrm>
          <a:prstGeom prst="rect">
            <a:avLst/>
          </a:prstGeom>
          <a:noFill/>
          <a:ln w="0">
            <a:noFill/>
          </a:ln>
        </p:spPr>
        <p:txBody>
          <a:bodyPr lIns="0" tIns="0" rIns="0" bIns="0" anchor="t">
            <a:noAutofit/>
          </a:bodyPr>
          <a:lstStyle>
            <a:defPPr algn="l">
              <a:defRPr sz="1650" b="1">
                <a:solidFill>
                  <a:srgbClr val="232323"/>
                </a:solidFill>
                <a:latin typeface="Arial" panose="020B0604020202020204"/>
                <a:ea typeface="Arial" panose="020B0604020202020204"/>
                <a:cs typeface="Arial" panose="020B0604020202020204"/>
              </a:defRPr>
            </a:defPPr>
          </a:lstStyle>
          <a:p>
            <a:pPr algn="l">
              <a:lnSpc>
                <a:spcPct val="112000"/>
              </a:lnSpc>
              <a:buNone/>
              <a:defRPr sz="1650" b="1">
                <a:solidFill>
                  <a:srgbClr val="232323"/>
                </a:solidFill>
                <a:latin typeface="Arial" panose="020B0604020202020204"/>
                <a:ea typeface="Arial" panose="020B0604020202020204"/>
                <a:cs typeface="Arial" panose="020B0604020202020204"/>
              </a:defRPr>
            </a:pPr>
            <a:r>
              <a:rPr sz="1650" b="1">
                <a:solidFill>
                  <a:srgbClr val="232323"/>
                </a:solidFill>
                <a:latin typeface="Arial" panose="020B0604020202020204"/>
                <a:ea typeface="Arial" panose="020B0604020202020204"/>
                <a:cs typeface="Arial" panose="020B0604020202020204"/>
              </a:rPr>
              <a:t>Tailwind CSS</a:t>
            </a:r>
            <a:endParaRPr sz="1650" b="1">
              <a:solidFill>
                <a:srgbClr val="232323"/>
              </a:solidFill>
              <a:latin typeface="Arial" panose="020B0604020202020204"/>
              <a:ea typeface="Arial" panose="020B0604020202020204"/>
              <a:cs typeface="Arial" panose="020B0604020202020204"/>
            </a:endParaRPr>
          </a:p>
        </p:txBody>
      </p:sp>
      <p:sp>
        <p:nvSpPr>
          <p:cNvPr id="131" name="Frontend Tailwind CSS description"/>
          <p:cNvSpPr>
            <a:spLocks noGrp="1"/>
          </p:cNvSpPr>
          <p:nvPr/>
        </p:nvSpPr>
        <p:spPr>
          <a:xfrm>
            <a:off x="3400425" y="5038725"/>
            <a:ext cx="2343150" cy="438150"/>
          </a:xfrm>
          <a:prstGeom prst="rect">
            <a:avLst/>
          </a:prstGeom>
          <a:noFill/>
          <a:ln w="0">
            <a:noFill/>
          </a:ln>
        </p:spPr>
        <p:txBody>
          <a:bodyPr lIns="0" tIns="0" rIns="0" bIns="0" anchor="t">
            <a:noAutofit/>
          </a:bodyPr>
          <a:lstStyle>
            <a:defPPr algn="l">
              <a:defRPr sz="1350" b="0">
                <a:solidFill>
                  <a:srgbClr val="232323"/>
                </a:solidFill>
                <a:latin typeface="Arial" panose="020B0604020202020204"/>
                <a:ea typeface="Arial" panose="020B0604020202020204"/>
                <a:cs typeface="Arial" panose="020B0604020202020204"/>
              </a:defRPr>
            </a:defPPr>
          </a:lstStyle>
          <a:p>
            <a:pPr algn="l">
              <a:lnSpc>
                <a:spcPct val="112000"/>
              </a:lnSpc>
              <a:buNone/>
              <a:defRPr sz="1350" b="0">
                <a:solidFill>
                  <a:srgbClr val="232323"/>
                </a:solidFill>
                <a:latin typeface="Arial" panose="020B0604020202020204"/>
                <a:ea typeface="Arial" panose="020B0604020202020204"/>
                <a:cs typeface="Arial" panose="020B0604020202020204"/>
              </a:defRPr>
            </a:pPr>
            <a:r>
              <a:rPr sz="1350" b="0">
                <a:solidFill>
                  <a:srgbClr val="232323"/>
                </a:solidFill>
                <a:latin typeface="Arial" panose="020B0604020202020204"/>
                <a:ea typeface="Arial" panose="020B0604020202020204"/>
                <a:cs typeface="Arial" panose="020B0604020202020204"/>
              </a:rPr>
              <a:t>Define estilos e adapta o layout às telas.</a:t>
            </a:r>
            <a:endParaRPr sz="1350" b="0">
              <a:solidFill>
                <a:srgbClr val="232323"/>
              </a:solidFill>
              <a:latin typeface="Arial" panose="020B0604020202020204"/>
              <a:ea typeface="Arial" panose="020B0604020202020204"/>
              <a:cs typeface="Arial" panose="020B0604020202020204"/>
            </a:endParaRPr>
          </a:p>
        </p:txBody>
      </p:sp>
      <p:sp>
        <p:nvSpPr>
          <p:cNvPr id="132" name="Persistência PostgreSQL"/>
          <p:cNvSpPr>
            <a:spLocks noGrp="1"/>
          </p:cNvSpPr>
          <p:nvPr/>
        </p:nvSpPr>
        <p:spPr>
          <a:xfrm>
            <a:off x="6086475" y="1781175"/>
            <a:ext cx="2628900" cy="1771650"/>
          </a:xfrm>
          <a:prstGeom prst="rect">
            <a:avLst/>
          </a:prstGeom>
          <a:solidFill>
            <a:srgbClr val="FAFAFA"/>
          </a:solidFill>
          <a:ln w="9525">
            <a:solidFill>
              <a:srgbClr val="B9B9B9"/>
            </a:solidFill>
          </a:ln>
        </p:spPr>
      </p:sp>
      <p:sp>
        <p:nvSpPr>
          <p:cNvPr id="133" name="Persistência PostgreSQL title"/>
          <p:cNvSpPr>
            <a:spLocks noGrp="1"/>
          </p:cNvSpPr>
          <p:nvPr/>
        </p:nvSpPr>
        <p:spPr>
          <a:xfrm>
            <a:off x="6229350" y="1895475"/>
            <a:ext cx="2343150" cy="285750"/>
          </a:xfrm>
          <a:prstGeom prst="rect">
            <a:avLst/>
          </a:prstGeom>
          <a:noFill/>
          <a:ln w="0">
            <a:noFill/>
          </a:ln>
        </p:spPr>
        <p:txBody>
          <a:bodyPr lIns="0" tIns="0" rIns="0" bIns="0" anchor="t">
            <a:noAutofit/>
          </a:bodyPr>
          <a:lstStyle>
            <a:defPPr algn="l">
              <a:defRPr sz="1725" b="1">
                <a:solidFill>
                  <a:srgbClr val="232323"/>
                </a:solidFill>
                <a:latin typeface="Arial" panose="020B0604020202020204"/>
                <a:ea typeface="Arial" panose="020B0604020202020204"/>
                <a:cs typeface="Arial" panose="020B0604020202020204"/>
              </a:defRPr>
            </a:defPPr>
          </a:lstStyle>
          <a:p>
            <a:pPr algn="l">
              <a:lnSpc>
                <a:spcPct val="112000"/>
              </a:lnSpc>
              <a:buNone/>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PostgreSQL</a:t>
            </a:r>
            <a:endParaRPr sz="1725" b="1">
              <a:solidFill>
                <a:srgbClr val="232323"/>
              </a:solidFill>
              <a:latin typeface="Arial" panose="020B0604020202020204"/>
              <a:ea typeface="Arial" panose="020B0604020202020204"/>
              <a:cs typeface="Arial" panose="020B0604020202020204"/>
            </a:endParaRPr>
          </a:p>
        </p:txBody>
      </p:sp>
      <p:sp>
        <p:nvSpPr>
          <p:cNvPr id="134" name="Persistência PostgreSQL description"/>
          <p:cNvSpPr>
            <a:spLocks noGrp="1"/>
          </p:cNvSpPr>
          <p:nvPr/>
        </p:nvSpPr>
        <p:spPr>
          <a:xfrm>
            <a:off x="6229350" y="2228850"/>
            <a:ext cx="2343150" cy="1266825"/>
          </a:xfrm>
          <a:prstGeom prst="rect">
            <a:avLst/>
          </a:prstGeom>
          <a:noFill/>
          <a:ln w="0">
            <a:noFill/>
          </a:ln>
        </p:spPr>
        <p:txBody>
          <a:bodyPr lIns="0" tIns="0" rIns="0" bIns="0" anchor="t">
            <a:noAutofit/>
          </a:bodyPr>
          <a:lstStyle>
            <a:defPPr algn="l">
              <a:defRPr sz="1575" b="0">
                <a:solidFill>
                  <a:srgbClr val="232323"/>
                </a:solidFill>
                <a:latin typeface="Arial" panose="020B0604020202020204"/>
                <a:ea typeface="Arial" panose="020B0604020202020204"/>
                <a:cs typeface="Arial" panose="020B0604020202020204"/>
              </a:defRPr>
            </a:defPPr>
          </a:lstStyle>
          <a:p>
            <a:pPr algn="l">
              <a:lnSpc>
                <a:spcPct val="112000"/>
              </a:lnSpc>
              <a:buNone/>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Armazena os registros e mantém as relações entre os dados.</a:t>
            </a:r>
            <a:endParaRPr sz="1575" b="0">
              <a:solidFill>
                <a:srgbClr val="232323"/>
              </a:solidFill>
              <a:latin typeface="Arial" panose="020B0604020202020204"/>
              <a:ea typeface="Arial" panose="020B0604020202020204"/>
              <a:cs typeface="Arial" panose="020B0604020202020204"/>
            </a:endParaRPr>
          </a:p>
        </p:txBody>
      </p:sp>
      <p:sp>
        <p:nvSpPr>
          <p:cNvPr id="135" name="Persistência Cloudinary"/>
          <p:cNvSpPr>
            <a:spLocks noGrp="1"/>
          </p:cNvSpPr>
          <p:nvPr/>
        </p:nvSpPr>
        <p:spPr>
          <a:xfrm>
            <a:off x="6086475" y="3686175"/>
            <a:ext cx="2628900" cy="1771650"/>
          </a:xfrm>
          <a:prstGeom prst="rect">
            <a:avLst/>
          </a:prstGeom>
          <a:solidFill>
            <a:srgbClr val="FAFAFA"/>
          </a:solidFill>
          <a:ln w="9525">
            <a:solidFill>
              <a:srgbClr val="B9B9B9"/>
            </a:solidFill>
          </a:ln>
        </p:spPr>
      </p:sp>
      <p:sp>
        <p:nvSpPr>
          <p:cNvPr id="136" name="Persistência Cloudinary title"/>
          <p:cNvSpPr>
            <a:spLocks noGrp="1"/>
          </p:cNvSpPr>
          <p:nvPr/>
        </p:nvSpPr>
        <p:spPr>
          <a:xfrm>
            <a:off x="6229350" y="3800475"/>
            <a:ext cx="2343150" cy="285750"/>
          </a:xfrm>
          <a:prstGeom prst="rect">
            <a:avLst/>
          </a:prstGeom>
          <a:noFill/>
          <a:ln w="0">
            <a:noFill/>
          </a:ln>
        </p:spPr>
        <p:txBody>
          <a:bodyPr lIns="0" tIns="0" rIns="0" bIns="0" anchor="t">
            <a:noAutofit/>
          </a:bodyPr>
          <a:lstStyle>
            <a:defPPr algn="l">
              <a:defRPr sz="1725" b="1">
                <a:solidFill>
                  <a:srgbClr val="232323"/>
                </a:solidFill>
                <a:latin typeface="Arial" panose="020B0604020202020204"/>
                <a:ea typeface="Arial" panose="020B0604020202020204"/>
                <a:cs typeface="Arial" panose="020B0604020202020204"/>
              </a:defRPr>
            </a:defPPr>
          </a:lstStyle>
          <a:p>
            <a:pPr algn="l">
              <a:lnSpc>
                <a:spcPct val="112000"/>
              </a:lnSpc>
              <a:buNone/>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Cloudinary</a:t>
            </a:r>
            <a:endParaRPr sz="1725" b="1">
              <a:solidFill>
                <a:srgbClr val="232323"/>
              </a:solidFill>
              <a:latin typeface="Arial" panose="020B0604020202020204"/>
              <a:ea typeface="Arial" panose="020B0604020202020204"/>
              <a:cs typeface="Arial" panose="020B0604020202020204"/>
            </a:endParaRPr>
          </a:p>
        </p:txBody>
      </p:sp>
      <p:sp>
        <p:nvSpPr>
          <p:cNvPr id="137" name="Persistência Cloudinary description"/>
          <p:cNvSpPr>
            <a:spLocks noGrp="1"/>
          </p:cNvSpPr>
          <p:nvPr/>
        </p:nvSpPr>
        <p:spPr>
          <a:xfrm>
            <a:off x="6229350" y="4133850"/>
            <a:ext cx="2343150" cy="1266825"/>
          </a:xfrm>
          <a:prstGeom prst="rect">
            <a:avLst/>
          </a:prstGeom>
          <a:noFill/>
          <a:ln w="0">
            <a:noFill/>
          </a:ln>
        </p:spPr>
        <p:txBody>
          <a:bodyPr lIns="0" tIns="0" rIns="0" bIns="0" anchor="t">
            <a:noAutofit/>
          </a:bodyPr>
          <a:lstStyle>
            <a:defPPr algn="l">
              <a:defRPr sz="1575" b="0">
                <a:solidFill>
                  <a:srgbClr val="232323"/>
                </a:solidFill>
                <a:latin typeface="Arial" panose="020B0604020202020204"/>
                <a:ea typeface="Arial" panose="020B0604020202020204"/>
                <a:cs typeface="Arial" panose="020B0604020202020204"/>
              </a:defRPr>
            </a:defPPr>
          </a:lstStyle>
          <a:p>
            <a:pPr algn="l">
              <a:lnSpc>
                <a:spcPct val="112000"/>
              </a:lnSpc>
              <a:buNone/>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Armazena e disponibiliza imagens de produtos, logos e banners.</a:t>
            </a:r>
            <a:endParaRPr sz="1575" b="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4" name="Conector de Seta Reta 103"/>
          <p:cNvCxnSpPr>
            <a:stCxn id="111" idx="3"/>
            <a:endCxn id="112" idx="1"/>
          </p:cNvCxnSpPr>
          <p:nvPr/>
        </p:nvCxnSpPr>
        <p:spPr>
          <a:xfrm>
            <a:off x="6600825" y="2352675"/>
            <a:ext cx="371475" cy="0"/>
          </a:xfrm>
          <a:prstGeom prst="straightConnector1">
            <a:avLst/>
          </a:prstGeom>
          <a:ln w="19050">
            <a:solidFill>
              <a:srgbClr val="BD0000"/>
            </a:solidFill>
            <a:tailEnd type="triangle" w="sm" len="sm"/>
          </a:ln>
        </p:spPr>
      </p:cxnSp>
      <p:cxnSp>
        <p:nvCxnSpPr>
          <p:cNvPr id="105" name="Conector de Seta Reta 104"/>
          <p:cNvCxnSpPr>
            <a:stCxn id="110" idx="3"/>
            <a:endCxn id="111" idx="1"/>
          </p:cNvCxnSpPr>
          <p:nvPr/>
        </p:nvCxnSpPr>
        <p:spPr>
          <a:xfrm>
            <a:off x="4419600" y="2352675"/>
            <a:ext cx="371475" cy="0"/>
          </a:xfrm>
          <a:prstGeom prst="straightConnector1">
            <a:avLst/>
          </a:prstGeom>
          <a:ln w="19050">
            <a:solidFill>
              <a:srgbClr val="BD0000"/>
            </a:solidFill>
            <a:tailEnd type="triangle" w="sm" len="sm"/>
          </a:ln>
        </p:spPr>
      </p:cxnSp>
      <p:cxnSp>
        <p:nvCxnSpPr>
          <p:cNvPr id="106" name="Conector de Seta Reta 105"/>
          <p:cNvCxnSpPr>
            <a:stCxn id="109" idx="3"/>
            <a:endCxn id="110" idx="1"/>
          </p:cNvCxnSpPr>
          <p:nvPr/>
        </p:nvCxnSpPr>
        <p:spPr>
          <a:xfrm>
            <a:off x="2238375" y="2352675"/>
            <a:ext cx="371475" cy="0"/>
          </a:xfrm>
          <a:prstGeom prst="straightConnector1">
            <a:avLst/>
          </a:prstGeom>
          <a:ln w="19050">
            <a:solidFill>
              <a:srgbClr val="BD0000"/>
            </a:solidFill>
            <a:tailEnd type="triangle" w="sm" len="sm"/>
          </a:ln>
        </p:spPr>
      </p:cxnSp>
      <p:sp>
        <p:nvSpPr>
          <p:cNvPr id="107"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PROJETO NAVEGACIONAL</a:t>
            </a:r>
            <a:endParaRPr sz="2400" b="1">
              <a:solidFill>
                <a:srgbClr val="232323"/>
              </a:solidFill>
              <a:latin typeface="Arial" panose="020B0604020202020204"/>
              <a:ea typeface="Arial" panose="020B0604020202020204"/>
              <a:cs typeface="Arial" panose="020B0604020202020204"/>
            </a:endParaRPr>
          </a:p>
        </p:txBody>
      </p:sp>
      <p:sp>
        <p:nvSpPr>
          <p:cNvPr id="108" name="Cliente"/>
          <p:cNvSpPr>
            <a:spLocks noGrp="1"/>
          </p:cNvSpPr>
          <p:nvPr/>
        </p:nvSpPr>
        <p:spPr>
          <a:xfrm>
            <a:off x="428625" y="1409700"/>
            <a:ext cx="8096250" cy="323850"/>
          </a:xfrm>
          <a:prstGeom prst="rect">
            <a:avLst/>
          </a:prstGeom>
          <a:noFill/>
          <a:ln w="0">
            <a:noFill/>
          </a:ln>
        </p:spPr>
        <p:txBody>
          <a:bodyPr lIns="0" tIns="0" rIns="0" bIns="0" anchor="t">
            <a:noAutofit/>
          </a:bodyPr>
          <a:lstStyle/>
          <a:p>
            <a:pPr algn="l">
              <a:defRPr sz="1950" b="1">
                <a:solidFill>
                  <a:srgbClr val="BD0000"/>
                </a:solidFill>
                <a:latin typeface="Arial" panose="020B0604020202020204"/>
                <a:ea typeface="Arial" panose="020B0604020202020204"/>
                <a:cs typeface="Arial" panose="020B0604020202020204"/>
              </a:defRPr>
            </a:pPr>
            <a:r>
              <a:rPr sz="1950" b="1">
                <a:solidFill>
                  <a:srgbClr val="BD0000"/>
                </a:solidFill>
                <a:latin typeface="Arial" panose="020B0604020202020204"/>
                <a:ea typeface="Arial" panose="020B0604020202020204"/>
                <a:cs typeface="Arial" panose="020B0604020202020204"/>
              </a:rPr>
              <a:t>Cliente</a:t>
            </a:r>
            <a:endParaRPr sz="1950" b="1">
              <a:solidFill>
                <a:srgbClr val="BD0000"/>
              </a:solidFill>
              <a:latin typeface="Arial" panose="020B0604020202020204"/>
              <a:ea typeface="Arial" panose="020B0604020202020204"/>
              <a:cs typeface="Arial" panose="020B0604020202020204"/>
            </a:endParaRPr>
          </a:p>
        </p:txBody>
      </p:sp>
      <p:sp>
        <p:nvSpPr>
          <p:cNvPr id="109" name="Catálogo"/>
          <p:cNvSpPr>
            <a:spLocks noGrp="1"/>
          </p:cNvSpPr>
          <p:nvPr/>
        </p:nvSpPr>
        <p:spPr>
          <a:xfrm>
            <a:off x="428625" y="1924050"/>
            <a:ext cx="1809750" cy="85725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Lojas</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Busca e filtros por segmentos</a:t>
            </a:r>
            <a:endParaRPr sz="1350">
              <a:solidFill>
                <a:srgbClr val="232323"/>
              </a:solidFill>
              <a:latin typeface="Arial" panose="020B0604020202020204"/>
              <a:ea typeface="Arial" panose="020B0604020202020204"/>
              <a:cs typeface="Arial" panose="020B0604020202020204"/>
            </a:endParaRPr>
          </a:p>
        </p:txBody>
      </p:sp>
      <p:sp>
        <p:nvSpPr>
          <p:cNvPr id="110" name="Produto"/>
          <p:cNvSpPr>
            <a:spLocks noGrp="1"/>
          </p:cNvSpPr>
          <p:nvPr/>
        </p:nvSpPr>
        <p:spPr>
          <a:xfrm>
            <a:off x="2609850" y="1924050"/>
            <a:ext cx="1809750" cy="85725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Produto</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Fotos e detalhes</a:t>
            </a:r>
            <a:endParaRPr sz="1350">
              <a:solidFill>
                <a:srgbClr val="232323"/>
              </a:solidFill>
              <a:latin typeface="Arial" panose="020B0604020202020204"/>
              <a:ea typeface="Arial" panose="020B0604020202020204"/>
              <a:cs typeface="Arial" panose="020B0604020202020204"/>
            </a:endParaRPr>
          </a:p>
        </p:txBody>
      </p:sp>
      <p:sp>
        <p:nvSpPr>
          <p:cNvPr id="111" name="Carrinho"/>
          <p:cNvSpPr>
            <a:spLocks noGrp="1"/>
          </p:cNvSpPr>
          <p:nvPr/>
        </p:nvSpPr>
        <p:spPr>
          <a:xfrm>
            <a:off x="4791075" y="1924050"/>
            <a:ext cx="1809750" cy="85725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Carrinho</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Itens e quantidades</a:t>
            </a:r>
            <a:endParaRPr sz="1350">
              <a:solidFill>
                <a:srgbClr val="232323"/>
              </a:solidFill>
              <a:latin typeface="Arial" panose="020B0604020202020204"/>
              <a:ea typeface="Arial" panose="020B0604020202020204"/>
              <a:cs typeface="Arial" panose="020B0604020202020204"/>
            </a:endParaRPr>
          </a:p>
        </p:txBody>
      </p:sp>
      <p:sp>
        <p:nvSpPr>
          <p:cNvPr id="112" name="WhatsApp"/>
          <p:cNvSpPr>
            <a:spLocks noGrp="1"/>
          </p:cNvSpPr>
          <p:nvPr/>
        </p:nvSpPr>
        <p:spPr>
          <a:xfrm>
            <a:off x="6972300" y="1924050"/>
            <a:ext cx="1743075" cy="857250"/>
          </a:xfrm>
          <a:prstGeom prst="rect">
            <a:avLst/>
          </a:prstGeom>
          <a:solidFill>
            <a:srgbClr val="FFFFFF"/>
          </a:solidFill>
          <a:ln w="9525">
            <a:solidFill>
              <a:srgbClr val="8A8A8A"/>
            </a:solidFill>
          </a:ln>
        </p:spPr>
        <p:txBody>
          <a:bodyPr lIns="57150" tIns="76200" rIns="57150" bIns="76200" anchor="ctr">
            <a:noAutofit/>
          </a:bodyPr>
          <a:lstStyle/>
          <a:p>
            <a:pPr algn="ctr">
              <a:defRPr>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WhatsApp</a:t>
            </a:r>
            <a:endParaRPr sz="1725" b="1">
              <a:solidFill>
                <a:srgbClr val="232323"/>
              </a:solidFill>
              <a:latin typeface="Arial" panose="020B0604020202020204"/>
              <a:ea typeface="Arial" panose="020B0604020202020204"/>
              <a:cs typeface="Arial" panose="020B0604020202020204"/>
            </a:endParaRPr>
          </a:p>
          <a:p>
            <a:pPr algn="ctr">
              <a:defRPr>
                <a:solidFill>
                  <a:srgbClr val="232323"/>
                </a:solidFill>
                <a:latin typeface="Arial" panose="020B0604020202020204"/>
                <a:ea typeface="Arial" panose="020B0604020202020204"/>
                <a:cs typeface="Arial" panose="020B0604020202020204"/>
              </a:defRPr>
            </a:pPr>
            <a:r>
              <a:rPr sz="1350">
                <a:solidFill>
                  <a:srgbClr val="232323"/>
                </a:solidFill>
                <a:latin typeface="Arial" panose="020B0604020202020204"/>
                <a:ea typeface="Arial" panose="020B0604020202020204"/>
                <a:cs typeface="Arial" panose="020B0604020202020204"/>
              </a:rPr>
              <a:t>Contato com a loja</a:t>
            </a:r>
            <a:endParaRPr sz="1350">
              <a:solidFill>
                <a:srgbClr val="232323"/>
              </a:solidFill>
              <a:latin typeface="Arial" panose="020B0604020202020204"/>
              <a:ea typeface="Arial" panose="020B0604020202020204"/>
              <a:cs typeface="Arial" panose="020B0604020202020204"/>
            </a:endParaRPr>
          </a:p>
        </p:txBody>
      </p:sp>
      <p:sp>
        <p:nvSpPr>
          <p:cNvPr id="113" name="Lojista"/>
          <p:cNvSpPr>
            <a:spLocks noGrp="1"/>
          </p:cNvSpPr>
          <p:nvPr/>
        </p:nvSpPr>
        <p:spPr>
          <a:xfrm>
            <a:off x="428625" y="3305175"/>
            <a:ext cx="8096250" cy="323850"/>
          </a:xfrm>
          <a:prstGeom prst="rect">
            <a:avLst/>
          </a:prstGeom>
          <a:noFill/>
          <a:ln w="0">
            <a:noFill/>
          </a:ln>
        </p:spPr>
        <p:txBody>
          <a:bodyPr lIns="0" tIns="0" rIns="0" bIns="0" anchor="t">
            <a:noAutofit/>
          </a:bodyPr>
          <a:lstStyle/>
          <a:p>
            <a:pPr algn="l">
              <a:defRPr sz="1950" b="1">
                <a:solidFill>
                  <a:srgbClr val="BD0000"/>
                </a:solidFill>
                <a:latin typeface="Arial" panose="020B0604020202020204"/>
                <a:ea typeface="Arial" panose="020B0604020202020204"/>
                <a:cs typeface="Arial" panose="020B0604020202020204"/>
              </a:defRPr>
            </a:pPr>
            <a:r>
              <a:rPr sz="1950" b="1">
                <a:solidFill>
                  <a:srgbClr val="BD0000"/>
                </a:solidFill>
                <a:latin typeface="Arial" panose="020B0604020202020204"/>
                <a:ea typeface="Arial" panose="020B0604020202020204"/>
                <a:cs typeface="Arial" panose="020B0604020202020204"/>
              </a:rPr>
              <a:t>Lojista</a:t>
            </a:r>
            <a:endParaRPr sz="1950" b="1">
              <a:solidFill>
                <a:srgbClr val="BD0000"/>
              </a:solidFill>
              <a:latin typeface="Arial" panose="020B0604020202020204"/>
              <a:ea typeface="Arial" panose="020B0604020202020204"/>
              <a:cs typeface="Arial" panose="020B0604020202020204"/>
            </a:endParaRPr>
          </a:p>
        </p:txBody>
      </p:sp>
      <p:cxnSp>
        <p:nvCxnSpPr>
          <p:cNvPr id="213" name="Conector de Seta Reta 212"/>
          <p:cNvCxnSpPr>
            <a:stCxn id="218" idx="3"/>
            <a:endCxn id="221" idx="1"/>
          </p:cNvCxnSpPr>
          <p:nvPr/>
        </p:nvCxnSpPr>
        <p:spPr>
          <a:xfrm>
            <a:off x="4762500" y="4672013"/>
            <a:ext cx="371475" cy="4763"/>
          </a:xfrm>
          <a:prstGeom prst="straightConnector1">
            <a:avLst/>
          </a:prstGeom>
          <a:ln w="14288">
            <a:solidFill>
              <a:srgbClr val="BD0000"/>
            </a:solidFill>
            <a:tailEnd type="triangle" w="sm" len="sm"/>
          </a:ln>
        </p:spPr>
      </p:cxnSp>
      <p:cxnSp>
        <p:nvCxnSpPr>
          <p:cNvPr id="214" name="Conector de Seta Reta 213"/>
          <p:cNvCxnSpPr>
            <a:stCxn id="215" idx="3"/>
            <a:endCxn id="218" idx="1"/>
          </p:cNvCxnSpPr>
          <p:nvPr/>
        </p:nvCxnSpPr>
        <p:spPr>
          <a:xfrm>
            <a:off x="2543175" y="4672013"/>
            <a:ext cx="333375" cy="0"/>
          </a:xfrm>
          <a:prstGeom prst="straightConnector1">
            <a:avLst/>
          </a:prstGeom>
          <a:ln w="14288">
            <a:solidFill>
              <a:srgbClr val="BD0000"/>
            </a:solidFill>
            <a:tailEnd type="triangle" w="sm" len="sm"/>
          </a:ln>
        </p:spPr>
      </p:cxnSp>
      <p:sp>
        <p:nvSpPr>
          <p:cNvPr id="215" name="Página comercial"/>
          <p:cNvSpPr>
            <a:spLocks noGrp="1"/>
          </p:cNvSpPr>
          <p:nvPr/>
        </p:nvSpPr>
        <p:spPr>
          <a:xfrm>
            <a:off x="428625" y="4029075"/>
            <a:ext cx="2114550" cy="1285875"/>
          </a:xfrm>
          <a:prstGeom prst="rect">
            <a:avLst/>
          </a:prstGeom>
          <a:solidFill>
            <a:srgbClr val="FAFAFA"/>
          </a:solidFill>
          <a:ln w="9525">
            <a:solidFill>
              <a:srgbClr val="B9B9B9"/>
            </a:solidFill>
          </a:ln>
        </p:spPr>
      </p:sp>
      <p:sp>
        <p:nvSpPr>
          <p:cNvPr id="216" name="Página comercial title"/>
          <p:cNvSpPr>
            <a:spLocks noGrp="1"/>
          </p:cNvSpPr>
          <p:nvPr/>
        </p:nvSpPr>
        <p:spPr>
          <a:xfrm>
            <a:off x="571500" y="4143375"/>
            <a:ext cx="1828800" cy="285750"/>
          </a:xfrm>
          <a:prstGeom prst="rect">
            <a:avLst/>
          </a:prstGeom>
          <a:noFill/>
          <a:ln w="0">
            <a:noFill/>
          </a:ln>
        </p:spPr>
        <p:txBody>
          <a:bodyPr lIns="0" tIns="0" rIns="0" bIns="0" anchor="t">
            <a:noAutofit/>
          </a:bodyPr>
          <a:lstStyle>
            <a:defPPr algn="l">
              <a:defRPr sz="1650" b="1">
                <a:solidFill>
                  <a:srgbClr val="232323"/>
                </a:solidFill>
                <a:latin typeface="Arial" panose="020B0604020202020204"/>
                <a:ea typeface="Arial" panose="020B0604020202020204"/>
                <a:cs typeface="Arial" panose="020B0604020202020204"/>
              </a:defRPr>
            </a:defPPr>
          </a:lstStyle>
          <a:p>
            <a:pPr algn="l">
              <a:lnSpc>
                <a:spcPct val="112000"/>
              </a:lnSpc>
              <a:buNone/>
              <a:defRPr sz="1650" b="1">
                <a:solidFill>
                  <a:srgbClr val="232323"/>
                </a:solidFill>
                <a:latin typeface="Arial" panose="020B0604020202020204"/>
                <a:ea typeface="Arial" panose="020B0604020202020204"/>
                <a:cs typeface="Arial" panose="020B0604020202020204"/>
              </a:defRPr>
            </a:pPr>
            <a:r>
              <a:rPr sz="1650" b="1">
                <a:solidFill>
                  <a:srgbClr val="232323"/>
                </a:solidFill>
                <a:latin typeface="Arial" panose="020B0604020202020204"/>
                <a:ea typeface="Arial" panose="020B0604020202020204"/>
                <a:cs typeface="Arial" panose="020B0604020202020204"/>
              </a:rPr>
              <a:t>Página comercial</a:t>
            </a:r>
            <a:endParaRPr sz="1650" b="1">
              <a:solidFill>
                <a:srgbClr val="232323"/>
              </a:solidFill>
              <a:latin typeface="Arial" panose="020B0604020202020204"/>
              <a:ea typeface="Arial" panose="020B0604020202020204"/>
              <a:cs typeface="Arial" panose="020B0604020202020204"/>
            </a:endParaRPr>
          </a:p>
        </p:txBody>
      </p:sp>
      <p:sp>
        <p:nvSpPr>
          <p:cNvPr id="217" name="Página comercial description"/>
          <p:cNvSpPr>
            <a:spLocks noGrp="1"/>
          </p:cNvSpPr>
          <p:nvPr/>
        </p:nvSpPr>
        <p:spPr>
          <a:xfrm>
            <a:off x="571500" y="4476750"/>
            <a:ext cx="1828800" cy="781050"/>
          </a:xfrm>
          <a:prstGeom prst="rect">
            <a:avLst/>
          </a:prstGeom>
          <a:noFill/>
          <a:ln w="0">
            <a:noFill/>
          </a:ln>
        </p:spPr>
        <p:txBody>
          <a:bodyPr lIns="0" tIns="0" rIns="0" bIns="0" anchor="t">
            <a:noAutofit/>
          </a:bodyPr>
          <a:lstStyle>
            <a:defPPr algn="l">
              <a:defRPr sz="1500" b="0">
                <a:solidFill>
                  <a:srgbClr val="232323"/>
                </a:solidFill>
                <a:latin typeface="Arial" panose="020B0604020202020204"/>
                <a:ea typeface="Arial" panose="020B0604020202020204"/>
                <a:cs typeface="Arial" panose="020B0604020202020204"/>
              </a:defRPr>
            </a:defPPr>
          </a:lstStyle>
          <a:p>
            <a:pPr algn="l">
              <a:lnSpc>
                <a:spcPct val="112000"/>
              </a:lnSpc>
              <a:buNone/>
              <a:defRPr sz="1500" b="0">
                <a:solidFill>
                  <a:srgbClr val="232323"/>
                </a:solidFill>
                <a:latin typeface="Arial" panose="020B0604020202020204"/>
                <a:ea typeface="Arial" panose="020B0604020202020204"/>
                <a:cs typeface="Arial" panose="020B0604020202020204"/>
              </a:defRPr>
            </a:pPr>
            <a:r>
              <a:rPr sz="1500" b="0">
                <a:solidFill>
                  <a:srgbClr val="232323"/>
                </a:solidFill>
                <a:latin typeface="Arial" panose="020B0604020202020204"/>
                <a:ea typeface="Arial" panose="020B0604020202020204"/>
                <a:cs typeface="Arial" panose="020B0604020202020204"/>
              </a:rPr>
              <a:t>Apresentação da</a:t>
            </a:r>
            <a:endParaRPr sz="1500" b="0">
              <a:solidFill>
                <a:srgbClr val="232323"/>
              </a:solidFill>
              <a:latin typeface="Arial" panose="020B0604020202020204"/>
              <a:ea typeface="Arial" panose="020B0604020202020204"/>
              <a:cs typeface="Arial" panose="020B0604020202020204"/>
            </a:endParaRPr>
          </a:p>
          <a:p>
            <a:pPr algn="l">
              <a:lnSpc>
                <a:spcPct val="112000"/>
              </a:lnSpc>
              <a:buNone/>
              <a:defRPr sz="1500" b="0">
                <a:solidFill>
                  <a:srgbClr val="232323"/>
                </a:solidFill>
                <a:latin typeface="Arial" panose="020B0604020202020204"/>
                <a:ea typeface="Arial" panose="020B0604020202020204"/>
                <a:cs typeface="Arial" panose="020B0604020202020204"/>
              </a:defRPr>
            </a:pPr>
            <a:r>
              <a:rPr sz="1500" b="0">
                <a:solidFill>
                  <a:srgbClr val="232323"/>
                </a:solidFill>
                <a:latin typeface="Arial" panose="020B0604020202020204"/>
                <a:ea typeface="Arial" panose="020B0604020202020204"/>
                <a:cs typeface="Arial" panose="020B0604020202020204"/>
              </a:rPr>
              <a:t>Vitrine Web</a:t>
            </a:r>
            <a:endParaRPr sz="1500" b="0">
              <a:solidFill>
                <a:srgbClr val="232323"/>
              </a:solidFill>
              <a:latin typeface="Arial" panose="020B0604020202020204"/>
              <a:ea typeface="Arial" panose="020B0604020202020204"/>
              <a:cs typeface="Arial" panose="020B0604020202020204"/>
            </a:endParaRPr>
          </a:p>
        </p:txBody>
      </p:sp>
      <p:sp>
        <p:nvSpPr>
          <p:cNvPr id="218" name="Entrar"/>
          <p:cNvSpPr>
            <a:spLocks noGrp="1"/>
          </p:cNvSpPr>
          <p:nvPr/>
        </p:nvSpPr>
        <p:spPr>
          <a:xfrm>
            <a:off x="2876550" y="4029075"/>
            <a:ext cx="1885950" cy="1285875"/>
          </a:xfrm>
          <a:prstGeom prst="rect">
            <a:avLst/>
          </a:prstGeom>
          <a:solidFill>
            <a:srgbClr val="FAFAFA"/>
          </a:solidFill>
          <a:ln w="9525">
            <a:solidFill>
              <a:srgbClr val="B9B9B9"/>
            </a:solidFill>
          </a:ln>
        </p:spPr>
      </p:sp>
      <p:sp>
        <p:nvSpPr>
          <p:cNvPr id="219" name="Entrar title"/>
          <p:cNvSpPr>
            <a:spLocks noGrp="1"/>
          </p:cNvSpPr>
          <p:nvPr/>
        </p:nvSpPr>
        <p:spPr>
          <a:xfrm>
            <a:off x="3019425" y="4143375"/>
            <a:ext cx="1600200" cy="285750"/>
          </a:xfrm>
          <a:prstGeom prst="rect">
            <a:avLst/>
          </a:prstGeom>
          <a:noFill/>
          <a:ln w="0">
            <a:noFill/>
          </a:ln>
        </p:spPr>
        <p:txBody>
          <a:bodyPr lIns="0" tIns="0" rIns="0" bIns="0" anchor="t">
            <a:noAutofit/>
          </a:bodyPr>
          <a:lstStyle>
            <a:defPPr algn="l">
              <a:defRPr sz="1650" b="1">
                <a:solidFill>
                  <a:srgbClr val="232323"/>
                </a:solidFill>
                <a:latin typeface="Arial" panose="020B0604020202020204"/>
                <a:ea typeface="Arial" panose="020B0604020202020204"/>
                <a:cs typeface="Arial" panose="020B0604020202020204"/>
              </a:defRPr>
            </a:defPPr>
          </a:lstStyle>
          <a:p>
            <a:pPr algn="l">
              <a:lnSpc>
                <a:spcPct val="112000"/>
              </a:lnSpc>
              <a:buNone/>
              <a:defRPr sz="1650" b="1">
                <a:solidFill>
                  <a:srgbClr val="232323"/>
                </a:solidFill>
                <a:latin typeface="Arial" panose="020B0604020202020204"/>
                <a:ea typeface="Arial" panose="020B0604020202020204"/>
                <a:cs typeface="Arial" panose="020B0604020202020204"/>
              </a:defRPr>
            </a:pPr>
            <a:r>
              <a:rPr sz="1650" b="1">
                <a:solidFill>
                  <a:srgbClr val="232323"/>
                </a:solidFill>
                <a:latin typeface="Arial" panose="020B0604020202020204"/>
                <a:ea typeface="Arial" panose="020B0604020202020204"/>
                <a:cs typeface="Arial" panose="020B0604020202020204"/>
              </a:rPr>
              <a:t>Entrar</a:t>
            </a:r>
            <a:endParaRPr sz="1650" b="1">
              <a:solidFill>
                <a:srgbClr val="232323"/>
              </a:solidFill>
              <a:latin typeface="Arial" panose="020B0604020202020204"/>
              <a:ea typeface="Arial" panose="020B0604020202020204"/>
              <a:cs typeface="Arial" panose="020B0604020202020204"/>
            </a:endParaRPr>
          </a:p>
        </p:txBody>
      </p:sp>
      <p:sp>
        <p:nvSpPr>
          <p:cNvPr id="220" name="Entrar description"/>
          <p:cNvSpPr>
            <a:spLocks noGrp="1"/>
          </p:cNvSpPr>
          <p:nvPr/>
        </p:nvSpPr>
        <p:spPr>
          <a:xfrm>
            <a:off x="3019425" y="4476750"/>
            <a:ext cx="1600200" cy="781050"/>
          </a:xfrm>
          <a:prstGeom prst="rect">
            <a:avLst/>
          </a:prstGeom>
          <a:noFill/>
          <a:ln w="0">
            <a:noFill/>
          </a:ln>
        </p:spPr>
        <p:txBody>
          <a:bodyPr lIns="0" tIns="0" rIns="0" bIns="0" anchor="t">
            <a:noAutofit/>
          </a:bodyPr>
          <a:lstStyle>
            <a:defPPr algn="l">
              <a:defRPr sz="1500" b="0">
                <a:solidFill>
                  <a:srgbClr val="232323"/>
                </a:solidFill>
                <a:latin typeface="Arial" panose="020B0604020202020204"/>
                <a:ea typeface="Arial" panose="020B0604020202020204"/>
                <a:cs typeface="Arial" panose="020B0604020202020204"/>
              </a:defRPr>
            </a:defPPr>
          </a:lstStyle>
          <a:p>
            <a:pPr algn="l">
              <a:lnSpc>
                <a:spcPct val="112000"/>
              </a:lnSpc>
              <a:buNone/>
              <a:defRPr sz="1500" b="0">
                <a:solidFill>
                  <a:srgbClr val="232323"/>
                </a:solidFill>
                <a:latin typeface="Arial" panose="020B0604020202020204"/>
                <a:ea typeface="Arial" panose="020B0604020202020204"/>
                <a:cs typeface="Arial" panose="020B0604020202020204"/>
              </a:defRPr>
            </a:pPr>
            <a:r>
              <a:rPr sz="1500" b="0">
                <a:solidFill>
                  <a:srgbClr val="232323"/>
                </a:solidFill>
                <a:latin typeface="Arial" panose="020B0604020202020204"/>
                <a:ea typeface="Arial" panose="020B0604020202020204"/>
                <a:cs typeface="Arial" panose="020B0604020202020204"/>
              </a:rPr>
              <a:t>Acesso do lojista</a:t>
            </a:r>
            <a:endParaRPr sz="1500" b="0">
              <a:solidFill>
                <a:srgbClr val="232323"/>
              </a:solidFill>
              <a:latin typeface="Arial" panose="020B0604020202020204"/>
              <a:ea typeface="Arial" panose="020B0604020202020204"/>
              <a:cs typeface="Arial" panose="020B0604020202020204"/>
            </a:endParaRPr>
          </a:p>
        </p:txBody>
      </p:sp>
      <p:sp>
        <p:nvSpPr>
          <p:cNvPr id="221" name="Dashboard"/>
          <p:cNvSpPr>
            <a:spLocks noGrp="1"/>
          </p:cNvSpPr>
          <p:nvPr/>
        </p:nvSpPr>
        <p:spPr>
          <a:xfrm>
            <a:off x="5133975" y="3848100"/>
            <a:ext cx="3581400" cy="1657350"/>
          </a:xfrm>
          <a:prstGeom prst="rect">
            <a:avLst/>
          </a:prstGeom>
          <a:solidFill>
            <a:srgbClr val="FAFAFA"/>
          </a:solidFill>
          <a:ln w="9525">
            <a:solidFill>
              <a:srgbClr val="B9B9B9"/>
            </a:solidFill>
          </a:ln>
        </p:spPr>
      </p:sp>
      <p:sp>
        <p:nvSpPr>
          <p:cNvPr id="222" name="Dashboard title"/>
          <p:cNvSpPr>
            <a:spLocks noGrp="1"/>
          </p:cNvSpPr>
          <p:nvPr/>
        </p:nvSpPr>
        <p:spPr>
          <a:xfrm>
            <a:off x="5276850" y="3962400"/>
            <a:ext cx="3295650" cy="285750"/>
          </a:xfrm>
          <a:prstGeom prst="rect">
            <a:avLst/>
          </a:prstGeom>
          <a:noFill/>
          <a:ln w="0">
            <a:noFill/>
          </a:ln>
        </p:spPr>
        <p:txBody>
          <a:bodyPr lIns="0" tIns="0" rIns="0" bIns="0" anchor="t">
            <a:noAutofit/>
          </a:bodyPr>
          <a:lstStyle>
            <a:defPPr algn="l">
              <a:defRPr sz="1725" b="1">
                <a:solidFill>
                  <a:srgbClr val="232323"/>
                </a:solidFill>
                <a:latin typeface="Arial" panose="020B0604020202020204"/>
                <a:ea typeface="Arial" panose="020B0604020202020204"/>
                <a:cs typeface="Arial" panose="020B0604020202020204"/>
              </a:defRPr>
            </a:defPPr>
          </a:lstStyle>
          <a:p>
            <a:pPr algn="l">
              <a:lnSpc>
                <a:spcPct val="112000"/>
              </a:lnSpc>
              <a:buNone/>
              <a:defRPr sz="1725" b="1">
                <a:solidFill>
                  <a:srgbClr val="232323"/>
                </a:solidFill>
                <a:latin typeface="Arial" panose="020B0604020202020204"/>
                <a:ea typeface="Arial" panose="020B0604020202020204"/>
                <a:cs typeface="Arial" panose="020B0604020202020204"/>
              </a:defRPr>
            </a:pPr>
            <a:r>
              <a:rPr sz="1725" b="1">
                <a:solidFill>
                  <a:srgbClr val="232323"/>
                </a:solidFill>
                <a:latin typeface="Arial" panose="020B0604020202020204"/>
                <a:ea typeface="Arial" panose="020B0604020202020204"/>
                <a:cs typeface="Arial" panose="020B0604020202020204"/>
              </a:rPr>
              <a:t>Dashboard do lojista</a:t>
            </a:r>
            <a:endParaRPr sz="1725" b="1">
              <a:solidFill>
                <a:srgbClr val="232323"/>
              </a:solidFill>
              <a:latin typeface="Arial" panose="020B0604020202020204"/>
              <a:ea typeface="Arial" panose="020B0604020202020204"/>
              <a:cs typeface="Arial" panose="020B0604020202020204"/>
            </a:endParaRPr>
          </a:p>
        </p:txBody>
      </p:sp>
      <p:sp>
        <p:nvSpPr>
          <p:cNvPr id="223" name="Dashboard description"/>
          <p:cNvSpPr>
            <a:spLocks noGrp="1"/>
          </p:cNvSpPr>
          <p:nvPr/>
        </p:nvSpPr>
        <p:spPr>
          <a:xfrm>
            <a:off x="5276850" y="4295775"/>
            <a:ext cx="3295650" cy="1152525"/>
          </a:xfrm>
          <a:prstGeom prst="rect">
            <a:avLst/>
          </a:prstGeom>
          <a:noFill/>
          <a:ln w="0">
            <a:noFill/>
          </a:ln>
        </p:spPr>
        <p:txBody>
          <a:bodyPr lIns="0" tIns="0" rIns="0" bIns="0" anchor="t">
            <a:noAutofit/>
          </a:bodyPr>
          <a:lstStyle>
            <a:defPPr algn="l">
              <a:defRPr sz="1575" b="0">
                <a:solidFill>
                  <a:srgbClr val="232323"/>
                </a:solidFill>
                <a:latin typeface="Arial" panose="020B0604020202020204"/>
                <a:ea typeface="Arial" panose="020B0604020202020204"/>
                <a:cs typeface="Arial" panose="020B0604020202020204"/>
              </a:defRPr>
            </a:defPPr>
          </a:lstStyle>
          <a:p>
            <a:pPr algn="l">
              <a:lnSpc>
                <a:spcPct val="112000"/>
              </a:lnSpc>
              <a:buNone/>
              <a:defRPr sz="1575" b="0">
                <a:solidFill>
                  <a:srgbClr val="232323"/>
                </a:solidFill>
                <a:latin typeface="Arial" panose="020B0604020202020204"/>
                <a:ea typeface="Arial" panose="020B0604020202020204"/>
                <a:cs typeface="Arial" panose="020B0604020202020204"/>
              </a:defRPr>
            </a:pPr>
            <a:r>
              <a:rPr sz="1575" b="0">
                <a:solidFill>
                  <a:srgbClr val="232323"/>
                </a:solidFill>
                <a:latin typeface="Arial" panose="020B0604020202020204"/>
                <a:ea typeface="Arial" panose="020B0604020202020204"/>
                <a:cs typeface="Arial" panose="020B0604020202020204"/>
              </a:rPr>
              <a:t>Consulta os pedidos solicitados e centraliza a gestão de produtos, preços, estoque e dados da loja.</a:t>
            </a:r>
            <a:endParaRPr sz="1575" b="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APRESENTAÇÃO DO PROJETO</a:t>
            </a:r>
            <a:endParaRPr sz="2400" b="1">
              <a:solidFill>
                <a:srgbClr val="232323"/>
              </a:solidFill>
              <a:latin typeface="Arial" panose="020B0604020202020204"/>
              <a:ea typeface="Arial" panose="020B0604020202020204"/>
              <a:cs typeface="Arial" panose="020B0604020202020204"/>
            </a:endParaRPr>
          </a:p>
        </p:txBody>
      </p:sp>
      <p:sp>
        <p:nvSpPr>
          <p:cNvPr id="102" name="Para o cliente"/>
          <p:cNvSpPr>
            <a:spLocks noGrp="1"/>
          </p:cNvSpPr>
          <p:nvPr/>
        </p:nvSpPr>
        <p:spPr>
          <a:xfrm>
            <a:off x="381000" y="1409700"/>
            <a:ext cx="4000500" cy="342900"/>
          </a:xfrm>
          <a:prstGeom prst="rect">
            <a:avLst/>
          </a:prstGeom>
          <a:noFill/>
          <a:ln w="0">
            <a:noFill/>
          </a:ln>
        </p:spPr>
        <p:txBody>
          <a:bodyPr lIns="0" tIns="0" rIns="0" bIns="0" anchor="t">
            <a:noAutofit/>
          </a:bodyPr>
          <a:lstStyle/>
          <a:p>
            <a:pPr algn="l">
              <a:defRPr sz="2025" b="1">
                <a:solidFill>
                  <a:srgbClr val="BD0000"/>
                </a:solidFill>
                <a:latin typeface="Arial" panose="020B0604020202020204"/>
                <a:ea typeface="Arial" panose="020B0604020202020204"/>
                <a:cs typeface="Arial" panose="020B0604020202020204"/>
              </a:defRPr>
            </a:pPr>
            <a:r>
              <a:rPr sz="2025" b="1">
                <a:solidFill>
                  <a:srgbClr val="BD0000"/>
                </a:solidFill>
                <a:latin typeface="Arial" panose="020B0604020202020204"/>
                <a:ea typeface="Arial" panose="020B0604020202020204"/>
                <a:cs typeface="Arial" panose="020B0604020202020204"/>
              </a:rPr>
              <a:t>Para o cliente</a:t>
            </a:r>
            <a:endParaRPr sz="2025" b="1">
              <a:solidFill>
                <a:srgbClr val="BD0000"/>
              </a:solidFill>
              <a:latin typeface="Arial" panose="020B0604020202020204"/>
              <a:ea typeface="Arial" panose="020B0604020202020204"/>
              <a:cs typeface="Arial" panose="020B0604020202020204"/>
            </a:endParaRPr>
          </a:p>
        </p:txBody>
      </p:sp>
      <p:sp>
        <p:nvSpPr>
          <p:cNvPr id="103" name="Para o lojista"/>
          <p:cNvSpPr>
            <a:spLocks noGrp="1"/>
          </p:cNvSpPr>
          <p:nvPr/>
        </p:nvSpPr>
        <p:spPr>
          <a:xfrm>
            <a:off x="4762500" y="1409700"/>
            <a:ext cx="4000500" cy="342900"/>
          </a:xfrm>
          <a:prstGeom prst="rect">
            <a:avLst/>
          </a:prstGeom>
          <a:noFill/>
          <a:ln w="0">
            <a:noFill/>
          </a:ln>
        </p:spPr>
        <p:txBody>
          <a:bodyPr lIns="0" tIns="0" rIns="0" bIns="0" anchor="t">
            <a:noAutofit/>
          </a:bodyPr>
          <a:lstStyle/>
          <a:p>
            <a:pPr algn="l">
              <a:defRPr sz="2025" b="1">
                <a:solidFill>
                  <a:srgbClr val="BD0000"/>
                </a:solidFill>
                <a:latin typeface="Arial" panose="020B0604020202020204"/>
                <a:ea typeface="Arial" panose="020B0604020202020204"/>
                <a:cs typeface="Arial" panose="020B0604020202020204"/>
              </a:defRPr>
            </a:pPr>
            <a:r>
              <a:rPr sz="2025" b="1">
                <a:solidFill>
                  <a:srgbClr val="BD0000"/>
                </a:solidFill>
                <a:latin typeface="Arial" panose="020B0604020202020204"/>
                <a:ea typeface="Arial" panose="020B0604020202020204"/>
                <a:cs typeface="Arial" panose="020B0604020202020204"/>
              </a:rPr>
              <a:t>Para o lojista</a:t>
            </a:r>
            <a:endParaRPr sz="2025" b="1">
              <a:solidFill>
                <a:srgbClr val="BD0000"/>
              </a:solidFill>
              <a:latin typeface="Arial" panose="020B0604020202020204"/>
              <a:ea typeface="Arial" panose="020B0604020202020204"/>
              <a:cs typeface="Arial" panose="020B0604020202020204"/>
            </a:endParaRPr>
          </a:p>
        </p:txBody>
      </p:sp>
      <p:pic>
        <p:nvPicPr>
          <p:cNvPr id="104" name="Imagem 103"/>
          <p:cNvPicPr>
            <a:picLocks noChangeAspect="1"/>
          </p:cNvPicPr>
          <p:nvPr/>
        </p:nvPicPr>
        <p:blipFill>
          <a:blip r:embed="rId1"/>
          <a:stretch>
            <a:fillRect/>
          </a:stretch>
        </p:blipFill>
        <p:spPr>
          <a:xfrm>
            <a:off x="381000" y="2008556"/>
            <a:ext cx="4000500" cy="2078887"/>
          </a:xfrm>
          <a:prstGeom prst="rect">
            <a:avLst/>
          </a:prstGeom>
        </p:spPr>
      </p:pic>
      <p:pic>
        <p:nvPicPr>
          <p:cNvPr id="105" name="Imagem 104"/>
          <p:cNvPicPr>
            <a:picLocks noChangeAspect="1"/>
          </p:cNvPicPr>
          <p:nvPr/>
        </p:nvPicPr>
        <p:blipFill>
          <a:blip r:embed="rId2"/>
          <a:stretch>
            <a:fillRect/>
          </a:stretch>
        </p:blipFill>
        <p:spPr>
          <a:xfrm>
            <a:off x="4762500" y="2012006"/>
            <a:ext cx="4000500" cy="2071989"/>
          </a:xfrm>
          <a:prstGeom prst="rect">
            <a:avLst/>
          </a:prstGeom>
        </p:spPr>
      </p:pic>
      <p:sp>
        <p:nvSpPr>
          <p:cNvPr id="106" name="Conheça os produtos da loja&#10;e escolha o que deseja."/>
          <p:cNvSpPr>
            <a:spLocks noGrp="1"/>
          </p:cNvSpPr>
          <p:nvPr/>
        </p:nvSpPr>
        <p:spPr>
          <a:xfrm>
            <a:off x="381000" y="4362450"/>
            <a:ext cx="4000500" cy="600075"/>
          </a:xfrm>
          <a:prstGeom prst="rect">
            <a:avLst/>
          </a:prstGeom>
          <a:noFill/>
          <a:ln w="0">
            <a:noFill/>
          </a:ln>
        </p:spPr>
        <p:txBody>
          <a:bodyPr lIns="0" tIns="0" rIns="0" bIns="0" anchor="t">
            <a:noAutofit/>
          </a:bodyPr>
          <a:lstStyle/>
          <a:p>
            <a:pPr algn="l">
              <a:defRPr sz="1800" b="0">
                <a:solidFill>
                  <a:srgbClr val="232323"/>
                </a:solidFill>
                <a:latin typeface="Arial" panose="020B0604020202020204"/>
                <a:ea typeface="Arial" panose="020B0604020202020204"/>
                <a:cs typeface="Arial" panose="020B0604020202020204"/>
              </a:defRPr>
            </a:pPr>
            <a:r>
              <a:rPr sz="1800" b="0">
                <a:solidFill>
                  <a:srgbClr val="232323"/>
                </a:solidFill>
                <a:latin typeface="Arial" panose="020B0604020202020204"/>
                <a:ea typeface="Arial" panose="020B0604020202020204"/>
                <a:cs typeface="Arial" panose="020B0604020202020204"/>
              </a:rPr>
              <a:t>Conheça os produtos da loja</a:t>
            </a:r>
            <a:endParaRPr sz="1800" b="0">
              <a:solidFill>
                <a:srgbClr val="232323"/>
              </a:solidFill>
              <a:latin typeface="Arial" panose="020B0604020202020204"/>
              <a:ea typeface="Arial" panose="020B0604020202020204"/>
              <a:cs typeface="Arial" panose="020B0604020202020204"/>
            </a:endParaRPr>
          </a:p>
          <a:p>
            <a:pPr algn="l">
              <a:defRPr sz="1800" b="0">
                <a:solidFill>
                  <a:srgbClr val="232323"/>
                </a:solidFill>
                <a:latin typeface="Arial" panose="020B0604020202020204"/>
                <a:ea typeface="Arial" panose="020B0604020202020204"/>
                <a:cs typeface="Arial" panose="020B0604020202020204"/>
              </a:defRPr>
            </a:pPr>
            <a:r>
              <a:rPr sz="1800" b="0">
                <a:solidFill>
                  <a:srgbClr val="232323"/>
                </a:solidFill>
                <a:latin typeface="Arial" panose="020B0604020202020204"/>
                <a:ea typeface="Arial" panose="020B0604020202020204"/>
                <a:cs typeface="Arial" panose="020B0604020202020204"/>
              </a:rPr>
              <a:t>e escolha o que deseja.</a:t>
            </a:r>
            <a:endParaRPr sz="1800" b="0">
              <a:solidFill>
                <a:srgbClr val="232323"/>
              </a:solidFill>
              <a:latin typeface="Arial" panose="020B0604020202020204"/>
              <a:ea typeface="Arial" panose="020B0604020202020204"/>
              <a:cs typeface="Arial" panose="020B0604020202020204"/>
            </a:endParaRPr>
          </a:p>
        </p:txBody>
      </p:sp>
      <p:sp>
        <p:nvSpPr>
          <p:cNvPr id="107" name="Cadastre produtos e mantenha&#10;preços e estoque atualizados."/>
          <p:cNvSpPr>
            <a:spLocks noGrp="1"/>
          </p:cNvSpPr>
          <p:nvPr/>
        </p:nvSpPr>
        <p:spPr>
          <a:xfrm>
            <a:off x="4762500" y="4362450"/>
            <a:ext cx="4000500" cy="600075"/>
          </a:xfrm>
          <a:prstGeom prst="rect">
            <a:avLst/>
          </a:prstGeom>
          <a:noFill/>
          <a:ln w="0">
            <a:noFill/>
          </a:ln>
        </p:spPr>
        <p:txBody>
          <a:bodyPr lIns="0" tIns="0" rIns="0" bIns="0" anchor="t">
            <a:noAutofit/>
          </a:bodyPr>
          <a:lstStyle/>
          <a:p>
            <a:pPr algn="l">
              <a:defRPr sz="1800" b="0">
                <a:solidFill>
                  <a:srgbClr val="232323"/>
                </a:solidFill>
                <a:latin typeface="Arial" panose="020B0604020202020204"/>
                <a:ea typeface="Arial" panose="020B0604020202020204"/>
                <a:cs typeface="Arial" panose="020B0604020202020204"/>
              </a:defRPr>
            </a:pPr>
            <a:r>
              <a:rPr sz="1800" b="0">
                <a:solidFill>
                  <a:srgbClr val="232323"/>
                </a:solidFill>
                <a:latin typeface="Arial" panose="020B0604020202020204"/>
                <a:ea typeface="Arial" panose="020B0604020202020204"/>
                <a:cs typeface="Arial" panose="020B0604020202020204"/>
              </a:rPr>
              <a:t>Cadastre produtos e mantenha</a:t>
            </a:r>
            <a:endParaRPr sz="1800" b="0">
              <a:solidFill>
                <a:srgbClr val="232323"/>
              </a:solidFill>
              <a:latin typeface="Arial" panose="020B0604020202020204"/>
              <a:ea typeface="Arial" panose="020B0604020202020204"/>
              <a:cs typeface="Arial" panose="020B0604020202020204"/>
            </a:endParaRPr>
          </a:p>
          <a:p>
            <a:pPr algn="l">
              <a:defRPr sz="1800" b="0">
                <a:solidFill>
                  <a:srgbClr val="232323"/>
                </a:solidFill>
                <a:latin typeface="Arial" panose="020B0604020202020204"/>
                <a:ea typeface="Arial" panose="020B0604020202020204"/>
                <a:cs typeface="Arial" panose="020B0604020202020204"/>
              </a:defRPr>
            </a:pPr>
            <a:r>
              <a:rPr sz="1800" b="0">
                <a:solidFill>
                  <a:srgbClr val="232323"/>
                </a:solidFill>
                <a:latin typeface="Arial" panose="020B0604020202020204"/>
                <a:ea typeface="Arial" panose="020B0604020202020204"/>
                <a:cs typeface="Arial" panose="020B0604020202020204"/>
              </a:rPr>
              <a:t>preços e estoque atualizados.</a:t>
            </a:r>
            <a:endParaRPr sz="1800" b="0">
              <a:solidFill>
                <a:srgbClr val="232323"/>
              </a:solidFill>
              <a:latin typeface="Arial" panose="020B0604020202020204"/>
              <a:ea typeface="Arial" panose="020B0604020202020204"/>
              <a:cs typeface="Arial" panose="020B0604020202020204"/>
            </a:endParaRPr>
          </a:p>
        </p:txBody>
      </p:sp>
      <p:pic>
        <p:nvPicPr>
          <p:cNvPr id="108" name="Imagem 107"/>
          <p:cNvPicPr>
            <a:picLocks noChangeAspect="1"/>
          </p:cNvPicPr>
          <p:nvPr/>
        </p:nvPicPr>
        <p:blipFill>
          <a:blip r:embed="rId3"/>
          <a:stretch>
            <a:fillRect/>
          </a:stretch>
        </p:blipFill>
        <p:spPr>
          <a:xfrm>
            <a:off x="381000" y="5048250"/>
            <a:ext cx="714375" cy="714375"/>
          </a:xfrm>
          <a:prstGeom prst="rect">
            <a:avLst/>
          </a:prstGeom>
        </p:spPr>
      </p:pic>
      <p:sp>
        <p:nvSpPr>
          <p:cNvPr id="109" name="Acesse a Vitrine Web"/>
          <p:cNvSpPr>
            <a:spLocks noGrp="1"/>
          </p:cNvSpPr>
          <p:nvPr/>
        </p:nvSpPr>
        <p:spPr>
          <a:xfrm>
            <a:off x="1304925" y="5181600"/>
            <a:ext cx="7048500" cy="257175"/>
          </a:xfrm>
          <a:prstGeom prst="rect">
            <a:avLst/>
          </a:prstGeom>
          <a:noFill/>
          <a:ln w="0">
            <a:noFill/>
          </a:ln>
        </p:spPr>
        <p:txBody>
          <a:bodyPr lIns="0" tIns="0" rIns="0" bIns="0" anchor="t">
            <a:noAutofit/>
          </a:bodyPr>
          <a:lstStyle/>
          <a:p>
            <a:pPr algn="l">
              <a:defRPr sz="1500" b="1">
                <a:solidFill>
                  <a:srgbClr val="232323"/>
                </a:solidFill>
                <a:latin typeface="Arial" panose="020B0604020202020204"/>
                <a:ea typeface="Arial" panose="020B0604020202020204"/>
                <a:cs typeface="Arial" panose="020B0604020202020204"/>
              </a:defRPr>
            </a:pPr>
            <a:r>
              <a:rPr sz="1500" b="1">
                <a:solidFill>
                  <a:srgbClr val="232323"/>
                </a:solidFill>
                <a:latin typeface="Arial" panose="020B0604020202020204"/>
                <a:ea typeface="Arial" panose="020B0604020202020204"/>
                <a:cs typeface="Arial" panose="020B0604020202020204"/>
              </a:rPr>
              <a:t>Acesse a Vitrine Web</a:t>
            </a:r>
            <a:endParaRPr sz="1500" b="1">
              <a:solidFill>
                <a:srgbClr val="232323"/>
              </a:solidFill>
              <a:latin typeface="Arial" panose="020B0604020202020204"/>
              <a:ea typeface="Arial" panose="020B0604020202020204"/>
              <a:cs typeface="Arial" panose="020B0604020202020204"/>
            </a:endParaRPr>
          </a:p>
        </p:txBody>
      </p:sp>
      <p:sp>
        <p:nvSpPr>
          <p:cNvPr id="110" name="vitrineweb-app.vercel.app"/>
          <p:cNvSpPr>
            <a:spLocks noGrp="1"/>
          </p:cNvSpPr>
          <p:nvPr/>
        </p:nvSpPr>
        <p:spPr>
          <a:xfrm>
            <a:off x="1304925" y="5467350"/>
            <a:ext cx="7048500" cy="238125"/>
          </a:xfrm>
          <a:prstGeom prst="rect">
            <a:avLst/>
          </a:prstGeom>
          <a:noFill/>
          <a:ln w="0">
            <a:noFill/>
          </a:ln>
        </p:spPr>
        <p:txBody>
          <a:bodyPr lIns="0" tIns="0" rIns="0" bIns="0" anchor="t">
            <a:noAutofit/>
          </a:bodyPr>
          <a:lstStyle/>
          <a:p>
            <a:pPr algn="l">
              <a:defRPr sz="1500" b="0">
                <a:solidFill>
                  <a:srgbClr val="5B5B5B"/>
                </a:solidFill>
                <a:latin typeface="Arial" panose="020B0604020202020204"/>
                <a:ea typeface="Arial" panose="020B0604020202020204"/>
                <a:cs typeface="Arial" panose="020B0604020202020204"/>
              </a:defRPr>
            </a:pPr>
            <a:r>
              <a:rPr sz="1500" b="0">
                <a:solidFill>
                  <a:srgbClr val="5B5B5B"/>
                </a:solidFill>
                <a:latin typeface="Arial" panose="020B0604020202020204"/>
                <a:ea typeface="Arial" panose="020B0604020202020204"/>
                <a:cs typeface="Arial" panose="020B0604020202020204"/>
                <a:hlinkClick r:id="rId4"/>
              </a:rPr>
              <a:t>vitrineweb-app.vercel.app</a:t>
            </a:r>
            <a:endParaRPr sz="1500" b="0">
              <a:solidFill>
                <a:srgbClr val="5B5B5B"/>
              </a:solidFill>
              <a:latin typeface="Arial" panose="020B0604020202020204"/>
              <a:ea typeface="Arial" panose="020B0604020202020204"/>
              <a:cs typeface="Arial" panose="020B0604020202020204"/>
              <a:hlinkClick r:id="rId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CONSIDERAÇÕES FINAIS</a:t>
            </a:r>
            <a:endParaRPr sz="2400" b="1">
              <a:solidFill>
                <a:srgbClr val="232323"/>
              </a:solidFill>
              <a:latin typeface="Arial" panose="020B0604020202020204"/>
              <a:ea typeface="Arial" panose="020B0604020202020204"/>
              <a:cs typeface="Arial" panose="020B0604020202020204"/>
            </a:endParaRPr>
          </a:p>
        </p:txBody>
      </p:sp>
      <p:sp>
        <p:nvSpPr>
          <p:cNvPr id="102" name="O que a loja recebe"/>
          <p:cNvSpPr>
            <a:spLocks noGrp="1"/>
          </p:cNvSpPr>
          <p:nvPr/>
        </p:nvSpPr>
        <p:spPr>
          <a:xfrm>
            <a:off x="571500" y="1657350"/>
            <a:ext cx="3714750" cy="381000"/>
          </a:xfrm>
          <a:prstGeom prst="rect">
            <a:avLst/>
          </a:prstGeom>
          <a:noFill/>
          <a:ln w="0">
            <a:noFill/>
          </a:ln>
        </p:spPr>
        <p:txBody>
          <a:bodyPr lIns="0" tIns="0" rIns="0" bIns="0" anchor="t">
            <a:noAutofit/>
          </a:bodyPr>
          <a:lstStyle/>
          <a:p>
            <a:pPr algn="l">
              <a:defRPr sz="2025" b="1">
                <a:solidFill>
                  <a:srgbClr val="BD0000"/>
                </a:solidFill>
                <a:latin typeface="Arial" panose="020B0604020202020204"/>
                <a:ea typeface="Arial" panose="020B0604020202020204"/>
                <a:cs typeface="Arial" panose="020B0604020202020204"/>
              </a:defRPr>
            </a:pPr>
            <a:r>
              <a:rPr sz="2025" b="1">
                <a:solidFill>
                  <a:srgbClr val="BD0000"/>
                </a:solidFill>
                <a:latin typeface="Arial" panose="020B0604020202020204"/>
                <a:ea typeface="Arial" panose="020B0604020202020204"/>
                <a:cs typeface="Arial" panose="020B0604020202020204"/>
              </a:rPr>
              <a:t>O que a loja recebe</a:t>
            </a:r>
            <a:endParaRPr sz="2025" b="1">
              <a:solidFill>
                <a:srgbClr val="BD0000"/>
              </a:solidFill>
              <a:latin typeface="Arial" panose="020B0604020202020204"/>
              <a:ea typeface="Arial" panose="020B0604020202020204"/>
              <a:cs typeface="Arial" panose="020B0604020202020204"/>
            </a:endParaRPr>
          </a:p>
        </p:txBody>
      </p:sp>
      <p:sp>
        <p:nvSpPr>
          <p:cNvPr id="103" name="Um catálogo para apresentar&#10;os produtos."/>
          <p:cNvSpPr>
            <a:spLocks noGrp="1"/>
          </p:cNvSpPr>
          <p:nvPr/>
        </p:nvSpPr>
        <p:spPr>
          <a:xfrm>
            <a:off x="571500" y="2286000"/>
            <a:ext cx="3714750" cy="733425"/>
          </a:xfrm>
          <a:prstGeom prst="rect">
            <a:avLst/>
          </a:prstGeom>
          <a:noFill/>
          <a:ln w="0">
            <a:noFill/>
          </a:ln>
        </p:spPr>
        <p:txBody>
          <a:bodyPr lIns="0" tIns="0" rIns="0" bIns="0" anchor="t">
            <a:noAutofit/>
          </a:bodyPr>
          <a:lstStyle/>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Um catálogo para apresentar</a:t>
            </a:r>
            <a:endParaRPr sz="2025" b="0">
              <a:solidFill>
                <a:srgbClr val="232323"/>
              </a:solidFill>
              <a:latin typeface="Arial" panose="020B0604020202020204"/>
              <a:ea typeface="Arial" panose="020B0604020202020204"/>
              <a:cs typeface="Arial" panose="020B0604020202020204"/>
            </a:endParaRPr>
          </a:p>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os produtos.</a:t>
            </a:r>
            <a:endParaRPr sz="2025" b="0">
              <a:solidFill>
                <a:srgbClr val="232323"/>
              </a:solidFill>
              <a:latin typeface="Arial" panose="020B0604020202020204"/>
              <a:ea typeface="Arial" panose="020B0604020202020204"/>
              <a:cs typeface="Arial" panose="020B0604020202020204"/>
            </a:endParaRPr>
          </a:p>
        </p:txBody>
      </p:sp>
      <p:sp>
        <p:nvSpPr>
          <p:cNvPr id="104" name="Um painel para manter&#10;a oferta atualizada."/>
          <p:cNvSpPr>
            <a:spLocks noGrp="1"/>
          </p:cNvSpPr>
          <p:nvPr/>
        </p:nvSpPr>
        <p:spPr>
          <a:xfrm>
            <a:off x="571500" y="3267075"/>
            <a:ext cx="3714750" cy="733425"/>
          </a:xfrm>
          <a:prstGeom prst="rect">
            <a:avLst/>
          </a:prstGeom>
          <a:noFill/>
          <a:ln w="0">
            <a:noFill/>
          </a:ln>
        </p:spPr>
        <p:txBody>
          <a:bodyPr lIns="0" tIns="0" rIns="0" bIns="0" anchor="t">
            <a:noAutofit/>
          </a:bodyPr>
          <a:lstStyle/>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Um painel para manter</a:t>
            </a:r>
            <a:endParaRPr sz="2025" b="0">
              <a:solidFill>
                <a:srgbClr val="232323"/>
              </a:solidFill>
              <a:latin typeface="Arial" panose="020B0604020202020204"/>
              <a:ea typeface="Arial" panose="020B0604020202020204"/>
              <a:cs typeface="Arial" panose="020B0604020202020204"/>
            </a:endParaRPr>
          </a:p>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a oferta atualizada.</a:t>
            </a:r>
            <a:endParaRPr sz="2025" b="0">
              <a:solidFill>
                <a:srgbClr val="232323"/>
              </a:solidFill>
              <a:latin typeface="Arial" panose="020B0604020202020204"/>
              <a:ea typeface="Arial" panose="020B0604020202020204"/>
              <a:cs typeface="Arial" panose="020B0604020202020204"/>
            </a:endParaRPr>
          </a:p>
        </p:txBody>
      </p:sp>
      <p:sp>
        <p:nvSpPr>
          <p:cNvPr id="105" name="Próxima etapa"/>
          <p:cNvSpPr>
            <a:spLocks noGrp="1"/>
          </p:cNvSpPr>
          <p:nvPr/>
        </p:nvSpPr>
        <p:spPr>
          <a:xfrm>
            <a:off x="4905375" y="1657350"/>
            <a:ext cx="3667125" cy="381000"/>
          </a:xfrm>
          <a:prstGeom prst="rect">
            <a:avLst/>
          </a:prstGeom>
          <a:noFill/>
          <a:ln w="0">
            <a:noFill/>
          </a:ln>
        </p:spPr>
        <p:txBody>
          <a:bodyPr lIns="0" tIns="0" rIns="0" bIns="0" anchor="t">
            <a:noAutofit/>
          </a:bodyPr>
          <a:lstStyle/>
          <a:p>
            <a:pPr algn="l">
              <a:defRPr sz="2025" b="1">
                <a:solidFill>
                  <a:srgbClr val="BD0000"/>
                </a:solidFill>
                <a:latin typeface="Arial" panose="020B0604020202020204"/>
                <a:ea typeface="Arial" panose="020B0604020202020204"/>
                <a:cs typeface="Arial" panose="020B0604020202020204"/>
              </a:defRPr>
            </a:pPr>
            <a:r>
              <a:rPr sz="2025" b="1">
                <a:solidFill>
                  <a:srgbClr val="BD0000"/>
                </a:solidFill>
                <a:latin typeface="Arial" panose="020B0604020202020204"/>
                <a:ea typeface="Arial" panose="020B0604020202020204"/>
                <a:cs typeface="Arial" panose="020B0604020202020204"/>
              </a:rPr>
              <a:t>Próxima etapa</a:t>
            </a:r>
            <a:endParaRPr sz="2025" b="1">
              <a:solidFill>
                <a:srgbClr val="BD0000"/>
              </a:solidFill>
              <a:latin typeface="Arial" panose="020B0604020202020204"/>
              <a:ea typeface="Arial" panose="020B0604020202020204"/>
              <a:cs typeface="Arial" panose="020B0604020202020204"/>
            </a:endParaRPr>
          </a:p>
        </p:txBody>
      </p:sp>
      <p:sp>
        <p:nvSpPr>
          <p:cNvPr id="106" name="Validar o uso com lojistas&#10;e clientes."/>
          <p:cNvSpPr>
            <a:spLocks noGrp="1"/>
          </p:cNvSpPr>
          <p:nvPr/>
        </p:nvSpPr>
        <p:spPr>
          <a:xfrm>
            <a:off x="4905375" y="2286000"/>
            <a:ext cx="3667125" cy="733425"/>
          </a:xfrm>
          <a:prstGeom prst="rect">
            <a:avLst/>
          </a:prstGeom>
          <a:noFill/>
          <a:ln w="0">
            <a:noFill/>
          </a:ln>
        </p:spPr>
        <p:txBody>
          <a:bodyPr lIns="0" tIns="0" rIns="0" bIns="0" anchor="t">
            <a:noAutofit/>
          </a:bodyPr>
          <a:lstStyle/>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Validar o uso com lojistas</a:t>
            </a:r>
            <a:endParaRPr sz="2025" b="0">
              <a:solidFill>
                <a:srgbClr val="232323"/>
              </a:solidFill>
              <a:latin typeface="Arial" panose="020B0604020202020204"/>
              <a:ea typeface="Arial" panose="020B0604020202020204"/>
              <a:cs typeface="Arial" panose="020B0604020202020204"/>
            </a:endParaRPr>
          </a:p>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e clientes.</a:t>
            </a:r>
            <a:endParaRPr sz="2025" b="0">
              <a:solidFill>
                <a:srgbClr val="232323"/>
              </a:solidFill>
              <a:latin typeface="Arial" panose="020B0604020202020204"/>
              <a:ea typeface="Arial" panose="020B0604020202020204"/>
              <a:cs typeface="Arial" panose="020B0604020202020204"/>
            </a:endParaRPr>
          </a:p>
        </p:txBody>
      </p:sp>
      <p:sp>
        <p:nvSpPr>
          <p:cNvPr id="107" name="Aprimorar o produto a partir&#10;das dificuldades e sugestões."/>
          <p:cNvSpPr>
            <a:spLocks noGrp="1"/>
          </p:cNvSpPr>
          <p:nvPr/>
        </p:nvSpPr>
        <p:spPr>
          <a:xfrm>
            <a:off x="4905375" y="3267075"/>
            <a:ext cx="3667125" cy="876300"/>
          </a:xfrm>
          <a:prstGeom prst="rect">
            <a:avLst/>
          </a:prstGeom>
          <a:noFill/>
          <a:ln w="0">
            <a:noFill/>
          </a:ln>
        </p:spPr>
        <p:txBody>
          <a:bodyPr lIns="0" tIns="0" rIns="0" bIns="0" anchor="t">
            <a:noAutofit/>
          </a:bodyPr>
          <a:lstStyle/>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Aprimorar o produto a partir</a:t>
            </a:r>
            <a:endParaRPr sz="2025" b="0">
              <a:solidFill>
                <a:srgbClr val="232323"/>
              </a:solidFill>
              <a:latin typeface="Arial" panose="020B0604020202020204"/>
              <a:ea typeface="Arial" panose="020B0604020202020204"/>
              <a:cs typeface="Arial" panose="020B0604020202020204"/>
            </a:endParaRPr>
          </a:p>
          <a:p>
            <a:pPr algn="l">
              <a:defRPr sz="2025" b="0">
                <a:solidFill>
                  <a:srgbClr val="232323"/>
                </a:solidFill>
                <a:latin typeface="Arial" panose="020B0604020202020204"/>
                <a:ea typeface="Arial" panose="020B0604020202020204"/>
                <a:cs typeface="Arial" panose="020B0604020202020204"/>
              </a:defRPr>
            </a:pPr>
            <a:r>
              <a:rPr sz="2025" b="0">
                <a:solidFill>
                  <a:srgbClr val="232323"/>
                </a:solidFill>
                <a:latin typeface="Arial" panose="020B0604020202020204"/>
                <a:ea typeface="Arial" panose="020B0604020202020204"/>
                <a:cs typeface="Arial" panose="020B0604020202020204"/>
              </a:rPr>
              <a:t>das dificuldades e sugestões.</a:t>
            </a:r>
            <a:endParaRPr sz="2025" b="0">
              <a:solidFill>
                <a:srgbClr val="232323"/>
              </a:solidFill>
              <a:latin typeface="Arial" panose="020B0604020202020204"/>
              <a:ea typeface="Arial" panose="020B0604020202020204"/>
              <a:cs typeface="Arial" panose="020B0604020202020204"/>
            </a:endParaRPr>
          </a:p>
        </p:txBody>
      </p:sp>
      <p:sp>
        <p:nvSpPr>
          <p:cNvPr id="108" name="O cliente escolhe no catálogo.&#10;A loja mantém o atendimento d"/>
          <p:cNvSpPr>
            <a:spLocks noGrp="1"/>
          </p:cNvSpPr>
          <p:nvPr/>
        </p:nvSpPr>
        <p:spPr>
          <a:xfrm>
            <a:off x="571500" y="4819650"/>
            <a:ext cx="8001000" cy="762000"/>
          </a:xfrm>
          <a:prstGeom prst="rect">
            <a:avLst/>
          </a:prstGeom>
          <a:noFill/>
          <a:ln w="0">
            <a:noFill/>
          </a:ln>
        </p:spPr>
        <p:txBody>
          <a:bodyPr lIns="0" tIns="0" rIns="0" bIns="0" anchor="t">
            <a:noAutofit/>
          </a:bodyPr>
          <a:lstStyle/>
          <a:p>
            <a:pPr algn="l">
              <a:defRPr sz="2175" b="1">
                <a:solidFill>
                  <a:srgbClr val="232323"/>
                </a:solidFill>
                <a:latin typeface="Arial" panose="020B0604020202020204"/>
                <a:ea typeface="Arial" panose="020B0604020202020204"/>
                <a:cs typeface="Arial" panose="020B0604020202020204"/>
              </a:defRPr>
            </a:pPr>
            <a:r>
              <a:rPr sz="2175" b="1">
                <a:solidFill>
                  <a:srgbClr val="232323"/>
                </a:solidFill>
                <a:latin typeface="Arial" panose="020B0604020202020204"/>
                <a:ea typeface="Arial" panose="020B0604020202020204"/>
                <a:cs typeface="Arial" panose="020B0604020202020204"/>
              </a:rPr>
              <a:t>O cliente escolhe no catálogo.</a:t>
            </a:r>
            <a:endParaRPr sz="2175" b="1">
              <a:solidFill>
                <a:srgbClr val="232323"/>
              </a:solidFill>
              <a:latin typeface="Arial" panose="020B0604020202020204"/>
              <a:ea typeface="Arial" panose="020B0604020202020204"/>
              <a:cs typeface="Arial" panose="020B0604020202020204"/>
            </a:endParaRPr>
          </a:p>
          <a:p>
            <a:pPr algn="l">
              <a:defRPr sz="2175" b="1">
                <a:solidFill>
                  <a:srgbClr val="232323"/>
                </a:solidFill>
                <a:latin typeface="Arial" panose="020B0604020202020204"/>
                <a:ea typeface="Arial" panose="020B0604020202020204"/>
                <a:cs typeface="Arial" panose="020B0604020202020204"/>
              </a:defRPr>
            </a:pPr>
            <a:r>
              <a:rPr sz="2175" b="1">
                <a:solidFill>
                  <a:srgbClr val="232323"/>
                </a:solidFill>
                <a:latin typeface="Arial" panose="020B0604020202020204"/>
                <a:ea typeface="Arial" panose="020B0604020202020204"/>
                <a:cs typeface="Arial" panose="020B0604020202020204"/>
              </a:rPr>
              <a:t>A loja mantém o atendimento direto.</a:t>
            </a:r>
            <a:endParaRPr sz="2175" b="1">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eserved title"/>
          <p:cNvSpPr>
            <a:spLocks noGrp="1"/>
          </p:cNvSpPr>
          <p:nvPr/>
        </p:nvSpPr>
        <p:spPr>
          <a:xfrm>
            <a:off x="133350" y="438150"/>
            <a:ext cx="7667625" cy="647700"/>
          </a:xfrm>
          <a:prstGeom prst="rect">
            <a:avLst/>
          </a:prstGeom>
          <a:noFill/>
          <a:ln w="0">
            <a:noFill/>
          </a:ln>
        </p:spPr>
        <p:txBody>
          <a:bodyPr lIns="0" tIns="0" rIns="0" bIns="0" anchor="t">
            <a:noAutofit/>
          </a:bodyPr>
          <a:lstStyle/>
          <a:p>
            <a:pPr algn="l">
              <a:defRPr sz="2400" b="1">
                <a:solidFill>
                  <a:srgbClr val="232323"/>
                </a:solidFill>
                <a:latin typeface="Arial" panose="020B0604020202020204"/>
                <a:ea typeface="Arial" panose="020B0604020202020204"/>
                <a:cs typeface="Arial" panose="020B0604020202020204"/>
              </a:defRPr>
            </a:pPr>
            <a:r>
              <a:rPr sz="2400" b="1">
                <a:solidFill>
                  <a:srgbClr val="232323"/>
                </a:solidFill>
                <a:latin typeface="Arial" panose="020B0604020202020204"/>
                <a:ea typeface="Arial" panose="020B0604020202020204"/>
                <a:cs typeface="Arial" panose="020B0604020202020204"/>
              </a:rPr>
              <a:t>REFERÊNCIAS</a:t>
            </a:r>
            <a:endParaRPr sz="2400" b="1">
              <a:solidFill>
                <a:srgbClr val="232323"/>
              </a:solidFill>
              <a:latin typeface="Arial" panose="020B0604020202020204"/>
              <a:ea typeface="Arial" panose="020B0604020202020204"/>
              <a:cs typeface="Arial" panose="020B0604020202020204"/>
            </a:endParaRPr>
          </a:p>
        </p:txBody>
      </p:sp>
      <p:sp>
        <p:nvSpPr>
          <p:cNvPr id="102" name="Manual de TCC"/>
          <p:cNvSpPr>
            <a:spLocks noGrp="1"/>
          </p:cNvSpPr>
          <p:nvPr/>
        </p:nvSpPr>
        <p:spPr>
          <a:xfrm>
            <a:off x="395605" y="2348865"/>
            <a:ext cx="8048625" cy="266700"/>
          </a:xfrm>
          <a:prstGeom prst="rect">
            <a:avLst/>
          </a:prstGeom>
          <a:noFill/>
          <a:ln w="0">
            <a:noFill/>
          </a:ln>
        </p:spPr>
        <p:txBody>
          <a:bodyPr lIns="0" tIns="0" rIns="0" bIns="0" anchor="t">
            <a:noAutofit/>
          </a:bodyPr>
          <a:lstStyle/>
          <a:p>
            <a:pPr algn="l">
              <a:defRPr sz="1725" b="1">
                <a:solidFill>
                  <a:srgbClr val="BD0000"/>
                </a:solidFill>
                <a:latin typeface="Arial" panose="020B0604020202020204"/>
                <a:ea typeface="Arial" panose="020B0604020202020204"/>
                <a:cs typeface="Arial" panose="020B0604020202020204"/>
              </a:defRPr>
            </a:pPr>
            <a:endParaRPr sz="1725" b="1">
              <a:solidFill>
                <a:srgbClr val="BD0000"/>
              </a:solidFill>
              <a:latin typeface="Arial" panose="020B0604020202020204"/>
              <a:ea typeface="Arial" panose="020B0604020202020204"/>
              <a:cs typeface="Arial" panose="020B0604020202020204"/>
            </a:endParaRPr>
          </a:p>
        </p:txBody>
      </p:sp>
      <p:sp>
        <p:nvSpPr>
          <p:cNvPr id="103" name="Centro Paula Souza. Manual de TCC nas Etecs. 2ª edição, 2022"/>
          <p:cNvSpPr>
            <a:spLocks noGrp="1"/>
          </p:cNvSpPr>
          <p:nvPr/>
        </p:nvSpPr>
        <p:spPr>
          <a:xfrm>
            <a:off x="323850" y="2919095"/>
            <a:ext cx="8048625" cy="3238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endParaRPr sz="1575" b="0">
              <a:solidFill>
                <a:srgbClr val="232323"/>
              </a:solidFill>
              <a:latin typeface="Arial" panose="020B0604020202020204"/>
              <a:ea typeface="Arial" panose="020B0604020202020204"/>
              <a:cs typeface="Arial" panose="020B0604020202020204"/>
            </a:endParaRPr>
          </a:p>
        </p:txBody>
      </p:sp>
      <p:sp>
        <p:nvSpPr>
          <p:cNvPr id="104" name="Levantamento de requisitos"/>
          <p:cNvSpPr>
            <a:spLocks noGrp="1"/>
          </p:cNvSpPr>
          <p:nvPr/>
        </p:nvSpPr>
        <p:spPr>
          <a:xfrm>
            <a:off x="523875" y="2266950"/>
            <a:ext cx="8048625" cy="266700"/>
          </a:xfrm>
          <a:prstGeom prst="rect">
            <a:avLst/>
          </a:prstGeom>
          <a:noFill/>
          <a:ln w="0">
            <a:noFill/>
          </a:ln>
        </p:spPr>
        <p:txBody>
          <a:bodyPr lIns="0" tIns="0" rIns="0" bIns="0" anchor="t">
            <a:noAutofit/>
          </a:bodyPr>
          <a:lstStyle/>
          <a:p>
            <a:pPr algn="l">
              <a:defRPr sz="1725" b="1">
                <a:solidFill>
                  <a:srgbClr val="BD0000"/>
                </a:solidFill>
                <a:latin typeface="Arial" panose="020B0604020202020204"/>
                <a:ea typeface="Arial" panose="020B0604020202020204"/>
                <a:cs typeface="Arial" panose="020B0604020202020204"/>
              </a:defRPr>
            </a:pPr>
            <a:endParaRPr sz="1725" b="1">
              <a:solidFill>
                <a:srgbClr val="BD0000"/>
              </a:solidFill>
              <a:latin typeface="Arial" panose="020B0604020202020204"/>
              <a:ea typeface="Arial" panose="020B0604020202020204"/>
              <a:cs typeface="Arial" panose="020B0604020202020204"/>
            </a:endParaRPr>
          </a:p>
        </p:txBody>
      </p:sp>
      <p:sp>
        <p:nvSpPr>
          <p:cNvPr id="106" name="Repositórios da Vitrine Web"/>
          <p:cNvSpPr>
            <a:spLocks noGrp="1"/>
          </p:cNvSpPr>
          <p:nvPr/>
        </p:nvSpPr>
        <p:spPr>
          <a:xfrm>
            <a:off x="523875" y="3286125"/>
            <a:ext cx="8048625" cy="266700"/>
          </a:xfrm>
          <a:prstGeom prst="rect">
            <a:avLst/>
          </a:prstGeom>
          <a:noFill/>
          <a:ln w="0">
            <a:noFill/>
          </a:ln>
        </p:spPr>
        <p:txBody>
          <a:bodyPr lIns="0" tIns="0" rIns="0" bIns="0" anchor="t">
            <a:noAutofit/>
          </a:bodyPr>
          <a:lstStyle/>
          <a:p>
            <a:pPr algn="l">
              <a:defRPr sz="1725" b="1">
                <a:solidFill>
                  <a:srgbClr val="BD0000"/>
                </a:solidFill>
                <a:latin typeface="Arial" panose="020B0604020202020204"/>
                <a:ea typeface="Arial" panose="020B0604020202020204"/>
                <a:cs typeface="Arial" panose="020B0604020202020204"/>
              </a:defRPr>
            </a:pPr>
            <a:endParaRPr sz="1725" b="1">
              <a:solidFill>
                <a:srgbClr val="BD0000"/>
              </a:solidFill>
              <a:latin typeface="Arial" panose="020B0604020202020204"/>
              <a:ea typeface="Arial" panose="020B0604020202020204"/>
              <a:cs typeface="Arial" panose="020B0604020202020204"/>
            </a:endParaRPr>
          </a:p>
        </p:txBody>
      </p:sp>
      <p:sp>
        <p:nvSpPr>
          <p:cNvPr id="107" name="https://github.com/devmoisesz/vitrine-web"/>
          <p:cNvSpPr>
            <a:spLocks noGrp="1"/>
          </p:cNvSpPr>
          <p:nvPr/>
        </p:nvSpPr>
        <p:spPr>
          <a:xfrm>
            <a:off x="523875" y="3629025"/>
            <a:ext cx="8048625" cy="2857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endParaRPr sz="1575" b="0">
              <a:solidFill>
                <a:srgbClr val="232323"/>
              </a:solidFill>
              <a:latin typeface="Arial" panose="020B0604020202020204"/>
              <a:ea typeface="Arial" panose="020B0604020202020204"/>
              <a:cs typeface="Arial" panose="020B0604020202020204"/>
            </a:endParaRPr>
          </a:p>
        </p:txBody>
      </p:sp>
      <p:sp>
        <p:nvSpPr>
          <p:cNvPr id="108" name="https://github.com/devmoisesz/vitrine-web-api"/>
          <p:cNvSpPr>
            <a:spLocks noGrp="1"/>
          </p:cNvSpPr>
          <p:nvPr/>
        </p:nvSpPr>
        <p:spPr>
          <a:xfrm>
            <a:off x="523875" y="3943350"/>
            <a:ext cx="8048625" cy="28575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endParaRPr sz="1575" b="0">
              <a:solidFill>
                <a:srgbClr val="232323"/>
              </a:solidFill>
              <a:latin typeface="Arial" panose="020B0604020202020204"/>
              <a:ea typeface="Arial" panose="020B0604020202020204"/>
              <a:cs typeface="Arial" panose="020B0604020202020204"/>
            </a:endParaRPr>
          </a:p>
        </p:txBody>
      </p:sp>
      <p:sp>
        <p:nvSpPr>
          <p:cNvPr id="109" name="Referências de catálogo"/>
          <p:cNvSpPr>
            <a:spLocks noGrp="1"/>
          </p:cNvSpPr>
          <p:nvPr/>
        </p:nvSpPr>
        <p:spPr>
          <a:xfrm>
            <a:off x="323850" y="1341120"/>
            <a:ext cx="8048625" cy="266700"/>
          </a:xfrm>
          <a:prstGeom prst="rect">
            <a:avLst/>
          </a:prstGeom>
          <a:noFill/>
          <a:ln w="0">
            <a:noFill/>
          </a:ln>
        </p:spPr>
        <p:txBody>
          <a:bodyPr lIns="0" tIns="0" rIns="0" bIns="0" anchor="t">
            <a:noAutofit/>
          </a:bodyPr>
          <a:lstStyle/>
          <a:p>
            <a:pPr algn="l">
              <a:defRPr sz="1725" b="1">
                <a:solidFill>
                  <a:srgbClr val="BD0000"/>
                </a:solidFill>
                <a:latin typeface="Arial" panose="020B0604020202020204"/>
                <a:ea typeface="Arial" panose="020B0604020202020204"/>
                <a:cs typeface="Arial" panose="020B0604020202020204"/>
              </a:defRPr>
            </a:pPr>
            <a:r>
              <a:rPr sz="1725" b="1">
                <a:solidFill>
                  <a:srgbClr val="BD0000"/>
                </a:solidFill>
                <a:latin typeface="Arial" panose="020B0604020202020204"/>
                <a:ea typeface="Arial" panose="020B0604020202020204"/>
                <a:cs typeface="Arial" panose="020B0604020202020204"/>
              </a:rPr>
              <a:t>Referências de catálogo</a:t>
            </a:r>
            <a:endParaRPr sz="1725" b="1">
              <a:solidFill>
                <a:srgbClr val="BD0000"/>
              </a:solidFill>
              <a:latin typeface="Arial" panose="020B0604020202020204"/>
              <a:ea typeface="Arial" panose="020B0604020202020204"/>
              <a:cs typeface="Arial" panose="020B0604020202020204"/>
            </a:endParaRPr>
          </a:p>
        </p:txBody>
      </p:sp>
      <p:sp>
        <p:nvSpPr>
          <p:cNvPr id="110" name="Amazon Brasil (amazon.com.br) e Mercado Livre (mercadolivre."/>
          <p:cNvSpPr>
            <a:spLocks noGrp="1"/>
          </p:cNvSpPr>
          <p:nvPr/>
        </p:nvSpPr>
        <p:spPr>
          <a:xfrm>
            <a:off x="323850" y="1822450"/>
            <a:ext cx="8048625" cy="571500"/>
          </a:xfrm>
          <a:prstGeom prst="rect">
            <a:avLst/>
          </a:prstGeom>
          <a:noFill/>
          <a:ln w="0">
            <a:noFill/>
          </a:ln>
        </p:spPr>
        <p:txBody>
          <a:bodyPr lIns="0" tIns="0" rIns="0" bIns="0" anchor="t">
            <a:noAutofit/>
          </a:bodyPr>
          <a:lstStyle/>
          <a:p>
            <a:pPr algn="l">
              <a:defRPr sz="1575" b="0">
                <a:solidFill>
                  <a:srgbClr val="232323"/>
                </a:solidFill>
                <a:latin typeface="Arial" panose="020B0604020202020204"/>
                <a:ea typeface="Arial" panose="020B0604020202020204"/>
                <a:cs typeface="Arial" panose="020B0604020202020204"/>
              </a:defRPr>
            </a:pPr>
            <a:r>
              <a:rPr lang="pt-BR" sz="1575" b="0">
                <a:solidFill>
                  <a:srgbClr val="232323"/>
                </a:solidFill>
                <a:latin typeface="Arial" panose="020B0604020202020204"/>
                <a:ea typeface="Arial" panose="020B0604020202020204"/>
                <a:cs typeface="Arial" panose="020B0604020202020204"/>
              </a:rPr>
              <a:t>Utilizamos como refêrencia grandes empresas do mercado de varejo, que trabalham </a:t>
            </a:r>
            <a:r>
              <a:rPr lang="en-US" altLang="pt-BR" sz="1575" b="0">
                <a:solidFill>
                  <a:srgbClr val="232323"/>
                </a:solidFill>
                <a:latin typeface="Arial" panose="020B0604020202020204"/>
                <a:ea typeface="Arial" panose="020B0604020202020204"/>
                <a:cs typeface="Arial" panose="020B0604020202020204"/>
              </a:rPr>
              <a:t>especificamente no segmento de com</a:t>
            </a:r>
            <a:r>
              <a:rPr lang="en-US" altLang="en-US" sz="1575" b="0">
                <a:solidFill>
                  <a:srgbClr val="232323"/>
                </a:solidFill>
                <a:latin typeface="Arial" panose="020B0604020202020204"/>
                <a:ea typeface="Arial" panose="020B0604020202020204"/>
                <a:cs typeface="Arial" panose="020B0604020202020204"/>
              </a:rPr>
              <a:t>é</a:t>
            </a:r>
            <a:r>
              <a:rPr lang="en-US" altLang="pt-BR" sz="1575" b="0">
                <a:solidFill>
                  <a:srgbClr val="232323"/>
                </a:solidFill>
                <a:latin typeface="Arial" panose="020B0604020202020204"/>
                <a:ea typeface="Arial" panose="020B0604020202020204"/>
                <a:cs typeface="Arial" panose="020B0604020202020204"/>
              </a:rPr>
              <a:t>rcio eletrônico</a:t>
            </a:r>
            <a:r>
              <a:rPr lang="pt-BR" altLang="en-US" sz="1575" b="0">
                <a:solidFill>
                  <a:srgbClr val="232323"/>
                </a:solidFill>
                <a:latin typeface="Arial" panose="020B0604020202020204"/>
                <a:ea typeface="Arial" panose="020B0604020202020204"/>
                <a:cs typeface="Arial" panose="020B0604020202020204"/>
              </a:rPr>
              <a:t> como a</a:t>
            </a:r>
            <a:r>
              <a:rPr lang="pt-BR" sz="1575" b="0">
                <a:solidFill>
                  <a:srgbClr val="232323"/>
                </a:solidFill>
                <a:latin typeface="Arial" panose="020B0604020202020204"/>
                <a:ea typeface="Arial" panose="020B0604020202020204"/>
                <a:cs typeface="Arial" panose="020B0604020202020204"/>
              </a:rPr>
              <a:t> Amazon (amazon.com.br) e o Mercado Livre (mercadolivre.com.br)</a:t>
            </a:r>
            <a:endParaRPr lang="pt-BR" sz="1575" b="0">
              <a:solidFill>
                <a:srgbClr val="232323"/>
              </a:solidFill>
              <a:latin typeface="Arial" panose="020B0604020202020204"/>
              <a:ea typeface="Arial" panose="020B0604020202020204"/>
              <a:cs typeface="Arial" panose="020B0604020202020204"/>
            </a:endParaRPr>
          </a:p>
          <a:p>
            <a:pPr algn="l">
              <a:defRPr sz="1575" b="0">
                <a:solidFill>
                  <a:srgbClr val="232323"/>
                </a:solidFill>
                <a:latin typeface="Arial" panose="020B0604020202020204"/>
                <a:ea typeface="Arial" panose="020B0604020202020204"/>
                <a:cs typeface="Arial" panose="020B0604020202020204"/>
              </a:defRPr>
            </a:pPr>
            <a:endParaRPr lang="pt-BR" sz="1575" b="0">
              <a:solidFill>
                <a:srgbClr val="232323"/>
              </a:solidFill>
              <a:latin typeface="Arial" panose="020B0604020202020204"/>
              <a:ea typeface="Arial" panose="020B0604020202020204"/>
              <a:cs typeface="Arial" panose="020B0604020202020204"/>
            </a:endParaRPr>
          </a:p>
          <a:p>
            <a:pPr algn="l">
              <a:defRPr sz="1575" b="0">
                <a:solidFill>
                  <a:srgbClr val="232323"/>
                </a:solidFill>
                <a:latin typeface="Arial" panose="020B0604020202020204"/>
                <a:ea typeface="Arial" panose="020B0604020202020204"/>
                <a:cs typeface="Arial" panose="020B0604020202020204"/>
              </a:defRPr>
            </a:pPr>
            <a:r>
              <a:rPr lang="en-US" altLang="pt-BR" sz="1575" b="0">
                <a:solidFill>
                  <a:srgbClr val="232323"/>
                </a:solidFill>
                <a:latin typeface="Arial" panose="020B0604020202020204"/>
                <a:ea typeface="Arial" panose="020B0604020202020204"/>
                <a:cs typeface="Arial" panose="020B0604020202020204"/>
              </a:rPr>
              <a:t>A Amazon e o Mercado Livre funcionam como gigantescos shoppings virtuais que conectam compradores a milhares de vendedores.</a:t>
            </a:r>
            <a:endParaRPr lang="en-US" altLang="pt-BR" sz="1575" b="0">
              <a:solidFill>
                <a:srgbClr val="232323"/>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Notes Theme">
  <a:themeElements>
    <a:clrScheme name="Office Notes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Notes Theme">
      <a:majorFont>
        <a:latin typeface="Calibri"/>
        <a:ea typeface=""/>
        <a:cs typeface=""/>
      </a:majorFont>
      <a:minorFont>
        <a:latin typeface="Calibri"/>
        <a:ea typeface=""/>
        <a:cs typeface=""/>
      </a:minorFont>
    </a:fontScheme>
    <a:fmtScheme name="Office Notes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1"/>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4044</Words>
  <Application>WPS Presentation</Application>
  <PresentationFormat>Apresentação na tela (4:3)</PresentationFormat>
  <Paragraphs>199</Paragraphs>
  <Slides>11</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SimSun</vt:lpstr>
      <vt:lpstr>Wingdings</vt:lpstr>
      <vt:lpstr>Arial</vt:lpstr>
      <vt:lpstr>Microsoft YaHei</vt:lpstr>
      <vt:lpstr>Arial Unicode MS</vt:lpstr>
      <vt:lpstr>Calibri</vt:lpstr>
      <vt:lpstr>Tema do 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TRABALHO DE CONCLUSÃO DE CURSO</dc:title>
  <dc:creator>Usuário do Windows</dc:creator>
  <cp:lastModifiedBy>moise</cp:lastModifiedBy>
  <cp:revision>29</cp:revision>
  <dcterms:created xsi:type="dcterms:W3CDTF">2019-05-13T18:49:00Z</dcterms:created>
  <dcterms:modified xsi:type="dcterms:W3CDTF">2026-10-11T03:14:00Z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1046-12.1.0.28485</vt:lpwstr>
  </property>
  <property fmtid="{D5CDD505-2E9C-101B-9397-08002B2CF9AE}" pid="3" name="ICV">
    <vt:lpwstr>51FDB222DC3C4957A383E671BA48EA3D_12</vt:lpwstr>
  </property>
</Properties>
</file>