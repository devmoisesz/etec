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0" r:id="rId3"/>
    <p:sldId id="257" r:id="rId5"/>
    <p:sldId id="260" r:id="rId6"/>
    <p:sldId id="267" r:id="rId7"/>
    <p:sldId id="261" r:id="rId8"/>
    <p:sldId id="266" r:id="rId9"/>
    <p:sldId id="268" r:id="rId10"/>
    <p:sldId id="263" r:id="rId11"/>
    <p:sldId id="264" r:id="rId12"/>
    <p:sldId id="269" r:id="rId1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2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0000"/>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5" d="100"/>
          <a:sy n="85" d="100"/>
        </p:scale>
        <p:origin x="1554" y="96"/>
      </p:cViewPr>
      <p:guideLst>
        <p:guide orient="horz" pos="2154"/>
        <p:guide pos="28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formatCode="ge\ryy\l">
                  <c:v>Não</c:v>
                </c:pt>
                <c:pt idx="1" c:formatCode="ge\ryy\l">
                  <c:v>Sim</c:v>
                </c:pt>
              </c:strCache>
            </c:strRef>
          </c:cat>
          <c:val>
            <c:numRef>
              <c:f>'Chart Data'!$B$2:$B$3</c:f>
              <c:numCache>
                <c:formatCode>General</c:formatCode>
                <c:ptCount val="2"/>
                <c:pt idx="0">
                  <c:v>1</c:v>
                </c:pt>
                <c:pt idx="1">
                  <c:v>21</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24"/>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eddee0da-f7bd-4d79-8b47-5499aabe40db}"/>
      </c:ext>
    </c:extLst>
  </c:chart>
  <c:spPr>
    <a:solidFill>
      <a:srgbClr val="FFFFFF"/>
    </a:solidFill>
    <a:ln w="0">
      <a:noFill/>
    </a:ln>
  </c:spPr>
  <c:txPr>
    <a:bodyPr/>
    <a:lstStyle/>
    <a:p>
      <a:pPr>
        <a:defRPr lang="pt-B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formatCode="ge\ryy\l">
                  <c:v>Sim, atrapalha</c:v>
                </c:pt>
                <c:pt idx="1" c:formatCode="ge\ryy\l">
                  <c:v>Não atrapalha</c:v>
                </c:pt>
              </c:strCache>
            </c:strRef>
          </c:cat>
          <c:val>
            <c:numRef>
              <c:f>'Chart Data'!$B$2:$B$3</c:f>
              <c:numCache>
                <c:formatCode>General</c:formatCode>
                <c:ptCount val="2"/>
                <c:pt idx="0">
                  <c:v>4</c:v>
                </c:pt>
                <c:pt idx="1">
                  <c:v>18</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24"/>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ae8bf886-7cd3-4dc8-837e-674833cae451}"/>
      </c:ext>
    </c:extLst>
  </c:chart>
  <c:spPr>
    <a:solidFill>
      <a:srgbClr val="FFFFFF"/>
    </a:solidFill>
    <a:ln w="0">
      <a:noFill/>
    </a:ln>
  </c:spPr>
  <c:txPr>
    <a:bodyPr/>
    <a:lstStyle/>
    <a:p>
      <a:pPr>
        <a:defRPr lang="pt-B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Data'!$A$2:$A$5</c:f>
              <c:strCache>
                <c:ptCount val="4"/>
                <c:pt idx="0" c:formatCode="ge\ryy\l">
                  <c:v>Outros</c:v>
                </c:pt>
                <c:pt idx="1" c:formatCode="ge\ryy\l">
                  <c:v>Falta de confiança</c:v>
                </c:pt>
                <c:pt idx="2" c:formatCode="ge\ryy\l">
                  <c:v>Não poder experimentar</c:v>
                </c:pt>
                <c:pt idx="3" c:formatCode="ge\ryy\l">
                  <c:v>Incerteza do tamanho</c:v>
                </c:pt>
              </c:strCache>
            </c:strRef>
          </c:cat>
          <c:val>
            <c:numRef>
              <c:f>'Chart Data'!$B$2:$B$5</c:f>
              <c:numCache>
                <c:formatCode>General</c:formatCode>
                <c:ptCount val="4"/>
                <c:pt idx="0">
                  <c:v>2</c:v>
                </c:pt>
                <c:pt idx="1">
                  <c:v>5</c:v>
                </c:pt>
                <c:pt idx="2">
                  <c:v>6</c:v>
                </c:pt>
                <c:pt idx="3">
                  <c:v>9</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11"/>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39721f93-0ce9-4d6e-8a2c-5ad96049a56d}"/>
      </c:ext>
    </c:extLst>
  </c:chart>
  <c:spPr>
    <a:solidFill>
      <a:srgbClr val="FFFFFF"/>
    </a:solidFill>
    <a:ln w="0">
      <a:noFill/>
    </a:ln>
  </c:spPr>
  <c:txPr>
    <a:bodyPr/>
    <a:lstStyle/>
    <a:p>
      <a:pPr>
        <a:defRPr lang="pt-B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Espaço Reservado para Data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a:t>*</a:t>
            </a:r>
            <a:endParaRPr lang="en-US"/>
          </a:p>
        </p:txBody>
      </p:sp>
      <p:sp>
        <p:nvSpPr>
          <p:cNvPr id="4" name="Espaço reservado para imagem do slide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Espaço reservado para notas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ltLang="en-US"/>
              <a:t>Clique para editar os estilos de texto mestre</a:t>
            </a:r>
            <a:endParaRPr lang="en-US"/>
          </a:p>
          <a:p>
            <a:pPr lvl="1"/>
            <a:r>
              <a:rPr lang="pt-BR" altLang="en-US"/>
              <a:t>Segundo nível</a:t>
            </a:r>
            <a:endParaRPr lang="en-US"/>
          </a:p>
          <a:p>
            <a:pPr lvl="2"/>
            <a:r>
              <a:rPr lang="pt-BR" altLang="en-US"/>
              <a:t>Terceiro nível</a:t>
            </a:r>
            <a:endParaRPr lang="en-US"/>
          </a:p>
          <a:p>
            <a:pPr lvl="3"/>
            <a:r>
              <a:rPr lang="pt-BR" altLang="en-US"/>
              <a:t>Quarto nível</a:t>
            </a:r>
            <a:endParaRPr lang="en-US"/>
          </a:p>
          <a:p>
            <a:pPr lvl="4"/>
            <a:r>
              <a:rPr lang="pt-BR" altLang="en-US"/>
              <a:t>Quinto nível</a:t>
            </a:r>
            <a:endParaRPr lang="en-US"/>
          </a:p>
        </p:txBody>
      </p:sp>
      <p:sp>
        <p:nvSpPr>
          <p:cNvPr id="6" name="Espaço Reservado para Rodapé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Espaço reservado para o número do slide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a:t>#</a:t>
            </a:r>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Apresentar o grupo e a Vitrine Web, um catálogo digital para lojas locais. Integrantes em ordem alfabética, conforme nomes fornecidos pelo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1F49F4D1-D57C-43B5-BDEA-10178D6C792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Problema que orienta a proposta: quando as informações dos produtos ficam espalhadas em publicações e conversas, consultar a oferta da loja pode exigir várias mensagens. Não afirmar que houve medição de tempo ou aumento de vendas. A Vitrine Web pretende organizar essa consulta mantendo o atendimento direto com a loja.</a:t>
            </a:r>
          </a:p>
        </p:txBody>
      </p:sp>
      <p:sp>
        <p:nvSpPr>
          <p:cNvPr id="4" name="Espaço reservado para o número do slide 3"/>
          <p:cNvSpPr>
            <a:spLocks noGrp="1" noEditPoints="1"/>
          </p:cNvSpPr>
          <p:nvPr>
            <p:ph type="sldNum" sz="quarter" idx="5"/>
          </p:nvPr>
        </p:nvSpPr>
        <p:spPr>
          <a:prstGeom prst="rect">
            <a:avLst/>
          </a:prstGeom>
        </p:spPr>
        <p:txBody>
          <a:bodyPr/>
          <a:lstStyle/>
          <a:p>
            <a:fld id="{2C9F487F-44D8-4B7A-BFF7-F2C40169783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questionário do grupo, Validação de Modelo de Compra de Roupas em Comércio Local, 2026, arquivo CSV fornecido. Há 23 registros. O registro de 14/04/2026 traz respostas incompatíveis com os enunciados atuais: Q2 “Qualidade das peças”, Q3 “Alto”, Q6 “Relevante”. Cada um desses itens foi excluído da respectiva pergunta, sem alterar o arquivo original, resultando em 22 respostas compatíveis por pergunta. Q2: Sim 21, Não 1 (95,5% e 4,5%). Q3: Incerteza do tamanho 9, Não poder experimentar 6, Falta de confiança 5, Outros 2 (Demora na entrega 1, Dinheiro kkkk 1), equivalentes a 40,9%, 27,3%, 22,7% e 9,1%. Q6: Não atrapalha 18, Sim atrapalha 4 (81,8% e 18,2%). Pesquisa exploratória, sem representatividade estatística assegurada e sem validação comercial com lojistas. Os resultados orientam o catálogo e o contato direto, mas não provam aumento de vendas.</a:t>
            </a:r>
          </a:p>
        </p:txBody>
      </p:sp>
      <p:sp>
        <p:nvSpPr>
          <p:cNvPr id="4" name="Espaço reservado para o número do slide 3"/>
          <p:cNvSpPr>
            <a:spLocks noGrp="1" noEditPoints="1"/>
          </p:cNvSpPr>
          <p:nvPr>
            <p:ph type="sldNum" sz="quarter" idx="5"/>
          </p:nvPr>
        </p:nvSpPr>
        <p:spPr>
          <a:prstGeom prst="rect">
            <a:avLst/>
          </a:prstGeom>
        </p:spPr>
        <p:txBody>
          <a:bodyPr/>
          <a:lstStyle/>
          <a:p>
            <a:fld id="{B3335888-3EE2-4BEB-A3A8-F1D8149BCE5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 Vitrine Web é um catálogo digital voltado às lojas locais. Cada loja apresenta sua oferta e recebe pelo WhatsApp a seleção feita pelo cliente. O carrinho reúne itens de uma mesma loja. O envio inicia ou organiza o atendimento: não representar a ação como pagamento concluído ou compra já confirmada. Fonte: materiais do projeto fornecidos pelo grupo e repositórios https://github.com/devmoisesz/vitrine-web e https://github.com/devmoisesz/vitrine-web-api.</a:t>
            </a:r>
          </a:p>
        </p:txBody>
      </p:sp>
      <p:sp>
        <p:nvSpPr>
          <p:cNvPr id="4" name="Espaço reservado para o número do slide 3"/>
          <p:cNvSpPr>
            <a:spLocks noGrp="1" noEditPoints="1"/>
          </p:cNvSpPr>
          <p:nvPr>
            <p:ph type="sldNum" sz="quarter" idx="5"/>
          </p:nvPr>
        </p:nvSpPr>
        <p:spPr>
          <a:prstGeom prst="rect">
            <a:avLst/>
          </a:prstGeom>
        </p:spPr>
        <p:txBody>
          <a:bodyPr/>
          <a:lstStyle/>
          <a:p>
            <a:fld id="{0D42DBBE-8022-4B6E-9CAC-F946D7428FE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diagrama de casos de uso elaborado pelo grupo e fornecido no material do projeto. O diagrama destaca as principais interações dos perfis. Outras funções não aparecem por limitação de espaço. Explicar quem usa o produto e quais ações pode realizar, sem ler cada elemento do diagrama.</a:t>
            </a:r>
          </a:p>
        </p:txBody>
      </p:sp>
      <p:sp>
        <p:nvSpPr>
          <p:cNvPr id="4" name="Espaço reservado para o número do slide 3"/>
          <p:cNvSpPr>
            <a:spLocks noGrp="1" noEditPoints="1"/>
          </p:cNvSpPr>
          <p:nvPr>
            <p:ph type="sldNum" sz="quarter" idx="5"/>
          </p:nvPr>
        </p:nvSpPr>
        <p:spPr>
          <a:prstGeom prst="rect">
            <a:avLst/>
          </a:prstGeom>
        </p:spPr>
        <p:txBody>
          <a:bodyPr/>
          <a:lstStyle/>
          <a:p>
            <a:fld id="{7B226321-E2F5-4F4C-800A-B1794FEBD0EF}"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modelo de dados elaborado pelo grupo, fornecido como imagem, ferramenta SQL Designer. Explicar principalmente a relação entre loja, produto, usuário e carrinho. A estrutura mantém o vínculo dos produtos com cada loja e os itens escolhidos pelo cliente. As tabelas e nomes técnicos permanecem no diagrama original.</a:t>
            </a:r>
          </a:p>
        </p:txBody>
      </p:sp>
      <p:sp>
        <p:nvSpPr>
          <p:cNvPr id="4" name="Espaço reservado para o número do slide 3"/>
          <p:cNvSpPr>
            <a:spLocks noGrp="1" noEditPoints="1"/>
          </p:cNvSpPr>
          <p:nvPr>
            <p:ph type="sldNum" sz="quarter" idx="5"/>
          </p:nvPr>
        </p:nvSpPr>
        <p:spPr>
          <a:prstGeom prst="rect">
            <a:avLst/>
          </a:prstGeom>
        </p:spPr>
        <p:txBody>
          <a:bodyPr/>
          <a:lstStyle/>
          <a:p>
            <a:fld id="{D91A326F-F6F9-468D-A1A8-81A62607A08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Navegação principal. O cliente encontra produtos, consulta os detalhes, escolhe as quantidades no carrinho e envia a seleção pelo WhatsApp. O lojista entra no painel e acessa produtos ou equipe conforme sua necessidade e suas permissões. Esses acessos não são etapas obrigatórias em sequência. Fonte: projeto e telas fornecidos pelo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A6F41B08-B7DF-4B48-A923-A75C03765793}"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Fontes: captura da loja Linha e captura do painel de produtos enviadas pelo grupo. As telas ilustram o lado do cliente e o lado do lojista. Na vitrine, apontar os produtos e preços. No painel, apontar cadastro, estoque e situação do produto. Usar o endereço ou o QR code se houver tempo para a demonstração. O QR code foi preservado do arquivo original. Endereço: https://vitrineweb-app.vercel.app/.</a:t>
            </a:r>
          </a:p>
        </p:txBody>
      </p:sp>
      <p:sp>
        <p:nvSpPr>
          <p:cNvPr id="4" name="Espaço reservado para o número do slide 3"/>
          <p:cNvSpPr>
            <a:spLocks noGrp="1" noEditPoints="1"/>
          </p:cNvSpPr>
          <p:nvPr>
            <p:ph type="sldNum" sz="quarter" idx="5"/>
          </p:nvPr>
        </p:nvSpPr>
        <p:spPr>
          <a:prstGeom prst="rect">
            <a:avLst/>
          </a:prstGeom>
        </p:spPr>
        <p:txBody>
          <a:bodyPr/>
          <a:lstStyle/>
          <a:p>
            <a:fld id="{CD5A3B75-9901-4B35-8847-3ADEAB7B1E12}"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 entrega reúne a exposição de produtos, a seleção no carrinho e o contato pelo WhatsApp, com painel para a loja. Benefícios como redução de mensagens repetidas e aumento de vendas são expectativas, não resultados medidos. A próxima etapa é validar o uso com lojistas e clientes, observar dificuldades e priorizar melhorias. Não afirmar que o grupo já realizou negociações ou pilotos com comerciantes. Não há processamento de pagamento online no escopo apresentado.</a:t>
            </a:r>
          </a:p>
        </p:txBody>
      </p:sp>
      <p:sp>
        <p:nvSpPr>
          <p:cNvPr id="4" name="Espaço reservado para o número do slide 3"/>
          <p:cNvSpPr>
            <a:spLocks noGrp="1" noEditPoints="1"/>
          </p:cNvSpPr>
          <p:nvPr>
            <p:ph type="sldNum" sz="quarter" idx="5"/>
          </p:nvPr>
        </p:nvSpPr>
        <p:spPr>
          <a:prstGeom prst="rect">
            <a:avLst/>
          </a:prstGeom>
        </p:spPr>
        <p:txBody>
          <a:bodyPr/>
          <a:lstStyle/>
          <a:p>
            <a:fld id="{1B510531-59AF-42BC-A325-31D2165F8360}"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Referências da apresentação: CENTRO PAULA SOUZA. Manual de Trabalho de Conclusão de Curso nas Etecs. 2. ed., 2022 (manual fornecido). Grupo Vitrine Web. Validação de Modelo de Compra de Roupas em Comércio Local. Questionário, 2026 (CSV fornecido). Repositórios do projeto, autoria devmoisesz: https://github.com/devmoisesz/vitrine-web e https://github.com/devmoisesz/vitrine-web-api. Os repositórios são fontes do próprio projeto, não pesquisas independentes. Amazon Brasil e Mercado Livre: referências visuais de catálogo já indicadas pelo grupo no arquivo original. Diagramas e capturas: elaboração do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D5B22B2E-FFF5-460F-93E0-955B2372042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noEditPoints="1"/>
          </p:cNvSpPr>
          <p:nvPr>
            <p:ph type="title"/>
          </p:nvPr>
        </p:nvSpPr>
        <p:spPr>
          <a:xfrm>
            <a:off x="41109" y="188168"/>
            <a:ext cx="7951712" cy="925563"/>
          </a:xfrm>
        </p:spPr>
        <p:txBody>
          <a:bodyPr>
            <a:noAutofit/>
          </a:bodyPr>
          <a:lstStyle>
            <a:lvl1pPr algn="l">
              <a:defRPr sz="4000" b="1"/>
            </a:lvl1pPr>
          </a:lstStyle>
          <a:p>
            <a:r>
              <a:rPr lang="pt-BR" dirty="0"/>
              <a:t>Clique para editar o título mestre</a:t>
            </a:r>
            <a:endParaRPr lang="pt-BR" dirty="0"/>
          </a:p>
        </p:txBody>
      </p:sp>
      <p:sp>
        <p:nvSpPr>
          <p:cNvPr id="3" name="Espaço Reservado para Conteúdo 2"/>
          <p:cNvSpPr>
            <a:spLocks noGrp="1" noEditPoints="1"/>
          </p:cNvSpPr>
          <p:nvPr>
            <p:ph idx="1" hasCustomPrompt="1"/>
          </p:nvPr>
        </p:nvSpPr>
        <p:spPr>
          <a:xfrm>
            <a:off x="41109" y="1340768"/>
            <a:ext cx="8928992" cy="4525963"/>
          </a:xfrm>
        </p:spPr>
        <p:txBody>
          <a:bodyPr>
            <a:normAutofit/>
          </a:bodyPr>
          <a:lstStyle>
            <a:lvl1pPr>
              <a:defRPr sz="2400"/>
            </a:lvl1pPr>
            <a:lvl2pPr>
              <a:defRPr sz="2400"/>
            </a:lvl2pPr>
            <a:lvl3pPr>
              <a:defRPr sz="2400"/>
            </a:lvl3pPr>
            <a:lvl4pPr>
              <a:defRPr sz="2400"/>
            </a:lvl4pPr>
            <a:lvl5pPr>
              <a:defRPr sz="2400"/>
            </a:lvl5pPr>
          </a:lstStyle>
          <a:p>
            <a:pPr lvl="0"/>
            <a:r>
              <a:rPr lang="pt-BR" dirty="0"/>
              <a:t>Clique para editar o texto mestre</a:t>
            </a:r>
            <a:endParaRPr lang="pt-BR" dirty="0"/>
          </a:p>
          <a:p>
            <a:pPr lvl="1"/>
            <a:r>
              <a:rPr lang="pt-BR" dirty="0"/>
              <a:t>Segundo nível</a:t>
            </a:r>
            <a:endParaRPr lang="pt-BR" dirty="0"/>
          </a:p>
          <a:p>
            <a:pPr lvl="2"/>
            <a:r>
              <a:rPr lang="pt-BR" dirty="0"/>
              <a:t>Terceiro nível</a:t>
            </a:r>
            <a:endParaRPr lang="pt-BR" dirty="0"/>
          </a:p>
          <a:p>
            <a:pPr lvl="3"/>
            <a:r>
              <a:rPr lang="pt-BR" dirty="0"/>
              <a:t>Quarto nível</a:t>
            </a:r>
            <a:endParaRPr lang="pt-BR" dirty="0"/>
          </a:p>
          <a:p>
            <a:pPr lvl="4"/>
            <a:r>
              <a:rPr lang="pt-BR" dirty="0"/>
              <a:t>Quinto nível</a:t>
            </a:r>
            <a:endParaRPr lang="pt-BR" dirty="0"/>
          </a:p>
        </p:txBody>
      </p:sp>
      <p:sp>
        <p:nvSpPr>
          <p:cNvPr id="7" name="Espaço Reservado para Data 3"/>
          <p:cNvSpPr>
            <a:spLocks noGrp="1" noEditPoints="1"/>
          </p:cNvSpPr>
          <p:nvPr>
            <p:ph type="dt" sz="half" idx="10"/>
          </p:nvPr>
        </p:nvSpPr>
        <p:spPr>
          <a:xfrm>
            <a:off x="2419823" y="6331700"/>
            <a:ext cx="2133600" cy="365125"/>
          </a:xfrm>
        </p:spPr>
        <p:txBody>
          <a:bodyPr/>
          <a:lstStyle>
            <a:lvl1pPr>
              <a:defRPr>
                <a:solidFill>
                  <a:schemeClr val="bg1"/>
                </a:solidFill>
              </a:defRPr>
            </a:lvl1pPr>
          </a:lstStyle>
          <a:p>
            <a:fld id="{A6F6E65D-8DAF-473D-8F8C-DED78E0ED715}" type="datetimeFigureOut">
              <a:rPr lang="pt-BR" smtClean="0"/>
            </a:fld>
            <a:endParaRPr lang="pt-BR" dirty="0"/>
          </a:p>
        </p:txBody>
      </p:sp>
      <p:sp>
        <p:nvSpPr>
          <p:cNvPr id="8" name="Espaço Reservado para Número de Slide 5"/>
          <p:cNvSpPr>
            <a:spLocks noGrp="1" noEditPoints="1"/>
          </p:cNvSpPr>
          <p:nvPr>
            <p:ph type="sldNum" sz="quarter" idx="12"/>
          </p:nvPr>
        </p:nvSpPr>
        <p:spPr>
          <a:xfrm>
            <a:off x="7217" y="6356350"/>
            <a:ext cx="2133600" cy="365125"/>
          </a:xfrm>
        </p:spPr>
        <p:txBody>
          <a:bodyPr/>
          <a:lstStyle>
            <a:lvl1pPr algn="l">
              <a:defRPr>
                <a:solidFill>
                  <a:schemeClr val="bg1"/>
                </a:solidFill>
              </a:defRPr>
            </a:lvl1pPr>
          </a:lstStyle>
          <a:p>
            <a:fld id="{45950755-B738-4D9B-829E-82AFD49363A1}" type="slidenum">
              <a:rPr lang="pt-BR" smtClean="0"/>
            </a:fld>
            <a:r>
              <a:rPr lang="pt-BR" dirty="0"/>
              <a:t> - Versão : 0.0</a:t>
            </a:r>
            <a:endParaRPr lang="pt-B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4" name="Espaço Reservado para Data 3"/>
          <p:cNvSpPr>
            <a:spLocks noGrp="1" noEditPoints="1"/>
          </p:cNvSpPr>
          <p:nvPr>
            <p:ph type="dt" sz="half" idx="10"/>
          </p:nvPr>
        </p:nvSpPr>
        <p:spPr>
          <a:xfrm>
            <a:off x="2419823" y="6331700"/>
            <a:ext cx="2133600" cy="365125"/>
          </a:xfrm>
        </p:spPr>
        <p:txBody>
          <a:bodyPr/>
          <a:lstStyle>
            <a:lvl1pPr>
              <a:defRPr>
                <a:solidFill>
                  <a:schemeClr val="bg1"/>
                </a:solidFill>
              </a:defRPr>
            </a:lvl1pPr>
          </a:lstStyle>
          <a:p>
            <a:fld id="{A6F6E65D-8DAF-473D-8F8C-DED78E0ED715}" type="datetimeFigureOut">
              <a:rPr lang="pt-BR" smtClean="0"/>
            </a:fld>
            <a:endParaRPr lang="pt-BR" dirty="0"/>
          </a:p>
        </p:txBody>
      </p:sp>
      <p:sp>
        <p:nvSpPr>
          <p:cNvPr id="6" name="Espaço Reservado para Número de Slide 5"/>
          <p:cNvSpPr>
            <a:spLocks noGrp="1" noEditPoints="1"/>
          </p:cNvSpPr>
          <p:nvPr>
            <p:ph type="sldNum" sz="quarter" idx="12"/>
          </p:nvPr>
        </p:nvSpPr>
        <p:spPr>
          <a:xfrm>
            <a:off x="7217" y="6356350"/>
            <a:ext cx="2133600" cy="365125"/>
          </a:xfrm>
        </p:spPr>
        <p:txBody>
          <a:bodyPr/>
          <a:lstStyle>
            <a:lvl1pPr algn="l">
              <a:defRPr>
                <a:solidFill>
                  <a:schemeClr val="bg1"/>
                </a:solidFill>
              </a:defRPr>
            </a:lvl1pPr>
          </a:lstStyle>
          <a:p>
            <a:fld id="{45950755-B738-4D9B-829E-82AFD49363A1}" type="slidenum">
              <a:rPr lang="pt-BR" smtClean="0"/>
            </a:fld>
            <a:r>
              <a:rPr lang="pt-BR" dirty="0"/>
              <a:t> - Versão : 0.0</a:t>
            </a:r>
            <a:endParaRPr lang="pt-BR" dirty="0"/>
          </a:p>
        </p:txBody>
      </p:sp>
      <p:pic>
        <p:nvPicPr>
          <p:cNvPr id="7" name="Imagem 6"/>
          <p:cNvPicPr>
            <a:picLocks noChangeAspect="1"/>
          </p:cNvPicPr>
          <p:nvPr userDrawn="1"/>
        </p:nvPicPr>
        <p:blipFill>
          <a:blip r:embed="rId2"/>
          <a:srcRect/>
          <a:stretch>
            <a:fillRect/>
          </a:stretch>
        </p:blipFill>
        <p:spPr>
          <a:xfrm>
            <a:off x="7659836" y="-1984"/>
            <a:ext cx="1475656" cy="1229714"/>
          </a:xfrm>
          <a:prstGeom prst="rect">
            <a:avLst/>
          </a:prstGeom>
        </p:spPr>
      </p:pic>
      <p:cxnSp>
        <p:nvCxnSpPr>
          <p:cNvPr id="11" name="Conector Reto 10"/>
          <p:cNvCxnSpPr/>
          <p:nvPr userDrawn="1"/>
        </p:nvCxnSpPr>
        <p:spPr>
          <a:xfrm>
            <a:off x="0" y="1227730"/>
            <a:ext cx="9144000" cy="0"/>
          </a:xfrm>
          <a:prstGeom prst="line">
            <a:avLst/>
          </a:prstGeom>
          <a:ln w="38100"/>
        </p:spPr>
        <p:style>
          <a:lnRef idx="2">
            <a:schemeClr val="accent2"/>
          </a:lnRef>
          <a:fillRef idx="0">
            <a:schemeClr val="accent2"/>
          </a:fillRef>
          <a:effectRef idx="1">
            <a:schemeClr val="accent2"/>
          </a:effectRef>
          <a:fontRef idx="minor">
            <a:schemeClr val="tx1"/>
          </a:fontRef>
        </p:style>
      </p:cxnSp>
    </p:spTree>
  </p:cSld>
  <p:clrMapOvr>
    <a:masterClrMapping/>
  </p:clrMapOvr>
  <p:hf sldNum="0" hdr="0" ftr="0" dt="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noEditPoints="1"/>
          </p:cNvSpPr>
          <p:nvPr>
            <p:ph type="title"/>
          </p:nvPr>
        </p:nvSpPr>
        <p:spPr>
          <a:xfrm>
            <a:off x="107504" y="25796"/>
            <a:ext cx="7645678" cy="1143000"/>
          </a:xfrm>
          <a:prstGeom prst="rect">
            <a:avLst/>
          </a:prstGeom>
        </p:spPr>
        <p:txBody>
          <a:bodyPr vert="horz" lIns="91440" tIns="45720" rIns="91440" bIns="45720" rtlCol="0" anchor="ctr">
            <a:normAutofit/>
          </a:bodyPr>
          <a:lstStyle/>
          <a:p>
            <a:r>
              <a:rPr lang="pt-BR" dirty="0"/>
              <a:t>Clique para editar o título mestre</a:t>
            </a:r>
            <a:endParaRPr lang="pt-BR" dirty="0"/>
          </a:p>
        </p:txBody>
      </p:sp>
      <p:sp>
        <p:nvSpPr>
          <p:cNvPr id="3" name="Espaço Reservado para Texto 2"/>
          <p:cNvSpPr>
            <a:spLocks noGrp="1" noEditPoints="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dirty="0"/>
              <a:t>Clique para editar o texto mestre</a:t>
            </a:r>
            <a:endParaRPr lang="pt-BR" dirty="0"/>
          </a:p>
          <a:p>
            <a:pPr lvl="1"/>
            <a:r>
              <a:rPr lang="pt-BR" dirty="0"/>
              <a:t>Segundo nível</a:t>
            </a:r>
            <a:endParaRPr lang="pt-BR" dirty="0"/>
          </a:p>
          <a:p>
            <a:pPr lvl="2"/>
            <a:r>
              <a:rPr lang="pt-BR" dirty="0"/>
              <a:t>Terceiro nível</a:t>
            </a:r>
            <a:endParaRPr lang="pt-BR" dirty="0"/>
          </a:p>
          <a:p>
            <a:pPr lvl="3"/>
            <a:r>
              <a:rPr lang="pt-BR" dirty="0"/>
              <a:t>Quarto nível</a:t>
            </a:r>
            <a:endParaRPr lang="pt-BR" dirty="0"/>
          </a:p>
          <a:p>
            <a:pPr lvl="4"/>
            <a:r>
              <a:rPr lang="pt-BR" dirty="0"/>
              <a:t>Quinto nível</a:t>
            </a:r>
            <a:endParaRPr lang="pt-BR" dirty="0"/>
          </a:p>
        </p:txBody>
      </p:sp>
      <p:sp>
        <p:nvSpPr>
          <p:cNvPr id="4" name="Espaço Reservado para Data 3"/>
          <p:cNvSpPr>
            <a:spLocks noGrp="1" noEditPoints="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6F6E65D-8DAF-473D-8F8C-DED78E0ED715}" type="datetimeFigureOut">
              <a:rPr lang="pt-BR" smtClean="0"/>
            </a:fld>
            <a:endParaRPr lang="pt-BR"/>
          </a:p>
        </p:txBody>
      </p:sp>
      <p:sp>
        <p:nvSpPr>
          <p:cNvPr id="5" name="Espaço Reservado para Rodapé 4"/>
          <p:cNvSpPr>
            <a:spLocks noGrp="1" noEditPoints="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pt-BR"/>
          </a:p>
        </p:txBody>
      </p:sp>
      <p:sp>
        <p:nvSpPr>
          <p:cNvPr id="6" name="Espaço Reservado para Número de Slide 5"/>
          <p:cNvSpPr>
            <a:spLocks noGrp="1" noEditPoints="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45950755-B738-4D9B-829E-82AFD49363A1}" type="slidenum">
              <a:rPr lang="pt-BR" smtClean="0"/>
            </a:fld>
            <a:endParaRPr lang="pt-BR"/>
          </a:p>
        </p:txBody>
      </p:sp>
      <p:cxnSp>
        <p:nvCxnSpPr>
          <p:cNvPr id="8" name="Conector Reto 7"/>
          <p:cNvCxnSpPr/>
          <p:nvPr userDrawn="1"/>
        </p:nvCxnSpPr>
        <p:spPr>
          <a:xfrm>
            <a:off x="0" y="1227730"/>
            <a:ext cx="9144000" cy="0"/>
          </a:xfrm>
          <a:prstGeom prst="line">
            <a:avLst/>
          </a:prstGeom>
          <a:ln w="38100"/>
        </p:spPr>
        <p:style>
          <a:lnRef idx="2">
            <a:schemeClr val="accent2"/>
          </a:lnRef>
          <a:fillRef idx="0">
            <a:schemeClr val="accent2"/>
          </a:fillRef>
          <a:effectRef idx="1">
            <a:schemeClr val="accent2"/>
          </a:effectRef>
          <a:fontRef idx="minor">
            <a:schemeClr val="tx1"/>
          </a:fontRef>
        </p:style>
      </p:cxnSp>
      <p:sp>
        <p:nvSpPr>
          <p:cNvPr id="11" name="Retângulo 10"/>
          <p:cNvSpPr/>
          <p:nvPr userDrawn="1"/>
        </p:nvSpPr>
        <p:spPr>
          <a:xfrm>
            <a:off x="0" y="5877274"/>
            <a:ext cx="9135492" cy="980726"/>
          </a:xfrm>
          <a:prstGeom prst="rect">
            <a:avLst/>
          </a:prstGeom>
          <a:solidFill>
            <a:srgbClr val="B4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latin typeface="Arial" panose="020B0604020202020204" pitchFamily="34" charset="0"/>
              <a:cs typeface="Arial" panose="020B0604020202020204" pitchFamily="34" charset="0"/>
            </a:endParaRPr>
          </a:p>
        </p:txBody>
      </p:sp>
      <p:pic>
        <p:nvPicPr>
          <p:cNvPr id="10" name="Imagem 9"/>
          <p:cNvPicPr>
            <a:picLocks noChangeAspect="1"/>
          </p:cNvPicPr>
          <p:nvPr userDrawn="1"/>
        </p:nvPicPr>
        <p:blipFill>
          <a:blip r:embed="rId3"/>
          <a:srcRect/>
          <a:stretch>
            <a:fillRect/>
          </a:stretch>
        </p:blipFill>
        <p:spPr>
          <a:xfrm>
            <a:off x="6198122" y="6118495"/>
            <a:ext cx="2843756" cy="602980"/>
          </a:xfrm>
          <a:prstGeom prst="rect">
            <a:avLst/>
          </a:prstGeom>
        </p:spPr>
      </p:pic>
      <p:pic>
        <p:nvPicPr>
          <p:cNvPr id="15" name="Imagem 14"/>
          <p:cNvPicPr>
            <a:picLocks noChangeAspect="1"/>
          </p:cNvPicPr>
          <p:nvPr userDrawn="1"/>
        </p:nvPicPr>
        <p:blipFill>
          <a:blip r:embed="rId4"/>
          <a:srcRect/>
          <a:stretch>
            <a:fillRect/>
          </a:stretch>
        </p:blipFill>
        <p:spPr>
          <a:xfrm>
            <a:off x="4792617" y="5961054"/>
            <a:ext cx="1176905" cy="790592"/>
          </a:xfrm>
          <a:prstGeom prst="rect">
            <a:avLst/>
          </a:prstGeom>
        </p:spPr>
      </p:pic>
      <p:pic>
        <p:nvPicPr>
          <p:cNvPr id="7" name="Imagem 6"/>
          <p:cNvPicPr>
            <a:picLocks noChangeAspect="1"/>
          </p:cNvPicPr>
          <p:nvPr userDrawn="1"/>
        </p:nvPicPr>
        <p:blipFill>
          <a:blip r:embed="rId5"/>
          <a:srcRect/>
          <a:stretch>
            <a:fillRect/>
          </a:stretch>
        </p:blipFill>
        <p:spPr>
          <a:xfrm>
            <a:off x="7753182" y="38950"/>
            <a:ext cx="1382310" cy="11519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hyperlink" Target="https://vitrineweb-app.vercel.app/"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ENTRO ESTADUAL DE EDUCAÇÃO TECNOLÓGICA&#10;“PAULA SOUZA” – CEET"/>
          <p:cNvSpPr>
            <a:spLocks noGrp="1"/>
          </p:cNvSpPr>
          <p:nvPr/>
        </p:nvSpPr>
        <p:spPr>
          <a:xfrm>
            <a:off x="419100" y="438150"/>
            <a:ext cx="7010400" cy="533400"/>
          </a:xfrm>
          <a:prstGeom prst="rect">
            <a:avLst/>
          </a:prstGeom>
          <a:noFill/>
          <a:ln w="0">
            <a:noFill/>
          </a:ln>
        </p:spPr>
        <p:txBody>
          <a:bodyPr lIns="0" tIns="0" rIns="0" bIns="0" anchor="t">
            <a:noAutofit/>
          </a:bodyPr>
          <a:lstStyle/>
          <a:p>
            <a:pPr algn="ctr">
              <a:defRPr sz="1425" b="1">
                <a:solidFill>
                  <a:srgbClr val="232323"/>
                </a:solidFill>
                <a:latin typeface="Arial" panose="020B0604020202020204"/>
                <a:ea typeface="Arial" panose="020B0604020202020204"/>
                <a:cs typeface="Arial" panose="020B0604020202020204"/>
              </a:defRPr>
            </a:pPr>
            <a:r>
              <a:rPr sz="1425" b="1">
                <a:solidFill>
                  <a:srgbClr val="232323"/>
                </a:solidFill>
                <a:latin typeface="Arial" panose="020B0604020202020204"/>
                <a:ea typeface="Arial" panose="020B0604020202020204"/>
                <a:cs typeface="Arial" panose="020B0604020202020204"/>
              </a:rPr>
              <a:t>CENTRO ESTADUAL DE EDUCAÇÃO TECNOLÓGICA</a:t>
            </a:r>
            <a:endParaRPr sz="1425" b="1">
              <a:solidFill>
                <a:srgbClr val="232323"/>
              </a:solidFill>
              <a:latin typeface="Arial" panose="020B0604020202020204"/>
              <a:ea typeface="Arial" panose="020B0604020202020204"/>
              <a:cs typeface="Arial" panose="020B0604020202020204"/>
            </a:endParaRPr>
          </a:p>
          <a:p>
            <a:pPr algn="ctr">
              <a:defRPr sz="1425" b="1">
                <a:solidFill>
                  <a:srgbClr val="232323"/>
                </a:solidFill>
                <a:latin typeface="Arial" panose="020B0604020202020204"/>
                <a:ea typeface="Arial" panose="020B0604020202020204"/>
                <a:cs typeface="Arial" panose="020B0604020202020204"/>
              </a:defRPr>
            </a:pPr>
            <a:r>
              <a:rPr sz="1425" b="1">
                <a:solidFill>
                  <a:srgbClr val="232323"/>
                </a:solidFill>
                <a:latin typeface="Arial" panose="020B0604020202020204"/>
                <a:ea typeface="Arial" panose="020B0604020202020204"/>
                <a:cs typeface="Arial" panose="020B0604020202020204"/>
              </a:rPr>
              <a:t>“PAULA SOUZA” – CEETEPS</a:t>
            </a:r>
            <a:endParaRPr sz="1425" b="1">
              <a:solidFill>
                <a:srgbClr val="232323"/>
              </a:solidFill>
              <a:latin typeface="Arial" panose="020B0604020202020204"/>
              <a:ea typeface="Arial" panose="020B0604020202020204"/>
              <a:cs typeface="Arial" panose="020B0604020202020204"/>
            </a:endParaRPr>
          </a:p>
        </p:txBody>
      </p:sp>
      <p:sp>
        <p:nvSpPr>
          <p:cNvPr id="102" name="ESCOLA TÉCNICA ESTADUAL “DR. ADAIL NUNES DA SILVA”"/>
          <p:cNvSpPr>
            <a:spLocks noGrp="1"/>
          </p:cNvSpPr>
          <p:nvPr/>
        </p:nvSpPr>
        <p:spPr>
          <a:xfrm>
            <a:off x="457200" y="1238250"/>
            <a:ext cx="8229600" cy="304800"/>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ESCOLA TÉCNICA ESTADUAL “DR. ADAIL NUNES DA SILVA”</a:t>
            </a:r>
            <a:endParaRPr sz="1500" b="0">
              <a:solidFill>
                <a:srgbClr val="232323"/>
              </a:solidFill>
              <a:latin typeface="Arial" panose="020B0604020202020204"/>
              <a:ea typeface="Arial" panose="020B0604020202020204"/>
              <a:cs typeface="Arial" panose="020B0604020202020204"/>
            </a:endParaRPr>
          </a:p>
        </p:txBody>
      </p:sp>
      <p:sp>
        <p:nvSpPr>
          <p:cNvPr id="103" name="TÉCNICO EM DESENVOLVIMENTO DE SISTEMAS"/>
          <p:cNvSpPr>
            <a:spLocks noGrp="1"/>
          </p:cNvSpPr>
          <p:nvPr/>
        </p:nvSpPr>
        <p:spPr>
          <a:xfrm>
            <a:off x="457200" y="1619250"/>
            <a:ext cx="8229600" cy="266700"/>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TÉCNICO EM DESENVOLVIMENTO DE SISTEMAS</a:t>
            </a:r>
            <a:endParaRPr sz="1500" b="0">
              <a:solidFill>
                <a:srgbClr val="232323"/>
              </a:solidFill>
              <a:latin typeface="Arial" panose="020B0604020202020204"/>
              <a:ea typeface="Arial" panose="020B0604020202020204"/>
              <a:cs typeface="Arial" panose="020B0604020202020204"/>
            </a:endParaRPr>
          </a:p>
        </p:txBody>
      </p:sp>
      <p:sp>
        <p:nvSpPr>
          <p:cNvPr id="104" name="Catálogo Digital: Vitrine Web"/>
          <p:cNvSpPr>
            <a:spLocks noGrp="1"/>
          </p:cNvSpPr>
          <p:nvPr/>
        </p:nvSpPr>
        <p:spPr>
          <a:xfrm>
            <a:off x="457200" y="2333625"/>
            <a:ext cx="8229600" cy="495300"/>
          </a:xfrm>
          <a:prstGeom prst="rect">
            <a:avLst/>
          </a:prstGeom>
          <a:noFill/>
          <a:ln w="0">
            <a:noFill/>
          </a:ln>
        </p:spPr>
        <p:txBody>
          <a:bodyPr lIns="0" tIns="0" rIns="0" bIns="0" anchor="t">
            <a:noAutofit/>
          </a:bodyPr>
          <a:lstStyle/>
          <a:p>
            <a:pPr algn="ctr">
              <a:defRPr sz="2925" b="1">
                <a:solidFill>
                  <a:srgbClr val="232323"/>
                </a:solidFill>
                <a:latin typeface="Arial" panose="020B0604020202020204"/>
                <a:ea typeface="Arial" panose="020B0604020202020204"/>
                <a:cs typeface="Arial" panose="020B0604020202020204"/>
              </a:defRPr>
            </a:pPr>
            <a:r>
              <a:rPr sz="2925" b="1">
                <a:solidFill>
                  <a:srgbClr val="232323"/>
                </a:solidFill>
                <a:latin typeface="Arial" panose="020B0604020202020204"/>
                <a:ea typeface="Arial" panose="020B0604020202020204"/>
                <a:cs typeface="Arial" panose="020B0604020202020204"/>
              </a:rPr>
              <a:t>Catálogo Digital: Vitrine Web</a:t>
            </a:r>
            <a:endParaRPr sz="2925" b="1">
              <a:solidFill>
                <a:srgbClr val="232323"/>
              </a:solidFill>
              <a:latin typeface="Arial" panose="020B0604020202020204"/>
              <a:ea typeface="Arial" panose="020B0604020202020204"/>
              <a:cs typeface="Arial" panose="020B0604020202020204"/>
            </a:endParaRPr>
          </a:p>
        </p:txBody>
      </p:sp>
      <p:sp>
        <p:nvSpPr>
          <p:cNvPr id="105" name="Discentes"/>
          <p:cNvSpPr>
            <a:spLocks noGrp="1"/>
          </p:cNvSpPr>
          <p:nvPr/>
        </p:nvSpPr>
        <p:spPr>
          <a:xfrm>
            <a:off x="457200" y="3105150"/>
            <a:ext cx="8229600" cy="247650"/>
          </a:xfrm>
          <a:prstGeom prst="rect">
            <a:avLst/>
          </a:prstGeom>
          <a:noFill/>
          <a:ln w="0">
            <a:noFill/>
          </a:ln>
        </p:spPr>
        <p:txBody>
          <a:bodyPr lIns="0" tIns="0" rIns="0" bIns="0" anchor="t">
            <a:noAutofit/>
          </a:bodyPr>
          <a:lstStyle/>
          <a:p>
            <a:pPr algn="ctr">
              <a:defRPr sz="1575" b="1">
                <a:solidFill>
                  <a:srgbClr val="232323"/>
                </a:solidFill>
                <a:latin typeface="Arial" panose="020B0604020202020204"/>
                <a:ea typeface="Arial" panose="020B0604020202020204"/>
                <a:cs typeface="Arial" panose="020B0604020202020204"/>
              </a:defRPr>
            </a:pPr>
            <a:r>
              <a:rPr sz="1575" b="1">
                <a:solidFill>
                  <a:srgbClr val="232323"/>
                </a:solidFill>
                <a:latin typeface="Arial" panose="020B0604020202020204"/>
                <a:ea typeface="Arial" panose="020B0604020202020204"/>
                <a:cs typeface="Arial" panose="020B0604020202020204"/>
              </a:rPr>
              <a:t>Discentes</a:t>
            </a:r>
            <a:endParaRPr sz="1575" b="1">
              <a:solidFill>
                <a:srgbClr val="232323"/>
              </a:solidFill>
              <a:latin typeface="Arial" panose="020B0604020202020204"/>
              <a:ea typeface="Arial" panose="020B0604020202020204"/>
              <a:cs typeface="Arial" panose="020B0604020202020204"/>
            </a:endParaRPr>
          </a:p>
        </p:txBody>
      </p:sp>
      <p:sp>
        <p:nvSpPr>
          <p:cNvPr id="106" name="Gustavo Henrique Pereira"/>
          <p:cNvSpPr>
            <a:spLocks noGrp="1"/>
          </p:cNvSpPr>
          <p:nvPr/>
        </p:nvSpPr>
        <p:spPr>
          <a:xfrm>
            <a:off x="457200" y="3448050"/>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Gustavo Henrique Pereira</a:t>
            </a:r>
            <a:endParaRPr sz="1725" b="0">
              <a:solidFill>
                <a:srgbClr val="232323"/>
              </a:solidFill>
              <a:latin typeface="Arial" panose="020B0604020202020204"/>
              <a:ea typeface="Arial" panose="020B0604020202020204"/>
              <a:cs typeface="Arial" panose="020B0604020202020204"/>
            </a:endParaRPr>
          </a:p>
        </p:txBody>
      </p:sp>
      <p:sp>
        <p:nvSpPr>
          <p:cNvPr id="107" name="Jason Nicolas Pires"/>
          <p:cNvSpPr>
            <a:spLocks noGrp="1"/>
          </p:cNvSpPr>
          <p:nvPr/>
        </p:nvSpPr>
        <p:spPr>
          <a:xfrm>
            <a:off x="457200" y="3743325"/>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Jason Nicolas Pires</a:t>
            </a:r>
            <a:endParaRPr sz="1725" b="0">
              <a:solidFill>
                <a:srgbClr val="232323"/>
              </a:solidFill>
              <a:latin typeface="Arial" panose="020B0604020202020204"/>
              <a:ea typeface="Arial" panose="020B0604020202020204"/>
              <a:cs typeface="Arial" panose="020B0604020202020204"/>
            </a:endParaRPr>
          </a:p>
        </p:txBody>
      </p:sp>
      <p:sp>
        <p:nvSpPr>
          <p:cNvPr id="108" name="Luiz Gustavo Morata Pereira"/>
          <p:cNvSpPr>
            <a:spLocks noGrp="1"/>
          </p:cNvSpPr>
          <p:nvPr/>
        </p:nvSpPr>
        <p:spPr>
          <a:xfrm>
            <a:off x="457200" y="4038600"/>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Luiz Gustavo Morata Pereira</a:t>
            </a:r>
            <a:endParaRPr sz="1725" b="0">
              <a:solidFill>
                <a:srgbClr val="232323"/>
              </a:solidFill>
              <a:latin typeface="Arial" panose="020B0604020202020204"/>
              <a:ea typeface="Arial" panose="020B0604020202020204"/>
              <a:cs typeface="Arial" panose="020B0604020202020204"/>
            </a:endParaRPr>
          </a:p>
        </p:txBody>
      </p:sp>
      <p:sp>
        <p:nvSpPr>
          <p:cNvPr id="109" name="Moisés Figueiredo Santos Machado"/>
          <p:cNvSpPr>
            <a:spLocks noGrp="1"/>
          </p:cNvSpPr>
          <p:nvPr/>
        </p:nvSpPr>
        <p:spPr>
          <a:xfrm>
            <a:off x="457200" y="4333875"/>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Moisés Figueiredo Santos Machado</a:t>
            </a:r>
            <a:endParaRPr sz="1725" b="0">
              <a:solidFill>
                <a:srgbClr val="232323"/>
              </a:solidFill>
              <a:latin typeface="Arial" panose="020B0604020202020204"/>
              <a:ea typeface="Arial" panose="020B0604020202020204"/>
              <a:cs typeface="Arial" panose="020B0604020202020204"/>
            </a:endParaRPr>
          </a:p>
        </p:txBody>
      </p:sp>
      <p:sp>
        <p:nvSpPr>
          <p:cNvPr id="110" name="Orientador: Prof. Leonardo Murilo Hervas"/>
          <p:cNvSpPr>
            <a:spLocks noGrp="1"/>
          </p:cNvSpPr>
          <p:nvPr/>
        </p:nvSpPr>
        <p:spPr>
          <a:xfrm>
            <a:off x="457200" y="4886325"/>
            <a:ext cx="8229600" cy="323850"/>
          </a:xfrm>
          <a:prstGeom prst="rect">
            <a:avLst/>
          </a:prstGeom>
          <a:noFill/>
          <a:ln w="0">
            <a:noFill/>
          </a:ln>
        </p:spPr>
        <p:txBody>
          <a:bodyPr lIns="0" tIns="0" rIns="0" bIns="0" anchor="t">
            <a:noAutofit/>
          </a:bodyPr>
          <a:lstStyle/>
          <a:p>
            <a:pPr algn="ctr">
              <a:defRPr sz="1650" b="0">
                <a:solidFill>
                  <a:srgbClr val="232323"/>
                </a:solidFill>
                <a:latin typeface="Arial" panose="020B0604020202020204"/>
                <a:ea typeface="Arial" panose="020B0604020202020204"/>
                <a:cs typeface="Arial" panose="020B0604020202020204"/>
              </a:defRPr>
            </a:pPr>
            <a:r>
              <a:rPr sz="1650" b="0">
                <a:solidFill>
                  <a:srgbClr val="232323"/>
                </a:solidFill>
                <a:latin typeface="Arial" panose="020B0604020202020204"/>
                <a:ea typeface="Arial" panose="020B0604020202020204"/>
                <a:cs typeface="Arial" panose="020B0604020202020204"/>
              </a:rPr>
              <a:t>Orientador: Prof. Leonardo Murilo Hervas</a:t>
            </a:r>
            <a:endParaRPr sz="1650" b="0">
              <a:solidFill>
                <a:srgbClr val="232323"/>
              </a:solidFill>
              <a:latin typeface="Arial" panose="020B0604020202020204"/>
              <a:ea typeface="Arial" panose="020B0604020202020204"/>
              <a:cs typeface="Arial" panose="020B0604020202020204"/>
            </a:endParaRPr>
          </a:p>
        </p:txBody>
      </p:sp>
      <p:sp>
        <p:nvSpPr>
          <p:cNvPr id="111" name="Taquaritinga, 2026"/>
          <p:cNvSpPr>
            <a:spLocks noGrp="1"/>
          </p:cNvSpPr>
          <p:nvPr/>
        </p:nvSpPr>
        <p:spPr>
          <a:xfrm>
            <a:off x="457200" y="5400675"/>
            <a:ext cx="8229600" cy="276225"/>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Taquaritinga, 2026</a:t>
            </a:r>
            <a:endParaRPr sz="1500"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INTRODUÇÃO</a:t>
            </a:r>
            <a:endParaRPr sz="2400" b="1">
              <a:solidFill>
                <a:srgbClr val="232323"/>
              </a:solidFill>
              <a:latin typeface="Arial" panose="020B0604020202020204"/>
              <a:ea typeface="Arial" panose="020B0604020202020204"/>
              <a:cs typeface="Arial" panose="020B0604020202020204"/>
            </a:endParaRPr>
          </a:p>
        </p:txBody>
      </p:sp>
      <p:sp>
        <p:nvSpPr>
          <p:cNvPr id="102" name="O problema"/>
          <p:cNvSpPr>
            <a:spLocks noGrp="1"/>
          </p:cNvSpPr>
          <p:nvPr/>
        </p:nvSpPr>
        <p:spPr>
          <a:xfrm>
            <a:off x="619125" y="1609725"/>
            <a:ext cx="7810500" cy="36195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O problema</a:t>
            </a:r>
            <a:endParaRPr sz="2025" b="1">
              <a:solidFill>
                <a:srgbClr val="BD0000"/>
              </a:solidFill>
              <a:latin typeface="Arial" panose="020B0604020202020204"/>
              <a:ea typeface="Arial" panose="020B0604020202020204"/>
              <a:cs typeface="Arial" panose="020B0604020202020204"/>
            </a:endParaRPr>
          </a:p>
        </p:txBody>
      </p:sp>
      <p:sp>
        <p:nvSpPr>
          <p:cNvPr id="103" name="Com produtos espalhados em publicações e conversas, o client"/>
          <p:cNvSpPr>
            <a:spLocks noGrp="1"/>
          </p:cNvSpPr>
          <p:nvPr/>
        </p:nvSpPr>
        <p:spPr>
          <a:xfrm>
            <a:off x="619125" y="2095500"/>
            <a:ext cx="7715250" cy="1143000"/>
          </a:xfrm>
          <a:prstGeom prst="rect">
            <a:avLst/>
          </a:prstGeom>
          <a:noFill/>
          <a:ln w="0">
            <a:noFill/>
          </a:ln>
        </p:spPr>
        <p:txBody>
          <a:bodyPr lIns="0" tIns="0" rIns="0" bIns="0" anchor="t">
            <a:noAutofit/>
          </a:bodyPr>
          <a:lstStyle/>
          <a:p>
            <a:pPr algn="l">
              <a:defRPr sz="2175" b="0">
                <a:solidFill>
                  <a:srgbClr val="232323"/>
                </a:solidFill>
                <a:latin typeface="Arial" panose="020B0604020202020204"/>
                <a:ea typeface="Arial" panose="020B0604020202020204"/>
                <a:cs typeface="Arial" panose="020B0604020202020204"/>
              </a:defRPr>
            </a:pPr>
            <a:r>
              <a:rPr sz="2175" b="0">
                <a:solidFill>
                  <a:srgbClr val="232323"/>
                </a:solidFill>
                <a:latin typeface="Arial" panose="020B0604020202020204"/>
                <a:ea typeface="Arial" panose="020B0604020202020204"/>
                <a:cs typeface="Arial" panose="020B0604020202020204"/>
              </a:rPr>
              <a:t>Com produtos espalhados em publicações e conversas,</a:t>
            </a:r>
            <a:r>
              <a:rPr lang="pt-BR" sz="2175" b="0">
                <a:solidFill>
                  <a:srgbClr val="232323"/>
                </a:solidFill>
                <a:latin typeface="Arial" panose="020B0604020202020204"/>
                <a:ea typeface="Arial" panose="020B0604020202020204"/>
                <a:cs typeface="Arial" panose="020B0604020202020204"/>
              </a:rPr>
              <a:t> sem gerenciamento completo,</a:t>
            </a:r>
            <a:r>
              <a:rPr sz="2175" b="0">
                <a:solidFill>
                  <a:srgbClr val="232323"/>
                </a:solidFill>
                <a:latin typeface="Arial" panose="020B0604020202020204"/>
                <a:ea typeface="Arial" panose="020B0604020202020204"/>
                <a:cs typeface="Arial" panose="020B0604020202020204"/>
              </a:rPr>
              <a:t> o cliente precisa perguntar o que a loja tem</a:t>
            </a:r>
            <a:r>
              <a:rPr lang="pt-BR" sz="2175" b="0">
                <a:solidFill>
                  <a:srgbClr val="232323"/>
                </a:solidFill>
                <a:latin typeface="Arial" panose="020B0604020202020204"/>
                <a:ea typeface="Arial" panose="020B0604020202020204"/>
                <a:cs typeface="Arial" panose="020B0604020202020204"/>
              </a:rPr>
              <a:t> de seu interesse</a:t>
            </a:r>
            <a:r>
              <a:rPr sz="2175" b="0">
                <a:solidFill>
                  <a:srgbClr val="232323"/>
                </a:solidFill>
                <a:latin typeface="Arial" panose="020B0604020202020204"/>
                <a:ea typeface="Arial" panose="020B0604020202020204"/>
                <a:cs typeface="Arial" panose="020B0604020202020204"/>
              </a:rPr>
              <a:t> e quanto</a:t>
            </a:r>
            <a:r>
              <a:rPr lang="pt-BR" sz="2175" b="0">
                <a:solidFill>
                  <a:srgbClr val="232323"/>
                </a:solidFill>
                <a:latin typeface="Arial" panose="020B0604020202020204"/>
                <a:ea typeface="Arial" panose="020B0604020202020204"/>
                <a:cs typeface="Arial" panose="020B0604020202020204"/>
              </a:rPr>
              <a:t> o produto</a:t>
            </a:r>
            <a:r>
              <a:rPr sz="2175" b="0">
                <a:solidFill>
                  <a:srgbClr val="232323"/>
                </a:solidFill>
                <a:latin typeface="Arial" panose="020B0604020202020204"/>
                <a:ea typeface="Arial" panose="020B0604020202020204"/>
                <a:cs typeface="Arial" panose="020B0604020202020204"/>
              </a:rPr>
              <a:t> custa.</a:t>
            </a:r>
            <a:endParaRPr sz="2175" b="0">
              <a:solidFill>
                <a:srgbClr val="232323"/>
              </a:solidFill>
              <a:latin typeface="Arial" panose="020B0604020202020204"/>
              <a:ea typeface="Arial" panose="020B0604020202020204"/>
              <a:cs typeface="Arial" panose="020B0604020202020204"/>
            </a:endParaRPr>
          </a:p>
        </p:txBody>
      </p:sp>
      <p:sp>
        <p:nvSpPr>
          <p:cNvPr id="104" name="A solução"/>
          <p:cNvSpPr>
            <a:spLocks noGrp="1"/>
          </p:cNvSpPr>
          <p:nvPr/>
        </p:nvSpPr>
        <p:spPr>
          <a:xfrm>
            <a:off x="619125" y="3600450"/>
            <a:ext cx="7810500" cy="36195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A solução</a:t>
            </a:r>
            <a:endParaRPr sz="2025" b="1">
              <a:solidFill>
                <a:srgbClr val="BD0000"/>
              </a:solidFill>
              <a:latin typeface="Arial" panose="020B0604020202020204"/>
              <a:ea typeface="Arial" panose="020B0604020202020204"/>
              <a:cs typeface="Arial" panose="020B0604020202020204"/>
            </a:endParaRPr>
          </a:p>
        </p:txBody>
      </p:sp>
      <p:sp>
        <p:nvSpPr>
          <p:cNvPr id="105" name="A Vitrine Web reúne os produtos em um catálogo. O cliente es"/>
          <p:cNvSpPr>
            <a:spLocks noGrp="1"/>
          </p:cNvSpPr>
          <p:nvPr/>
        </p:nvSpPr>
        <p:spPr>
          <a:xfrm>
            <a:off x="619125" y="4086225"/>
            <a:ext cx="7715250" cy="1295400"/>
          </a:xfrm>
          <a:prstGeom prst="rect">
            <a:avLst/>
          </a:prstGeom>
          <a:noFill/>
          <a:ln w="0">
            <a:noFill/>
          </a:ln>
        </p:spPr>
        <p:txBody>
          <a:bodyPr lIns="0" tIns="0" rIns="0" bIns="0" anchor="t">
            <a:noAutofit/>
          </a:bodyPr>
          <a:lstStyle/>
          <a:p>
            <a:pPr algn="l">
              <a:defRPr sz="2175" b="0">
                <a:solidFill>
                  <a:srgbClr val="232323"/>
                </a:solidFill>
                <a:latin typeface="Arial" panose="020B0604020202020204"/>
                <a:ea typeface="Arial" panose="020B0604020202020204"/>
                <a:cs typeface="Arial" panose="020B0604020202020204"/>
              </a:defRPr>
            </a:pPr>
            <a:r>
              <a:rPr sz="2175" b="0">
                <a:solidFill>
                  <a:srgbClr val="232323"/>
                </a:solidFill>
                <a:latin typeface="Arial" panose="020B0604020202020204"/>
                <a:ea typeface="Arial" panose="020B0604020202020204"/>
                <a:cs typeface="Arial" panose="020B0604020202020204"/>
              </a:rPr>
              <a:t>A Vitrine Web reúne os produtos</a:t>
            </a:r>
            <a:r>
              <a:rPr lang="pt-BR" sz="2175" b="0">
                <a:solidFill>
                  <a:srgbClr val="232323"/>
                </a:solidFill>
                <a:latin typeface="Arial" panose="020B0604020202020204"/>
                <a:ea typeface="Arial" panose="020B0604020202020204"/>
                <a:cs typeface="Arial" panose="020B0604020202020204"/>
              </a:rPr>
              <a:t> e toda operação do lojista em um só lugar</a:t>
            </a:r>
            <a:r>
              <a:rPr sz="2175" b="0">
                <a:solidFill>
                  <a:srgbClr val="232323"/>
                </a:solidFill>
                <a:latin typeface="Arial" panose="020B0604020202020204"/>
                <a:ea typeface="Arial" panose="020B0604020202020204"/>
                <a:cs typeface="Arial" panose="020B0604020202020204"/>
              </a:rPr>
              <a:t>. </a:t>
            </a:r>
            <a:r>
              <a:rPr lang="pt-BR" sz="2175" b="0">
                <a:solidFill>
                  <a:srgbClr val="232323"/>
                </a:solidFill>
                <a:latin typeface="Arial" panose="020B0604020202020204"/>
                <a:ea typeface="Arial" panose="020B0604020202020204"/>
                <a:cs typeface="Arial" panose="020B0604020202020204"/>
              </a:rPr>
              <a:t>O</a:t>
            </a:r>
            <a:r>
              <a:rPr sz="2175" b="0">
                <a:solidFill>
                  <a:srgbClr val="232323"/>
                </a:solidFill>
                <a:latin typeface="Arial" panose="020B0604020202020204"/>
                <a:ea typeface="Arial" panose="020B0604020202020204"/>
                <a:cs typeface="Arial" panose="020B0604020202020204"/>
              </a:rPr>
              <a:t> cliente escolhe </a:t>
            </a:r>
            <a:r>
              <a:rPr lang="pt-BR" sz="2175" b="0">
                <a:solidFill>
                  <a:srgbClr val="232323"/>
                </a:solidFill>
                <a:latin typeface="Arial" panose="020B0604020202020204"/>
                <a:ea typeface="Arial" panose="020B0604020202020204"/>
                <a:cs typeface="Arial" panose="020B0604020202020204"/>
              </a:rPr>
              <a:t>pelo</a:t>
            </a:r>
            <a:r>
              <a:rPr sz="2175" b="0">
                <a:solidFill>
                  <a:srgbClr val="232323"/>
                </a:solidFill>
                <a:latin typeface="Arial" panose="020B0604020202020204"/>
                <a:ea typeface="Arial" panose="020B0604020202020204"/>
                <a:cs typeface="Arial" panose="020B0604020202020204"/>
              </a:rPr>
              <a:t> site e continua o atendimento com a loja pelo WhatsApp.</a:t>
            </a:r>
            <a:endParaRPr sz="217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LEVANTAMENTO DE REQUISITOS</a:t>
            </a:r>
            <a:endParaRPr sz="2400" b="1">
              <a:solidFill>
                <a:srgbClr val="232323"/>
              </a:solidFill>
              <a:latin typeface="Arial" panose="020B0604020202020204"/>
              <a:ea typeface="Arial" panose="020B0604020202020204"/>
              <a:cs typeface="Arial" panose="020B0604020202020204"/>
            </a:endParaRPr>
          </a:p>
        </p:txBody>
      </p:sp>
      <p:sp>
        <p:nvSpPr>
          <p:cNvPr id="102" name="2. Compraria pelo catálogo&#10;de uma loja local?"/>
          <p:cNvSpPr>
            <a:spLocks noGrp="1"/>
          </p:cNvSpPr>
          <p:nvPr/>
        </p:nvSpPr>
        <p:spPr>
          <a:xfrm>
            <a:off x="428625" y="1333500"/>
            <a:ext cx="4000500" cy="619125"/>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2. Compraria pelo catálogo</a:t>
            </a:r>
            <a:endParaRPr sz="1725" b="1">
              <a:solidFill>
                <a:srgbClr val="232323"/>
              </a:solidFill>
              <a:latin typeface="Arial" panose="020B0604020202020204"/>
              <a:ea typeface="Arial" panose="020B0604020202020204"/>
              <a:cs typeface="Arial" panose="020B0604020202020204"/>
            </a:endParaRPr>
          </a:p>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de uma loja local?</a:t>
            </a:r>
            <a:endParaRPr sz="1725" b="1">
              <a:solidFill>
                <a:srgbClr val="232323"/>
              </a:solidFill>
              <a:latin typeface="Arial" panose="020B0604020202020204"/>
              <a:ea typeface="Arial" panose="020B0604020202020204"/>
              <a:cs typeface="Arial" panose="020B0604020202020204"/>
            </a:endParaRPr>
          </a:p>
        </p:txBody>
      </p:sp>
      <p:graphicFrame>
        <p:nvGraphicFramePr>
          <p:cNvPr id="103" name="Chart"/>
          <p:cNvGraphicFramePr/>
          <p:nvPr/>
        </p:nvGraphicFramePr>
        <p:xfrm>
          <a:off x="428625" y="1971675"/>
          <a:ext cx="3962400" cy="1171575"/>
        </p:xfrm>
        <a:graphic>
          <a:graphicData uri="http://schemas.openxmlformats.org/drawingml/2006/chart">
            <c:chart xmlns:c="http://schemas.openxmlformats.org/drawingml/2006/chart" xmlns:r="http://schemas.openxmlformats.org/officeDocument/2006/relationships" r:id="rId1"/>
          </a:graphicData>
        </a:graphic>
      </p:graphicFrame>
      <p:sp>
        <p:nvSpPr>
          <p:cNvPr id="104" name="6. Finalizar pelo WhatsApp&#10;atrapalharia a compra?"/>
          <p:cNvSpPr>
            <a:spLocks noGrp="1"/>
          </p:cNvSpPr>
          <p:nvPr/>
        </p:nvSpPr>
        <p:spPr>
          <a:xfrm>
            <a:off x="4762500" y="1333500"/>
            <a:ext cx="4000500" cy="619125"/>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6. Finalizar pelo WhatsApp</a:t>
            </a:r>
            <a:endParaRPr sz="1725" b="1">
              <a:solidFill>
                <a:srgbClr val="232323"/>
              </a:solidFill>
              <a:latin typeface="Arial" panose="020B0604020202020204"/>
              <a:ea typeface="Arial" panose="020B0604020202020204"/>
              <a:cs typeface="Arial" panose="020B0604020202020204"/>
            </a:endParaRPr>
          </a:p>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atrapalharia a compra?</a:t>
            </a:r>
            <a:endParaRPr sz="1725" b="1">
              <a:solidFill>
                <a:srgbClr val="232323"/>
              </a:solidFill>
              <a:latin typeface="Arial" panose="020B0604020202020204"/>
              <a:ea typeface="Arial" panose="020B0604020202020204"/>
              <a:cs typeface="Arial" panose="020B0604020202020204"/>
            </a:endParaRPr>
          </a:p>
        </p:txBody>
      </p:sp>
      <p:graphicFrame>
        <p:nvGraphicFramePr>
          <p:cNvPr id="105" name="Chart"/>
          <p:cNvGraphicFramePr/>
          <p:nvPr/>
        </p:nvGraphicFramePr>
        <p:xfrm>
          <a:off x="4714875" y="1971675"/>
          <a:ext cx="4019550" cy="1171575"/>
        </p:xfrm>
        <a:graphic>
          <a:graphicData uri="http://schemas.openxmlformats.org/drawingml/2006/chart">
            <c:chart xmlns:c="http://schemas.openxmlformats.org/drawingml/2006/chart" xmlns:r="http://schemas.openxmlformats.org/officeDocument/2006/relationships" r:id="rId2"/>
          </a:graphicData>
        </a:graphic>
      </p:graphicFrame>
      <p:sp>
        <p:nvSpPr>
          <p:cNvPr id="106" name="3. O que mais impede a compra de roupas online?"/>
          <p:cNvSpPr>
            <a:spLocks noGrp="1"/>
          </p:cNvSpPr>
          <p:nvPr/>
        </p:nvSpPr>
        <p:spPr>
          <a:xfrm>
            <a:off x="428625" y="3390900"/>
            <a:ext cx="8239125" cy="342900"/>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3. O que mais impede a compra de roupas online?</a:t>
            </a:r>
            <a:endParaRPr sz="1725" b="1">
              <a:solidFill>
                <a:srgbClr val="232323"/>
              </a:solidFill>
              <a:latin typeface="Arial" panose="020B0604020202020204"/>
              <a:ea typeface="Arial" panose="020B0604020202020204"/>
              <a:cs typeface="Arial" panose="020B0604020202020204"/>
            </a:endParaRPr>
          </a:p>
        </p:txBody>
      </p:sp>
      <p:graphicFrame>
        <p:nvGraphicFramePr>
          <p:cNvPr id="107" name="Chart"/>
          <p:cNvGraphicFramePr/>
          <p:nvPr/>
        </p:nvGraphicFramePr>
        <p:xfrm>
          <a:off x="428625" y="3800475"/>
          <a:ext cx="8229600" cy="1457325"/>
        </p:xfrm>
        <a:graphic>
          <a:graphicData uri="http://schemas.openxmlformats.org/drawingml/2006/chart">
            <c:chart xmlns:c="http://schemas.openxmlformats.org/drawingml/2006/chart" xmlns:r="http://schemas.openxmlformats.org/officeDocument/2006/relationships" r:id="rId3"/>
          </a:graphicData>
        </a:graphic>
      </p:graphicFrame>
      <p:sp>
        <p:nvSpPr>
          <p:cNvPr id="108" name="Fonte: pesquisa do grupo (2026). Valores em número de respos"/>
          <p:cNvSpPr>
            <a:spLocks noGrp="1"/>
          </p:cNvSpPr>
          <p:nvPr/>
        </p:nvSpPr>
        <p:spPr>
          <a:xfrm>
            <a:off x="428625" y="5372100"/>
            <a:ext cx="8382000" cy="209550"/>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Fonte: pesquisa do grupo (2026). Valores em número de respostas. Outros: entrega e dinheiro.</a:t>
            </a:r>
            <a:endParaRPr sz="1050" b="0">
              <a:solidFill>
                <a:srgbClr val="5B5B5B"/>
              </a:solidFill>
              <a:latin typeface="Arial" panose="020B0604020202020204"/>
              <a:ea typeface="Arial" panose="020B0604020202020204"/>
              <a:cs typeface="Arial" panose="020B0604020202020204"/>
            </a:endParaRPr>
          </a:p>
        </p:txBody>
      </p:sp>
      <p:sp>
        <p:nvSpPr>
          <p:cNvPr id="109" name="Pesquisa exploratória. 22 respostas válidas por pergunta, ap"/>
          <p:cNvSpPr>
            <a:spLocks noGrp="1"/>
          </p:cNvSpPr>
          <p:nvPr/>
        </p:nvSpPr>
        <p:spPr>
          <a:xfrm>
            <a:off x="428625" y="5572125"/>
            <a:ext cx="8382000" cy="209550"/>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Pesquisa exploratória. 22 respostas válidas por pergunta, após excluir 1 resposta incompatível.</a:t>
            </a:r>
            <a:endParaRPr sz="1050" b="0">
              <a:solidFill>
                <a:srgbClr val="5B5B5B"/>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DESCRIÇÃO DO PROJETO</a:t>
            </a:r>
            <a:endParaRPr sz="2400" b="1">
              <a:solidFill>
                <a:srgbClr val="232323"/>
              </a:solidFill>
              <a:latin typeface="Arial" panose="020B0604020202020204"/>
              <a:ea typeface="Arial" panose="020B0604020202020204"/>
              <a:cs typeface="Arial" panose="020B0604020202020204"/>
            </a:endParaRPr>
          </a:p>
        </p:txBody>
      </p:sp>
      <p:sp>
        <p:nvSpPr>
          <p:cNvPr id="102" name="Vitrine da loja"/>
          <p:cNvSpPr>
            <a:spLocks noGrp="1"/>
          </p:cNvSpPr>
          <p:nvPr/>
        </p:nvSpPr>
        <p:spPr>
          <a:xfrm>
            <a:off x="571500" y="1619250"/>
            <a:ext cx="2143125" cy="4000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Vitrine da loja</a:t>
            </a:r>
            <a:endParaRPr sz="1950" b="1">
              <a:solidFill>
                <a:srgbClr val="BD0000"/>
              </a:solidFill>
              <a:latin typeface="Arial" panose="020B0604020202020204"/>
              <a:ea typeface="Arial" panose="020B0604020202020204"/>
              <a:cs typeface="Arial" panose="020B0604020202020204"/>
            </a:endParaRPr>
          </a:p>
        </p:txBody>
      </p:sp>
      <p:sp>
        <p:nvSpPr>
          <p:cNvPr id="103" name="Sua loja apresenta os produtos com fotos, preços e disponibi"/>
          <p:cNvSpPr>
            <a:spLocks noGrp="1"/>
          </p:cNvSpPr>
          <p:nvPr/>
        </p:nvSpPr>
        <p:spPr>
          <a:xfrm>
            <a:off x="2952750" y="1581150"/>
            <a:ext cx="5619750" cy="933450"/>
          </a:xfrm>
          <a:prstGeom prst="rect">
            <a:avLst/>
          </a:prstGeom>
          <a:noFill/>
          <a:ln w="0">
            <a:noFill/>
          </a:ln>
        </p:spPr>
        <p:txBody>
          <a:bodyPr lIns="0" tIns="0" rIns="0" bIns="0" anchor="t">
            <a:noAutofit/>
          </a:bodyPr>
          <a:lstStyle/>
          <a:p>
            <a:pPr algn="l">
              <a:defRPr sz="2100" b="0">
                <a:solidFill>
                  <a:srgbClr val="232323"/>
                </a:solidFill>
                <a:latin typeface="Arial" panose="020B0604020202020204"/>
                <a:ea typeface="Arial" panose="020B0604020202020204"/>
                <a:cs typeface="Arial" panose="020B0604020202020204"/>
              </a:defRPr>
            </a:pPr>
            <a:r>
              <a:rPr sz="2100" b="0">
                <a:solidFill>
                  <a:srgbClr val="232323"/>
                </a:solidFill>
                <a:latin typeface="Arial" panose="020B0604020202020204"/>
                <a:ea typeface="Arial" panose="020B0604020202020204"/>
                <a:cs typeface="Arial" panose="020B0604020202020204"/>
              </a:rPr>
              <a:t>Sua loja apresenta os produtos com fotos, preços e disponibilidade.</a:t>
            </a:r>
            <a:endParaRPr sz="2100" b="0">
              <a:solidFill>
                <a:srgbClr val="232323"/>
              </a:solidFill>
              <a:latin typeface="Arial" panose="020B0604020202020204"/>
              <a:ea typeface="Arial" panose="020B0604020202020204"/>
              <a:cs typeface="Arial" panose="020B0604020202020204"/>
            </a:endParaRPr>
          </a:p>
        </p:txBody>
      </p:sp>
      <p:sp>
        <p:nvSpPr>
          <p:cNvPr id="104" name="Escolha do cliente"/>
          <p:cNvSpPr>
            <a:spLocks noGrp="1"/>
          </p:cNvSpPr>
          <p:nvPr/>
        </p:nvSpPr>
        <p:spPr>
          <a:xfrm>
            <a:off x="571500" y="2914650"/>
            <a:ext cx="2143125" cy="6667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Escolha do cliente</a:t>
            </a:r>
            <a:endParaRPr sz="1950" b="1">
              <a:solidFill>
                <a:srgbClr val="BD0000"/>
              </a:solidFill>
              <a:latin typeface="Arial" panose="020B0604020202020204"/>
              <a:ea typeface="Arial" panose="020B0604020202020204"/>
              <a:cs typeface="Arial" panose="020B0604020202020204"/>
            </a:endParaRPr>
          </a:p>
        </p:txBody>
      </p:sp>
      <p:sp>
        <p:nvSpPr>
          <p:cNvPr id="105" name="O cliente consulta os detalhes e reúne os itens em um carrin"/>
          <p:cNvSpPr>
            <a:spLocks noGrp="1"/>
          </p:cNvSpPr>
          <p:nvPr/>
        </p:nvSpPr>
        <p:spPr>
          <a:xfrm>
            <a:off x="2952750" y="2876550"/>
            <a:ext cx="5619750" cy="971550"/>
          </a:xfrm>
          <a:prstGeom prst="rect">
            <a:avLst/>
          </a:prstGeom>
          <a:noFill/>
          <a:ln w="0">
            <a:noFill/>
          </a:ln>
        </p:spPr>
        <p:txBody>
          <a:bodyPr lIns="0" tIns="0" rIns="0" bIns="0" anchor="t">
            <a:noAutofit/>
          </a:bodyPr>
          <a:lstStyle/>
          <a:p>
            <a:pPr algn="l">
              <a:defRPr sz="2100" b="0">
                <a:solidFill>
                  <a:srgbClr val="232323"/>
                </a:solidFill>
                <a:latin typeface="Arial" panose="020B0604020202020204"/>
                <a:ea typeface="Arial" panose="020B0604020202020204"/>
                <a:cs typeface="Arial" panose="020B0604020202020204"/>
              </a:defRPr>
            </a:pPr>
            <a:r>
              <a:rPr sz="2100" b="0">
                <a:solidFill>
                  <a:srgbClr val="232323"/>
                </a:solidFill>
                <a:latin typeface="Arial" panose="020B0604020202020204"/>
                <a:ea typeface="Arial" panose="020B0604020202020204"/>
                <a:cs typeface="Arial" panose="020B0604020202020204"/>
              </a:rPr>
              <a:t>O cliente consulta os detalhes e reúne os itens em um carrinho da loja.</a:t>
            </a:r>
            <a:endParaRPr sz="2100" b="0">
              <a:solidFill>
                <a:srgbClr val="232323"/>
              </a:solidFill>
              <a:latin typeface="Arial" panose="020B0604020202020204"/>
              <a:ea typeface="Arial" panose="020B0604020202020204"/>
              <a:cs typeface="Arial" panose="020B0604020202020204"/>
            </a:endParaRPr>
          </a:p>
        </p:txBody>
      </p:sp>
      <p:sp>
        <p:nvSpPr>
          <p:cNvPr id="106" name="Atendimento direto"/>
          <p:cNvSpPr>
            <a:spLocks noGrp="1"/>
          </p:cNvSpPr>
          <p:nvPr/>
        </p:nvSpPr>
        <p:spPr>
          <a:xfrm>
            <a:off x="571500" y="4238625"/>
            <a:ext cx="2143125" cy="6667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Atendimento direto</a:t>
            </a:r>
            <a:endParaRPr sz="1950" b="1">
              <a:solidFill>
                <a:srgbClr val="BD0000"/>
              </a:solidFill>
              <a:latin typeface="Arial" panose="020B0604020202020204"/>
              <a:ea typeface="Arial" panose="020B0604020202020204"/>
              <a:cs typeface="Arial" panose="020B0604020202020204"/>
            </a:endParaRPr>
          </a:p>
        </p:txBody>
      </p:sp>
      <p:sp>
        <p:nvSpPr>
          <p:cNvPr id="107" name="A seleção chega ao seu WhatsApp para combinar a compra com o"/>
          <p:cNvSpPr>
            <a:spLocks noGrp="1"/>
          </p:cNvSpPr>
          <p:nvPr/>
        </p:nvSpPr>
        <p:spPr>
          <a:xfrm>
            <a:off x="2952750" y="4200525"/>
            <a:ext cx="5619750" cy="1000125"/>
          </a:xfrm>
          <a:prstGeom prst="rect">
            <a:avLst/>
          </a:prstGeom>
          <a:noFill/>
          <a:ln w="0">
            <a:noFill/>
          </a:ln>
        </p:spPr>
        <p:txBody>
          <a:bodyPr lIns="0" tIns="0" rIns="0" bIns="0" anchor="t">
            <a:noAutofit/>
          </a:bodyPr>
          <a:lstStyle/>
          <a:p>
            <a:pPr algn="l">
              <a:defRPr sz="2100" b="0">
                <a:solidFill>
                  <a:srgbClr val="232323"/>
                </a:solidFill>
                <a:latin typeface="Arial" panose="020B0604020202020204"/>
                <a:ea typeface="Arial" panose="020B0604020202020204"/>
                <a:cs typeface="Arial" panose="020B0604020202020204"/>
              </a:defRPr>
            </a:pPr>
            <a:r>
              <a:rPr sz="2100" b="0">
                <a:solidFill>
                  <a:srgbClr val="232323"/>
                </a:solidFill>
                <a:latin typeface="Arial" panose="020B0604020202020204"/>
                <a:ea typeface="Arial" panose="020B0604020202020204"/>
                <a:cs typeface="Arial" panose="020B0604020202020204"/>
              </a:rPr>
              <a:t>A seleção chega ao seu WhatsApp para combinar a compra com o cliente.</a:t>
            </a:r>
            <a:endParaRPr sz="2100"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DIAGRAMA DE CASOS DE USO</a:t>
            </a:r>
            <a:endParaRPr sz="2400" b="1">
              <a:solidFill>
                <a:srgbClr val="232323"/>
              </a:solidFill>
              <a:latin typeface="Arial" panose="020B0604020202020204"/>
              <a:ea typeface="Arial" panose="020B0604020202020204"/>
              <a:cs typeface="Arial" panose="020B0604020202020204"/>
            </a:endParaRPr>
          </a:p>
        </p:txBody>
      </p:sp>
      <p:pic>
        <p:nvPicPr>
          <p:cNvPr id="102" name="Imagem 101"/>
          <p:cNvPicPr>
            <a:picLocks noChangeAspect="1"/>
          </p:cNvPicPr>
          <p:nvPr/>
        </p:nvPicPr>
        <p:blipFill>
          <a:blip r:embed="rId1"/>
          <a:stretch>
            <a:fillRect/>
          </a:stretch>
        </p:blipFill>
        <p:spPr>
          <a:xfrm>
            <a:off x="468627" y="1219200"/>
            <a:ext cx="4358647" cy="4524375"/>
          </a:xfrm>
          <a:prstGeom prst="rect">
            <a:avLst/>
          </a:prstGeom>
        </p:spPr>
      </p:pic>
      <p:sp>
        <p:nvSpPr>
          <p:cNvPr id="103" name="Cliente"/>
          <p:cNvSpPr>
            <a:spLocks noGrp="1"/>
          </p:cNvSpPr>
          <p:nvPr/>
        </p:nvSpPr>
        <p:spPr>
          <a:xfrm>
            <a:off x="5238750" y="1476375"/>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Cliente</a:t>
            </a:r>
            <a:endParaRPr sz="1800" b="1">
              <a:solidFill>
                <a:srgbClr val="BD0000"/>
              </a:solidFill>
              <a:latin typeface="Arial" panose="020B0604020202020204"/>
              <a:ea typeface="Arial" panose="020B0604020202020204"/>
              <a:cs typeface="Arial" panose="020B0604020202020204"/>
            </a:endParaRPr>
          </a:p>
        </p:txBody>
      </p:sp>
      <p:sp>
        <p:nvSpPr>
          <p:cNvPr id="104" name="Consulta os produtos e envia&#10;sua seleção pelo WhatsApp."/>
          <p:cNvSpPr>
            <a:spLocks noGrp="1"/>
          </p:cNvSpPr>
          <p:nvPr/>
        </p:nvSpPr>
        <p:spPr>
          <a:xfrm>
            <a:off x="5238750" y="1809750"/>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Consulta os produtos e envia</a:t>
            </a:r>
            <a:endParaRP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sua seleção pelo WhatsApp.</a:t>
            </a:r>
            <a:endParaRPr sz="1575" b="0">
              <a:solidFill>
                <a:srgbClr val="232323"/>
              </a:solidFill>
              <a:latin typeface="Arial" panose="020B0604020202020204"/>
              <a:ea typeface="Arial" panose="020B0604020202020204"/>
              <a:cs typeface="Arial" panose="020B0604020202020204"/>
            </a:endParaRPr>
          </a:p>
        </p:txBody>
      </p:sp>
      <p:sp>
        <p:nvSpPr>
          <p:cNvPr id="105" name="Funcionário"/>
          <p:cNvSpPr>
            <a:spLocks noGrp="1"/>
          </p:cNvSpPr>
          <p:nvPr/>
        </p:nvSpPr>
        <p:spPr>
          <a:xfrm>
            <a:off x="5238750" y="2457450"/>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Funcionário</a:t>
            </a:r>
            <a:endParaRPr sz="1800" b="1">
              <a:solidFill>
                <a:srgbClr val="BD0000"/>
              </a:solidFill>
              <a:latin typeface="Arial" panose="020B0604020202020204"/>
              <a:ea typeface="Arial" panose="020B0604020202020204"/>
              <a:cs typeface="Arial" panose="020B0604020202020204"/>
            </a:endParaRPr>
          </a:p>
        </p:txBody>
      </p:sp>
      <p:sp>
        <p:nvSpPr>
          <p:cNvPr id="106" name="Cadastra e atualiza produtos."/>
          <p:cNvSpPr>
            <a:spLocks noGrp="1"/>
          </p:cNvSpPr>
          <p:nvPr/>
        </p:nvSpPr>
        <p:spPr>
          <a:xfrm>
            <a:off x="5238750" y="2790825"/>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Cadastra e atualiza produtos.</a:t>
            </a:r>
            <a:endParaRPr sz="1575" b="0">
              <a:solidFill>
                <a:srgbClr val="232323"/>
              </a:solidFill>
              <a:latin typeface="Arial" panose="020B0604020202020204"/>
              <a:ea typeface="Arial" panose="020B0604020202020204"/>
              <a:cs typeface="Arial" panose="020B0604020202020204"/>
            </a:endParaRPr>
          </a:p>
        </p:txBody>
      </p:sp>
      <p:sp>
        <p:nvSpPr>
          <p:cNvPr id="107" name="Proprietário"/>
          <p:cNvSpPr>
            <a:spLocks noGrp="1"/>
          </p:cNvSpPr>
          <p:nvPr/>
        </p:nvSpPr>
        <p:spPr>
          <a:xfrm>
            <a:off x="5238750" y="3438525"/>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Proprietário</a:t>
            </a:r>
            <a:endParaRPr sz="1800" b="1">
              <a:solidFill>
                <a:srgbClr val="BD0000"/>
              </a:solidFill>
              <a:latin typeface="Arial" panose="020B0604020202020204"/>
              <a:ea typeface="Arial" panose="020B0604020202020204"/>
              <a:cs typeface="Arial" panose="020B0604020202020204"/>
            </a:endParaRPr>
          </a:p>
        </p:txBody>
      </p:sp>
      <p:sp>
        <p:nvSpPr>
          <p:cNvPr id="108" name="Cuida da loja e da equipe."/>
          <p:cNvSpPr>
            <a:spLocks noGrp="1"/>
          </p:cNvSpPr>
          <p:nvPr/>
        </p:nvSpPr>
        <p:spPr>
          <a:xfrm>
            <a:off x="5238750" y="3771900"/>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Cuida da loja e da equipe.</a:t>
            </a:r>
            <a:endParaRPr sz="1575" b="0">
              <a:solidFill>
                <a:srgbClr val="232323"/>
              </a:solidFill>
              <a:latin typeface="Arial" panose="020B0604020202020204"/>
              <a:ea typeface="Arial" panose="020B0604020202020204"/>
              <a:cs typeface="Arial" panose="020B0604020202020204"/>
            </a:endParaRPr>
          </a:p>
        </p:txBody>
      </p:sp>
      <p:sp>
        <p:nvSpPr>
          <p:cNvPr id="109" name="Administrador"/>
          <p:cNvSpPr>
            <a:spLocks noGrp="1"/>
          </p:cNvSpPr>
          <p:nvPr/>
        </p:nvSpPr>
        <p:spPr>
          <a:xfrm>
            <a:off x="5238750" y="4419600"/>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Administrador</a:t>
            </a:r>
            <a:endParaRPr sz="1800" b="1">
              <a:solidFill>
                <a:srgbClr val="BD0000"/>
              </a:solidFill>
              <a:latin typeface="Arial" panose="020B0604020202020204"/>
              <a:ea typeface="Arial" panose="020B0604020202020204"/>
              <a:cs typeface="Arial" panose="020B0604020202020204"/>
            </a:endParaRPr>
          </a:p>
        </p:txBody>
      </p:sp>
      <p:sp>
        <p:nvSpPr>
          <p:cNvPr id="110" name="Gerencia as lojas e os acessos&#10;à plataforma."/>
          <p:cNvSpPr>
            <a:spLocks noGrp="1"/>
          </p:cNvSpPr>
          <p:nvPr/>
        </p:nvSpPr>
        <p:spPr>
          <a:xfrm>
            <a:off x="5238750" y="4752975"/>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Gerencia as lojas e os acessos</a:t>
            </a:r>
            <a:endParaRP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à plataforma.</a:t>
            </a:r>
            <a:endParaRPr sz="1575" b="0">
              <a:solidFill>
                <a:srgbClr val="232323"/>
              </a:solidFill>
              <a:latin typeface="Arial" panose="020B0604020202020204"/>
              <a:ea typeface="Arial" panose="020B0604020202020204"/>
              <a:cs typeface="Arial" panose="020B0604020202020204"/>
            </a:endParaRPr>
          </a:p>
        </p:txBody>
      </p:sp>
      <p:sp>
        <p:nvSpPr>
          <p:cNvPr id="111" name="Fonte: elaboração do grupo."/>
          <p:cNvSpPr>
            <a:spLocks noGrp="1"/>
          </p:cNvSpPr>
          <p:nvPr/>
        </p:nvSpPr>
        <p:spPr>
          <a:xfrm>
            <a:off x="5238750" y="5581650"/>
            <a:ext cx="3429000" cy="200025"/>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Fonte: elaboração do grupo.</a:t>
            </a:r>
            <a:endParaRPr sz="1050" b="0">
              <a:solidFill>
                <a:srgbClr val="5B5B5B"/>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250" b="1">
                <a:solidFill>
                  <a:srgbClr val="232323"/>
                </a:solidFill>
                <a:latin typeface="Arial" panose="020B0604020202020204"/>
                <a:ea typeface="Arial" panose="020B0604020202020204"/>
                <a:cs typeface="Arial" panose="020B0604020202020204"/>
              </a:defRPr>
            </a:pPr>
            <a:r>
              <a:rPr sz="2250" b="1">
                <a:solidFill>
                  <a:srgbClr val="232323"/>
                </a:solidFill>
                <a:latin typeface="Arial" panose="020B0604020202020204"/>
                <a:ea typeface="Arial" panose="020B0604020202020204"/>
                <a:cs typeface="Arial" panose="020B0604020202020204"/>
              </a:rPr>
              <a:t>DIAGRAMA ENTIDADE–RELACIONAMENTO</a:t>
            </a:r>
            <a:endParaRPr sz="2250" b="1">
              <a:solidFill>
                <a:srgbClr val="232323"/>
              </a:solidFill>
              <a:latin typeface="Arial" panose="020B0604020202020204"/>
              <a:ea typeface="Arial" panose="020B0604020202020204"/>
              <a:cs typeface="Arial" panose="020B0604020202020204"/>
            </a:endParaRPr>
          </a:p>
        </p:txBody>
      </p:sp>
      <p:pic>
        <p:nvPicPr>
          <p:cNvPr id="102" name="Imagem 101"/>
          <p:cNvPicPr>
            <a:picLocks noChangeAspect="1"/>
          </p:cNvPicPr>
          <p:nvPr/>
        </p:nvPicPr>
        <p:blipFill>
          <a:blip r:embed="rId1"/>
          <a:stretch>
            <a:fillRect/>
          </a:stretch>
        </p:blipFill>
        <p:spPr>
          <a:xfrm>
            <a:off x="1428750" y="1230203"/>
            <a:ext cx="6286500" cy="4492845"/>
          </a:xfrm>
          <a:prstGeom prst="rect">
            <a:avLst/>
          </a:prstGeom>
        </p:spPr>
      </p:pic>
      <p:sp>
        <p:nvSpPr>
          <p:cNvPr id="103" name="Fonte: elaboração do grupo. Ferramenta de modelagem: SQL Des"/>
          <p:cNvSpPr>
            <a:spLocks noGrp="1"/>
          </p:cNvSpPr>
          <p:nvPr/>
        </p:nvSpPr>
        <p:spPr>
          <a:xfrm>
            <a:off x="1428750" y="5715000"/>
            <a:ext cx="7239000" cy="161925"/>
          </a:xfrm>
          <a:prstGeom prst="rect">
            <a:avLst/>
          </a:prstGeom>
          <a:noFill/>
          <a:ln w="0">
            <a:noFill/>
          </a:ln>
        </p:spPr>
        <p:txBody>
          <a:bodyPr lIns="0" tIns="0" rIns="0" bIns="0" anchor="t">
            <a:noAutofit/>
          </a:bodyPr>
          <a:lstStyle/>
          <a:p>
            <a:pPr algn="l">
              <a:defRPr sz="900" b="0">
                <a:solidFill>
                  <a:srgbClr val="5B5B5B"/>
                </a:solidFill>
                <a:latin typeface="Arial" panose="020B0604020202020204"/>
                <a:ea typeface="Arial" panose="020B0604020202020204"/>
                <a:cs typeface="Arial" panose="020B0604020202020204"/>
              </a:defRPr>
            </a:pPr>
            <a:r>
              <a:rPr sz="900" b="0">
                <a:solidFill>
                  <a:srgbClr val="5B5B5B"/>
                </a:solidFill>
                <a:latin typeface="Arial" panose="020B0604020202020204"/>
                <a:ea typeface="Arial" panose="020B0604020202020204"/>
                <a:cs typeface="Arial" panose="020B0604020202020204"/>
              </a:rPr>
              <a:t>Fonte: elaboração do grupo. Ferramenta de modelagem: SQL Designer.</a:t>
            </a:r>
            <a:endParaRPr sz="900" b="0">
              <a:solidFill>
                <a:srgbClr val="5B5B5B"/>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1" name="Conector de Seta Reta 100"/>
          <p:cNvCxnSpPr>
            <a:stCxn id="115" idx="3"/>
            <a:endCxn id="117" idx="1"/>
          </p:cNvCxnSpPr>
          <p:nvPr/>
        </p:nvCxnSpPr>
        <p:spPr>
          <a:xfrm>
            <a:off x="4857750" y="4638675"/>
            <a:ext cx="1333500" cy="647700"/>
          </a:xfrm>
          <a:prstGeom prst="straightConnector1">
            <a:avLst/>
          </a:prstGeom>
          <a:ln w="19050">
            <a:solidFill>
              <a:srgbClr val="BD0000"/>
            </a:solidFill>
            <a:tailEnd type="triangle" w="sm" len="sm"/>
          </a:ln>
        </p:spPr>
      </p:cxnSp>
      <p:cxnSp>
        <p:nvCxnSpPr>
          <p:cNvPr id="102" name="Conector de Seta Reta 101"/>
          <p:cNvCxnSpPr>
            <a:stCxn id="115" idx="3"/>
            <a:endCxn id="116" idx="1"/>
          </p:cNvCxnSpPr>
          <p:nvPr/>
        </p:nvCxnSpPr>
        <p:spPr>
          <a:xfrm flipV="1">
            <a:off x="4857750" y="4114800"/>
            <a:ext cx="1333500" cy="523875"/>
          </a:xfrm>
          <a:prstGeom prst="straightConnector1">
            <a:avLst/>
          </a:prstGeom>
          <a:ln w="19050">
            <a:solidFill>
              <a:srgbClr val="BD0000"/>
            </a:solidFill>
            <a:tailEnd type="triangle" w="sm" len="sm"/>
          </a:ln>
        </p:spPr>
      </p:cxnSp>
      <p:cxnSp>
        <p:nvCxnSpPr>
          <p:cNvPr id="103" name="Conector de Seta Reta 102"/>
          <p:cNvCxnSpPr>
            <a:stCxn id="114" idx="3"/>
            <a:endCxn id="115" idx="1"/>
          </p:cNvCxnSpPr>
          <p:nvPr/>
        </p:nvCxnSpPr>
        <p:spPr>
          <a:xfrm>
            <a:off x="2238375" y="4638675"/>
            <a:ext cx="809625" cy="0"/>
          </a:xfrm>
          <a:prstGeom prst="straightConnector1">
            <a:avLst/>
          </a:prstGeom>
          <a:ln w="19050">
            <a:solidFill>
              <a:srgbClr val="BD0000"/>
            </a:solidFill>
            <a:tailEnd type="triangle" w="sm" len="sm"/>
          </a:ln>
        </p:spPr>
      </p:cxnSp>
      <p:cxnSp>
        <p:nvCxnSpPr>
          <p:cNvPr id="104" name="Conector de Seta Reta 103"/>
          <p:cNvCxnSpPr>
            <a:stCxn id="111" idx="3"/>
            <a:endCxn id="112" idx="1"/>
          </p:cNvCxnSpPr>
          <p:nvPr/>
        </p:nvCxnSpPr>
        <p:spPr>
          <a:xfrm>
            <a:off x="6600825" y="2352675"/>
            <a:ext cx="371475" cy="0"/>
          </a:xfrm>
          <a:prstGeom prst="straightConnector1">
            <a:avLst/>
          </a:prstGeom>
          <a:ln w="19050">
            <a:solidFill>
              <a:srgbClr val="BD0000"/>
            </a:solidFill>
            <a:tailEnd type="triangle" w="sm" len="sm"/>
          </a:ln>
        </p:spPr>
      </p:cxnSp>
      <p:cxnSp>
        <p:nvCxnSpPr>
          <p:cNvPr id="105" name="Conector de Seta Reta 104"/>
          <p:cNvCxnSpPr>
            <a:stCxn id="110" idx="3"/>
            <a:endCxn id="111" idx="1"/>
          </p:cNvCxnSpPr>
          <p:nvPr/>
        </p:nvCxnSpPr>
        <p:spPr>
          <a:xfrm>
            <a:off x="4419600" y="2352675"/>
            <a:ext cx="371475" cy="0"/>
          </a:xfrm>
          <a:prstGeom prst="straightConnector1">
            <a:avLst/>
          </a:prstGeom>
          <a:ln w="19050">
            <a:solidFill>
              <a:srgbClr val="BD0000"/>
            </a:solidFill>
            <a:tailEnd type="triangle" w="sm" len="sm"/>
          </a:ln>
        </p:spPr>
      </p:cxnSp>
      <p:cxnSp>
        <p:nvCxnSpPr>
          <p:cNvPr id="106" name="Conector de Seta Reta 105"/>
          <p:cNvCxnSpPr>
            <a:stCxn id="109" idx="3"/>
            <a:endCxn id="110" idx="1"/>
          </p:cNvCxnSpPr>
          <p:nvPr/>
        </p:nvCxnSpPr>
        <p:spPr>
          <a:xfrm>
            <a:off x="2238375" y="2352675"/>
            <a:ext cx="371475" cy="0"/>
          </a:xfrm>
          <a:prstGeom prst="straightConnector1">
            <a:avLst/>
          </a:prstGeom>
          <a:ln w="19050">
            <a:solidFill>
              <a:srgbClr val="BD0000"/>
            </a:solidFill>
            <a:tailEnd type="triangle" w="sm" len="sm"/>
          </a:ln>
        </p:spPr>
      </p:cxnSp>
      <p:sp>
        <p:nvSpPr>
          <p:cNvPr id="107"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PROJETO NAVEGACIONAL</a:t>
            </a:r>
            <a:endParaRPr sz="2400" b="1">
              <a:solidFill>
                <a:srgbClr val="232323"/>
              </a:solidFill>
              <a:latin typeface="Arial" panose="020B0604020202020204"/>
              <a:ea typeface="Arial" panose="020B0604020202020204"/>
              <a:cs typeface="Arial" panose="020B0604020202020204"/>
            </a:endParaRPr>
          </a:p>
        </p:txBody>
      </p:sp>
      <p:sp>
        <p:nvSpPr>
          <p:cNvPr id="108" name="Cliente"/>
          <p:cNvSpPr>
            <a:spLocks noGrp="1"/>
          </p:cNvSpPr>
          <p:nvPr/>
        </p:nvSpPr>
        <p:spPr>
          <a:xfrm>
            <a:off x="428625" y="1409700"/>
            <a:ext cx="8096250" cy="3238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Cliente</a:t>
            </a:r>
            <a:endParaRPr sz="1950" b="1">
              <a:solidFill>
                <a:srgbClr val="BD0000"/>
              </a:solidFill>
              <a:latin typeface="Arial" panose="020B0604020202020204"/>
              <a:ea typeface="Arial" panose="020B0604020202020204"/>
              <a:cs typeface="Arial" panose="020B0604020202020204"/>
            </a:endParaRPr>
          </a:p>
        </p:txBody>
      </p:sp>
      <p:sp>
        <p:nvSpPr>
          <p:cNvPr id="109" name="Catálogo"/>
          <p:cNvSpPr>
            <a:spLocks noGrp="1"/>
          </p:cNvSpPr>
          <p:nvPr/>
        </p:nvSpPr>
        <p:spPr>
          <a:xfrm>
            <a:off x="428625"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Catálogo</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Busca e filtros</a:t>
            </a:r>
            <a:endParaRPr sz="1350">
              <a:solidFill>
                <a:srgbClr val="232323"/>
              </a:solidFill>
              <a:latin typeface="Arial" panose="020B0604020202020204"/>
              <a:ea typeface="Arial" panose="020B0604020202020204"/>
              <a:cs typeface="Arial" panose="020B0604020202020204"/>
            </a:endParaRPr>
          </a:p>
        </p:txBody>
      </p:sp>
      <p:sp>
        <p:nvSpPr>
          <p:cNvPr id="110" name="Produto"/>
          <p:cNvSpPr>
            <a:spLocks noGrp="1"/>
          </p:cNvSpPr>
          <p:nvPr/>
        </p:nvSpPr>
        <p:spPr>
          <a:xfrm>
            <a:off x="2609850"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Produto</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Fotos e detalhes</a:t>
            </a:r>
            <a:endParaRPr sz="1350">
              <a:solidFill>
                <a:srgbClr val="232323"/>
              </a:solidFill>
              <a:latin typeface="Arial" panose="020B0604020202020204"/>
              <a:ea typeface="Arial" panose="020B0604020202020204"/>
              <a:cs typeface="Arial" panose="020B0604020202020204"/>
            </a:endParaRPr>
          </a:p>
        </p:txBody>
      </p:sp>
      <p:sp>
        <p:nvSpPr>
          <p:cNvPr id="111" name="Carrinho"/>
          <p:cNvSpPr>
            <a:spLocks noGrp="1"/>
          </p:cNvSpPr>
          <p:nvPr/>
        </p:nvSpPr>
        <p:spPr>
          <a:xfrm>
            <a:off x="4791075"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Carrinho</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Itens e quantidades</a:t>
            </a:r>
            <a:endParaRPr sz="1350">
              <a:solidFill>
                <a:srgbClr val="232323"/>
              </a:solidFill>
              <a:latin typeface="Arial" panose="020B0604020202020204"/>
              <a:ea typeface="Arial" panose="020B0604020202020204"/>
              <a:cs typeface="Arial" panose="020B0604020202020204"/>
            </a:endParaRPr>
          </a:p>
        </p:txBody>
      </p:sp>
      <p:sp>
        <p:nvSpPr>
          <p:cNvPr id="112" name="WhatsApp"/>
          <p:cNvSpPr>
            <a:spLocks noGrp="1"/>
          </p:cNvSpPr>
          <p:nvPr/>
        </p:nvSpPr>
        <p:spPr>
          <a:xfrm>
            <a:off x="6972300" y="1924050"/>
            <a:ext cx="1743075"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WhatsApp</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Contato com a loja</a:t>
            </a:r>
            <a:endParaRPr sz="1350">
              <a:solidFill>
                <a:srgbClr val="232323"/>
              </a:solidFill>
              <a:latin typeface="Arial" panose="020B0604020202020204"/>
              <a:ea typeface="Arial" panose="020B0604020202020204"/>
              <a:cs typeface="Arial" panose="020B0604020202020204"/>
            </a:endParaRPr>
          </a:p>
        </p:txBody>
      </p:sp>
      <p:sp>
        <p:nvSpPr>
          <p:cNvPr id="113" name="Lojista"/>
          <p:cNvSpPr>
            <a:spLocks noGrp="1"/>
          </p:cNvSpPr>
          <p:nvPr/>
        </p:nvSpPr>
        <p:spPr>
          <a:xfrm>
            <a:off x="428625" y="3305175"/>
            <a:ext cx="8096250" cy="3238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Lojista</a:t>
            </a:r>
            <a:endParaRPr sz="1950" b="1">
              <a:solidFill>
                <a:srgbClr val="BD0000"/>
              </a:solidFill>
              <a:latin typeface="Arial" panose="020B0604020202020204"/>
              <a:ea typeface="Arial" panose="020B0604020202020204"/>
              <a:cs typeface="Arial" panose="020B0604020202020204"/>
            </a:endParaRPr>
          </a:p>
        </p:txBody>
      </p:sp>
      <p:sp>
        <p:nvSpPr>
          <p:cNvPr id="114" name="Entrar"/>
          <p:cNvSpPr>
            <a:spLocks noGrp="1"/>
          </p:cNvSpPr>
          <p:nvPr/>
        </p:nvSpPr>
        <p:spPr>
          <a:xfrm>
            <a:off x="428625" y="4210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Entrar</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Acesso da equipe</a:t>
            </a:r>
            <a:endParaRPr sz="1350">
              <a:solidFill>
                <a:srgbClr val="232323"/>
              </a:solidFill>
              <a:latin typeface="Arial" panose="020B0604020202020204"/>
              <a:ea typeface="Arial" panose="020B0604020202020204"/>
              <a:cs typeface="Arial" panose="020B0604020202020204"/>
            </a:endParaRPr>
          </a:p>
        </p:txBody>
      </p:sp>
      <p:sp>
        <p:nvSpPr>
          <p:cNvPr id="115" name="Painel da loja"/>
          <p:cNvSpPr>
            <a:spLocks noGrp="1"/>
          </p:cNvSpPr>
          <p:nvPr/>
        </p:nvSpPr>
        <p:spPr>
          <a:xfrm>
            <a:off x="3048000" y="4210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Painel da loja</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Escolha da área</a:t>
            </a:r>
            <a:endParaRPr sz="1350">
              <a:solidFill>
                <a:srgbClr val="232323"/>
              </a:solidFill>
              <a:latin typeface="Arial" panose="020B0604020202020204"/>
              <a:ea typeface="Arial" panose="020B0604020202020204"/>
              <a:cs typeface="Arial" panose="020B0604020202020204"/>
            </a:endParaRPr>
          </a:p>
        </p:txBody>
      </p:sp>
      <p:sp>
        <p:nvSpPr>
          <p:cNvPr id="116" name="Produtos"/>
          <p:cNvSpPr>
            <a:spLocks noGrp="1"/>
          </p:cNvSpPr>
          <p:nvPr/>
        </p:nvSpPr>
        <p:spPr>
          <a:xfrm>
            <a:off x="6191250" y="3752850"/>
            <a:ext cx="2524125" cy="72390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Produtos</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Cadastro e estoque</a:t>
            </a:r>
            <a:endParaRPr sz="1350">
              <a:solidFill>
                <a:srgbClr val="232323"/>
              </a:solidFill>
              <a:latin typeface="Arial" panose="020B0604020202020204"/>
              <a:ea typeface="Arial" panose="020B0604020202020204"/>
              <a:cs typeface="Arial" panose="020B0604020202020204"/>
            </a:endParaRPr>
          </a:p>
        </p:txBody>
      </p:sp>
      <p:sp>
        <p:nvSpPr>
          <p:cNvPr id="117" name="Equipe"/>
          <p:cNvSpPr>
            <a:spLocks noGrp="1"/>
          </p:cNvSpPr>
          <p:nvPr/>
        </p:nvSpPr>
        <p:spPr>
          <a:xfrm>
            <a:off x="6191250" y="4924425"/>
            <a:ext cx="2524125" cy="72390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Equipe</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Acesso dos funcionários</a:t>
            </a:r>
            <a:endParaRPr sz="135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APRESENTAÇÃO DO PROJETO</a:t>
            </a:r>
            <a:endParaRPr sz="2400" b="1">
              <a:solidFill>
                <a:srgbClr val="232323"/>
              </a:solidFill>
              <a:latin typeface="Arial" panose="020B0604020202020204"/>
              <a:ea typeface="Arial" panose="020B0604020202020204"/>
              <a:cs typeface="Arial" panose="020B0604020202020204"/>
            </a:endParaRPr>
          </a:p>
        </p:txBody>
      </p:sp>
      <p:sp>
        <p:nvSpPr>
          <p:cNvPr id="102" name="Para o cliente"/>
          <p:cNvSpPr>
            <a:spLocks noGrp="1"/>
          </p:cNvSpPr>
          <p:nvPr/>
        </p:nvSpPr>
        <p:spPr>
          <a:xfrm>
            <a:off x="381000" y="1409700"/>
            <a:ext cx="4000500" cy="3429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Para o cliente</a:t>
            </a:r>
            <a:endParaRPr sz="2025" b="1">
              <a:solidFill>
                <a:srgbClr val="BD0000"/>
              </a:solidFill>
              <a:latin typeface="Arial" panose="020B0604020202020204"/>
              <a:ea typeface="Arial" panose="020B0604020202020204"/>
              <a:cs typeface="Arial" panose="020B0604020202020204"/>
            </a:endParaRPr>
          </a:p>
        </p:txBody>
      </p:sp>
      <p:sp>
        <p:nvSpPr>
          <p:cNvPr id="103" name="Para o lojista"/>
          <p:cNvSpPr>
            <a:spLocks noGrp="1"/>
          </p:cNvSpPr>
          <p:nvPr/>
        </p:nvSpPr>
        <p:spPr>
          <a:xfrm>
            <a:off x="4762500" y="1409700"/>
            <a:ext cx="4000500" cy="3429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Para o lojista</a:t>
            </a:r>
            <a:endParaRPr sz="2025" b="1">
              <a:solidFill>
                <a:srgbClr val="BD0000"/>
              </a:solidFill>
              <a:latin typeface="Arial" panose="020B0604020202020204"/>
              <a:ea typeface="Arial" panose="020B0604020202020204"/>
              <a:cs typeface="Arial" panose="020B0604020202020204"/>
            </a:endParaRPr>
          </a:p>
        </p:txBody>
      </p:sp>
      <p:pic>
        <p:nvPicPr>
          <p:cNvPr id="104" name="Imagem 103"/>
          <p:cNvPicPr>
            <a:picLocks noChangeAspect="1"/>
          </p:cNvPicPr>
          <p:nvPr/>
        </p:nvPicPr>
        <p:blipFill>
          <a:blip r:embed="rId1"/>
          <a:stretch>
            <a:fillRect/>
          </a:stretch>
        </p:blipFill>
        <p:spPr>
          <a:xfrm>
            <a:off x="381000" y="2008556"/>
            <a:ext cx="4000500" cy="2078887"/>
          </a:xfrm>
          <a:prstGeom prst="rect">
            <a:avLst/>
          </a:prstGeom>
        </p:spPr>
      </p:pic>
      <p:pic>
        <p:nvPicPr>
          <p:cNvPr id="105" name="Imagem 104"/>
          <p:cNvPicPr>
            <a:picLocks noChangeAspect="1"/>
          </p:cNvPicPr>
          <p:nvPr/>
        </p:nvPicPr>
        <p:blipFill>
          <a:blip r:embed="rId2"/>
          <a:stretch>
            <a:fillRect/>
          </a:stretch>
        </p:blipFill>
        <p:spPr>
          <a:xfrm>
            <a:off x="4762500" y="2012006"/>
            <a:ext cx="4000500" cy="2071989"/>
          </a:xfrm>
          <a:prstGeom prst="rect">
            <a:avLst/>
          </a:prstGeom>
        </p:spPr>
      </p:pic>
      <p:sp>
        <p:nvSpPr>
          <p:cNvPr id="106" name="Conheça os produtos da loja&#10;e escolha o que deseja."/>
          <p:cNvSpPr>
            <a:spLocks noGrp="1"/>
          </p:cNvSpPr>
          <p:nvPr/>
        </p:nvSpPr>
        <p:spPr>
          <a:xfrm>
            <a:off x="381000" y="4362450"/>
            <a:ext cx="4000500" cy="600075"/>
          </a:xfrm>
          <a:prstGeom prst="rect">
            <a:avLst/>
          </a:prstGeom>
          <a:noFill/>
          <a:ln w="0">
            <a:noFill/>
          </a:ln>
        </p:spPr>
        <p:txBody>
          <a:bodyPr lIns="0" tIns="0" rIns="0" bIns="0" anchor="t">
            <a:noAutofit/>
          </a:bodyPr>
          <a:lstStyle/>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Conheça os produtos da loja</a:t>
            </a:r>
            <a:endParaRPr sz="1800" b="0">
              <a:solidFill>
                <a:srgbClr val="232323"/>
              </a:solidFill>
              <a:latin typeface="Arial" panose="020B0604020202020204"/>
              <a:ea typeface="Arial" panose="020B0604020202020204"/>
              <a:cs typeface="Arial" panose="020B0604020202020204"/>
            </a:endParaRPr>
          </a:p>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e escolha o que deseja.</a:t>
            </a:r>
            <a:endParaRPr sz="1800" b="0">
              <a:solidFill>
                <a:srgbClr val="232323"/>
              </a:solidFill>
              <a:latin typeface="Arial" panose="020B0604020202020204"/>
              <a:ea typeface="Arial" panose="020B0604020202020204"/>
              <a:cs typeface="Arial" panose="020B0604020202020204"/>
            </a:endParaRPr>
          </a:p>
        </p:txBody>
      </p:sp>
      <p:sp>
        <p:nvSpPr>
          <p:cNvPr id="107" name="Cadastre produtos e mantenha&#10;preços e estoque atualizados."/>
          <p:cNvSpPr>
            <a:spLocks noGrp="1"/>
          </p:cNvSpPr>
          <p:nvPr/>
        </p:nvSpPr>
        <p:spPr>
          <a:xfrm>
            <a:off x="4762500" y="4362450"/>
            <a:ext cx="4000500" cy="600075"/>
          </a:xfrm>
          <a:prstGeom prst="rect">
            <a:avLst/>
          </a:prstGeom>
          <a:noFill/>
          <a:ln w="0">
            <a:noFill/>
          </a:ln>
        </p:spPr>
        <p:txBody>
          <a:bodyPr lIns="0" tIns="0" rIns="0" bIns="0" anchor="t">
            <a:noAutofit/>
          </a:bodyPr>
          <a:lstStyle/>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Cadastre produtos e mantenha</a:t>
            </a:r>
            <a:endParaRPr sz="1800" b="0">
              <a:solidFill>
                <a:srgbClr val="232323"/>
              </a:solidFill>
              <a:latin typeface="Arial" panose="020B0604020202020204"/>
              <a:ea typeface="Arial" panose="020B0604020202020204"/>
              <a:cs typeface="Arial" panose="020B0604020202020204"/>
            </a:endParaRPr>
          </a:p>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preços e estoque atualizados.</a:t>
            </a:r>
            <a:endParaRPr sz="1800" b="0">
              <a:solidFill>
                <a:srgbClr val="232323"/>
              </a:solidFill>
              <a:latin typeface="Arial" panose="020B0604020202020204"/>
              <a:ea typeface="Arial" panose="020B0604020202020204"/>
              <a:cs typeface="Arial" panose="020B0604020202020204"/>
            </a:endParaRPr>
          </a:p>
        </p:txBody>
      </p:sp>
      <p:pic>
        <p:nvPicPr>
          <p:cNvPr id="108" name="Imagem 107"/>
          <p:cNvPicPr>
            <a:picLocks noChangeAspect="1"/>
          </p:cNvPicPr>
          <p:nvPr/>
        </p:nvPicPr>
        <p:blipFill>
          <a:blip r:embed="rId3"/>
          <a:stretch>
            <a:fillRect/>
          </a:stretch>
        </p:blipFill>
        <p:spPr>
          <a:xfrm>
            <a:off x="381000" y="5048250"/>
            <a:ext cx="714375" cy="714375"/>
          </a:xfrm>
          <a:prstGeom prst="rect">
            <a:avLst/>
          </a:prstGeom>
        </p:spPr>
      </p:pic>
      <p:sp>
        <p:nvSpPr>
          <p:cNvPr id="109" name="Acesse a Vitrine Web"/>
          <p:cNvSpPr>
            <a:spLocks noGrp="1"/>
          </p:cNvSpPr>
          <p:nvPr/>
        </p:nvSpPr>
        <p:spPr>
          <a:xfrm>
            <a:off x="1304925" y="5181600"/>
            <a:ext cx="7048500" cy="257175"/>
          </a:xfrm>
          <a:prstGeom prst="rect">
            <a:avLst/>
          </a:prstGeom>
          <a:noFill/>
          <a:ln w="0">
            <a:noFill/>
          </a:ln>
        </p:spPr>
        <p:txBody>
          <a:bodyPr lIns="0" tIns="0" rIns="0" bIns="0" anchor="t">
            <a:noAutofit/>
          </a:bodyPr>
          <a:lstStyle/>
          <a:p>
            <a:pPr algn="l">
              <a:defRPr sz="1500" b="1">
                <a:solidFill>
                  <a:srgbClr val="232323"/>
                </a:solidFill>
                <a:latin typeface="Arial" panose="020B0604020202020204"/>
                <a:ea typeface="Arial" panose="020B0604020202020204"/>
                <a:cs typeface="Arial" panose="020B0604020202020204"/>
              </a:defRPr>
            </a:pPr>
            <a:r>
              <a:rPr sz="1500" b="1">
                <a:solidFill>
                  <a:srgbClr val="232323"/>
                </a:solidFill>
                <a:latin typeface="Arial" panose="020B0604020202020204"/>
                <a:ea typeface="Arial" panose="020B0604020202020204"/>
                <a:cs typeface="Arial" panose="020B0604020202020204"/>
              </a:rPr>
              <a:t>Acesse a Vitrine Web</a:t>
            </a:r>
            <a:endParaRPr sz="1500" b="1">
              <a:solidFill>
                <a:srgbClr val="232323"/>
              </a:solidFill>
              <a:latin typeface="Arial" panose="020B0604020202020204"/>
              <a:ea typeface="Arial" panose="020B0604020202020204"/>
              <a:cs typeface="Arial" panose="020B0604020202020204"/>
            </a:endParaRPr>
          </a:p>
        </p:txBody>
      </p:sp>
      <p:sp>
        <p:nvSpPr>
          <p:cNvPr id="110" name="vitrineweb-app.vercel.app"/>
          <p:cNvSpPr>
            <a:spLocks noGrp="1"/>
          </p:cNvSpPr>
          <p:nvPr/>
        </p:nvSpPr>
        <p:spPr>
          <a:xfrm>
            <a:off x="1304925" y="5467350"/>
            <a:ext cx="7048500" cy="238125"/>
          </a:xfrm>
          <a:prstGeom prst="rect">
            <a:avLst/>
          </a:prstGeom>
          <a:noFill/>
          <a:ln w="0">
            <a:noFill/>
          </a:ln>
        </p:spPr>
        <p:txBody>
          <a:bodyPr lIns="0" tIns="0" rIns="0" bIns="0" anchor="t">
            <a:noAutofit/>
          </a:bodyPr>
          <a:lstStyle/>
          <a:p>
            <a:pPr algn="l">
              <a:defRPr sz="1500" b="0">
                <a:solidFill>
                  <a:srgbClr val="5B5B5B"/>
                </a:solidFill>
                <a:latin typeface="Arial" panose="020B0604020202020204"/>
                <a:ea typeface="Arial" panose="020B0604020202020204"/>
                <a:cs typeface="Arial" panose="020B0604020202020204"/>
              </a:defRPr>
            </a:pPr>
            <a:r>
              <a:rPr sz="1500" b="0">
                <a:solidFill>
                  <a:srgbClr val="5B5B5B"/>
                </a:solidFill>
                <a:latin typeface="Arial" panose="020B0604020202020204"/>
                <a:ea typeface="Arial" panose="020B0604020202020204"/>
                <a:cs typeface="Arial" panose="020B0604020202020204"/>
                <a:hlinkClick r:id="rId4"/>
              </a:rPr>
              <a:t>vitrineweb-app.vercel.app</a:t>
            </a:r>
            <a:endParaRPr sz="1500" b="0">
              <a:solidFill>
                <a:srgbClr val="5B5B5B"/>
              </a:solidFill>
              <a:latin typeface="Arial" panose="020B0604020202020204"/>
              <a:ea typeface="Arial" panose="020B0604020202020204"/>
              <a:cs typeface="Arial" panose="020B0604020202020204"/>
              <a:hlinkClick r:id="rId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CONSIDERAÇÕES FINAIS</a:t>
            </a:r>
            <a:endParaRPr sz="2400" b="1">
              <a:solidFill>
                <a:srgbClr val="232323"/>
              </a:solidFill>
              <a:latin typeface="Arial" panose="020B0604020202020204"/>
              <a:ea typeface="Arial" panose="020B0604020202020204"/>
              <a:cs typeface="Arial" panose="020B0604020202020204"/>
            </a:endParaRPr>
          </a:p>
        </p:txBody>
      </p:sp>
      <p:sp>
        <p:nvSpPr>
          <p:cNvPr id="102" name="O que a loja recebe"/>
          <p:cNvSpPr>
            <a:spLocks noGrp="1"/>
          </p:cNvSpPr>
          <p:nvPr/>
        </p:nvSpPr>
        <p:spPr>
          <a:xfrm>
            <a:off x="571500" y="1657350"/>
            <a:ext cx="3714750" cy="3810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O que a loja recebe</a:t>
            </a:r>
            <a:endParaRPr sz="2025" b="1">
              <a:solidFill>
                <a:srgbClr val="BD0000"/>
              </a:solidFill>
              <a:latin typeface="Arial" panose="020B0604020202020204"/>
              <a:ea typeface="Arial" panose="020B0604020202020204"/>
              <a:cs typeface="Arial" panose="020B0604020202020204"/>
            </a:endParaRPr>
          </a:p>
        </p:txBody>
      </p:sp>
      <p:sp>
        <p:nvSpPr>
          <p:cNvPr id="103" name="Um catálogo para apresentar&#10;os produtos."/>
          <p:cNvSpPr>
            <a:spLocks noGrp="1"/>
          </p:cNvSpPr>
          <p:nvPr/>
        </p:nvSpPr>
        <p:spPr>
          <a:xfrm>
            <a:off x="571500" y="2286000"/>
            <a:ext cx="3714750"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Um catálogo para apresentar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os produtos.</a:t>
            </a:r>
            <a:endParaRPr sz="2025" b="0">
              <a:solidFill>
                <a:srgbClr val="232323"/>
              </a:solidFill>
              <a:latin typeface="Arial" panose="020B0604020202020204"/>
              <a:ea typeface="Arial" panose="020B0604020202020204"/>
              <a:cs typeface="Arial" panose="020B0604020202020204"/>
            </a:endParaRPr>
          </a:p>
        </p:txBody>
      </p:sp>
      <p:sp>
        <p:nvSpPr>
          <p:cNvPr id="104" name="Um painel para manter&#10;a oferta atualizada."/>
          <p:cNvSpPr>
            <a:spLocks noGrp="1"/>
          </p:cNvSpPr>
          <p:nvPr/>
        </p:nvSpPr>
        <p:spPr>
          <a:xfrm>
            <a:off x="571500" y="3267075"/>
            <a:ext cx="3714750"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Um painel para manter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a oferta atualizada.</a:t>
            </a:r>
            <a:endParaRPr sz="2025" b="0">
              <a:solidFill>
                <a:srgbClr val="232323"/>
              </a:solidFill>
              <a:latin typeface="Arial" panose="020B0604020202020204"/>
              <a:ea typeface="Arial" panose="020B0604020202020204"/>
              <a:cs typeface="Arial" panose="020B0604020202020204"/>
            </a:endParaRPr>
          </a:p>
        </p:txBody>
      </p:sp>
      <p:sp>
        <p:nvSpPr>
          <p:cNvPr id="105" name="Próxima etapa"/>
          <p:cNvSpPr>
            <a:spLocks noGrp="1"/>
          </p:cNvSpPr>
          <p:nvPr/>
        </p:nvSpPr>
        <p:spPr>
          <a:xfrm>
            <a:off x="4905375" y="1657350"/>
            <a:ext cx="3667125" cy="3810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Próxima etapa</a:t>
            </a:r>
            <a:endParaRPr sz="2025" b="1">
              <a:solidFill>
                <a:srgbClr val="BD0000"/>
              </a:solidFill>
              <a:latin typeface="Arial" panose="020B0604020202020204"/>
              <a:ea typeface="Arial" panose="020B0604020202020204"/>
              <a:cs typeface="Arial" panose="020B0604020202020204"/>
            </a:endParaRPr>
          </a:p>
        </p:txBody>
      </p:sp>
      <p:sp>
        <p:nvSpPr>
          <p:cNvPr id="106" name="Validar o uso com lojistas&#10;e clientes."/>
          <p:cNvSpPr>
            <a:spLocks noGrp="1"/>
          </p:cNvSpPr>
          <p:nvPr/>
        </p:nvSpPr>
        <p:spPr>
          <a:xfrm>
            <a:off x="4905375" y="2286000"/>
            <a:ext cx="3667125"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Validar o uso com lojistas</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e clientes.</a:t>
            </a:r>
            <a:endParaRPr sz="2025" b="0">
              <a:solidFill>
                <a:srgbClr val="232323"/>
              </a:solidFill>
              <a:latin typeface="Arial" panose="020B0604020202020204"/>
              <a:ea typeface="Arial" panose="020B0604020202020204"/>
              <a:cs typeface="Arial" panose="020B0604020202020204"/>
            </a:endParaRPr>
          </a:p>
        </p:txBody>
      </p:sp>
      <p:sp>
        <p:nvSpPr>
          <p:cNvPr id="107" name="Aprimorar o produto a partir&#10;das dificuldades e sugestões."/>
          <p:cNvSpPr>
            <a:spLocks noGrp="1"/>
          </p:cNvSpPr>
          <p:nvPr/>
        </p:nvSpPr>
        <p:spPr>
          <a:xfrm>
            <a:off x="4905375" y="3267075"/>
            <a:ext cx="3667125" cy="876300"/>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Aprimorar o produto a partir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das dificuldades e sugestões.</a:t>
            </a:r>
            <a:endParaRPr sz="2025" b="0">
              <a:solidFill>
                <a:srgbClr val="232323"/>
              </a:solidFill>
              <a:latin typeface="Arial" panose="020B0604020202020204"/>
              <a:ea typeface="Arial" panose="020B0604020202020204"/>
              <a:cs typeface="Arial" panose="020B0604020202020204"/>
            </a:endParaRPr>
          </a:p>
        </p:txBody>
      </p:sp>
      <p:sp>
        <p:nvSpPr>
          <p:cNvPr id="108" name="O cliente escolhe no catálogo.&#10;A loja mantém o atendimento d"/>
          <p:cNvSpPr>
            <a:spLocks noGrp="1"/>
          </p:cNvSpPr>
          <p:nvPr/>
        </p:nvSpPr>
        <p:spPr>
          <a:xfrm>
            <a:off x="571500" y="4819650"/>
            <a:ext cx="8001000" cy="762000"/>
          </a:xfrm>
          <a:prstGeom prst="rect">
            <a:avLst/>
          </a:prstGeom>
          <a:noFill/>
          <a:ln w="0">
            <a:noFill/>
          </a:ln>
        </p:spPr>
        <p:txBody>
          <a:bodyPr lIns="0" tIns="0" rIns="0" bIns="0" anchor="t">
            <a:noAutofit/>
          </a:bodyPr>
          <a:lstStyle/>
          <a:p>
            <a:pPr algn="l">
              <a:defRPr sz="2175" b="1">
                <a:solidFill>
                  <a:srgbClr val="232323"/>
                </a:solidFill>
                <a:latin typeface="Arial" panose="020B0604020202020204"/>
                <a:ea typeface="Arial" panose="020B0604020202020204"/>
                <a:cs typeface="Arial" panose="020B0604020202020204"/>
              </a:defRPr>
            </a:pPr>
            <a:r>
              <a:rPr sz="2175" b="1">
                <a:solidFill>
                  <a:srgbClr val="232323"/>
                </a:solidFill>
                <a:latin typeface="Arial" panose="020B0604020202020204"/>
                <a:ea typeface="Arial" panose="020B0604020202020204"/>
                <a:cs typeface="Arial" panose="020B0604020202020204"/>
              </a:rPr>
              <a:t>O cliente escolhe no catálogo.</a:t>
            </a:r>
            <a:endParaRPr sz="2175" b="1">
              <a:solidFill>
                <a:srgbClr val="232323"/>
              </a:solidFill>
              <a:latin typeface="Arial" panose="020B0604020202020204"/>
              <a:ea typeface="Arial" panose="020B0604020202020204"/>
              <a:cs typeface="Arial" panose="020B0604020202020204"/>
            </a:endParaRPr>
          </a:p>
          <a:p>
            <a:pPr algn="l">
              <a:defRPr sz="2175" b="1">
                <a:solidFill>
                  <a:srgbClr val="232323"/>
                </a:solidFill>
                <a:latin typeface="Arial" panose="020B0604020202020204"/>
                <a:ea typeface="Arial" panose="020B0604020202020204"/>
                <a:cs typeface="Arial" panose="020B0604020202020204"/>
              </a:defRPr>
            </a:pPr>
            <a:r>
              <a:rPr sz="2175" b="1">
                <a:solidFill>
                  <a:srgbClr val="232323"/>
                </a:solidFill>
                <a:latin typeface="Arial" panose="020B0604020202020204"/>
                <a:ea typeface="Arial" panose="020B0604020202020204"/>
                <a:cs typeface="Arial" panose="020B0604020202020204"/>
              </a:rPr>
              <a:t>A loja mantém o atendimento direto.</a:t>
            </a:r>
            <a:endParaRPr sz="2175" b="1">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REFERÊNCIAS</a:t>
            </a:r>
            <a:endParaRPr sz="2400" b="1">
              <a:solidFill>
                <a:srgbClr val="232323"/>
              </a:solidFill>
              <a:latin typeface="Arial" panose="020B0604020202020204"/>
              <a:ea typeface="Arial" panose="020B0604020202020204"/>
              <a:cs typeface="Arial" panose="020B0604020202020204"/>
            </a:endParaRPr>
          </a:p>
        </p:txBody>
      </p:sp>
      <p:sp>
        <p:nvSpPr>
          <p:cNvPr id="102" name="Manual de TCC"/>
          <p:cNvSpPr>
            <a:spLocks noGrp="1"/>
          </p:cNvSpPr>
          <p:nvPr/>
        </p:nvSpPr>
        <p:spPr>
          <a:xfrm>
            <a:off x="395605" y="2348865"/>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3" name="Centro Paula Souza. Manual de TCC nas Etecs. 2ª edição, 2022"/>
          <p:cNvSpPr>
            <a:spLocks noGrp="1"/>
          </p:cNvSpPr>
          <p:nvPr/>
        </p:nvSpPr>
        <p:spPr>
          <a:xfrm>
            <a:off x="323850" y="2919095"/>
            <a:ext cx="8048625" cy="3238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4" name="Levantamento de requisitos"/>
          <p:cNvSpPr>
            <a:spLocks noGrp="1"/>
          </p:cNvSpPr>
          <p:nvPr/>
        </p:nvSpPr>
        <p:spPr>
          <a:xfrm>
            <a:off x="523875" y="2266950"/>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6" name="Repositórios da Vitrine Web"/>
          <p:cNvSpPr>
            <a:spLocks noGrp="1"/>
          </p:cNvSpPr>
          <p:nvPr/>
        </p:nvSpPr>
        <p:spPr>
          <a:xfrm>
            <a:off x="523875" y="3286125"/>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7" name="https://github.com/devmoisesz/vitrine-web"/>
          <p:cNvSpPr>
            <a:spLocks noGrp="1"/>
          </p:cNvSpPr>
          <p:nvPr/>
        </p:nvSpPr>
        <p:spPr>
          <a:xfrm>
            <a:off x="523875" y="3629025"/>
            <a:ext cx="8048625" cy="2857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8" name="https://github.com/devmoisesz/vitrine-web-api"/>
          <p:cNvSpPr>
            <a:spLocks noGrp="1"/>
          </p:cNvSpPr>
          <p:nvPr/>
        </p:nvSpPr>
        <p:spPr>
          <a:xfrm>
            <a:off x="523875" y="3943350"/>
            <a:ext cx="8048625" cy="2857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9" name="Referências de catálogo"/>
          <p:cNvSpPr>
            <a:spLocks noGrp="1"/>
          </p:cNvSpPr>
          <p:nvPr/>
        </p:nvSpPr>
        <p:spPr>
          <a:xfrm>
            <a:off x="323850" y="1341120"/>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r>
              <a:rPr sz="1725" b="1">
                <a:solidFill>
                  <a:srgbClr val="BD0000"/>
                </a:solidFill>
                <a:latin typeface="Arial" panose="020B0604020202020204"/>
                <a:ea typeface="Arial" panose="020B0604020202020204"/>
                <a:cs typeface="Arial" panose="020B0604020202020204"/>
              </a:rPr>
              <a:t>Referências de catálogo</a:t>
            </a:r>
            <a:endParaRPr sz="1725" b="1">
              <a:solidFill>
                <a:srgbClr val="BD0000"/>
              </a:solidFill>
              <a:latin typeface="Arial" panose="020B0604020202020204"/>
              <a:ea typeface="Arial" panose="020B0604020202020204"/>
              <a:cs typeface="Arial" panose="020B0604020202020204"/>
            </a:endParaRPr>
          </a:p>
        </p:txBody>
      </p:sp>
      <p:sp>
        <p:nvSpPr>
          <p:cNvPr id="110" name="Amazon Brasil (amazon.com.br) e Mercado Livre (mercadolivre."/>
          <p:cNvSpPr>
            <a:spLocks noGrp="1"/>
          </p:cNvSpPr>
          <p:nvPr/>
        </p:nvSpPr>
        <p:spPr>
          <a:xfrm>
            <a:off x="323850" y="1822450"/>
            <a:ext cx="8048625" cy="57150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lang="pt-BR" sz="1575" b="0">
                <a:solidFill>
                  <a:srgbClr val="232323"/>
                </a:solidFill>
                <a:latin typeface="Arial" panose="020B0604020202020204"/>
                <a:ea typeface="Arial" panose="020B0604020202020204"/>
                <a:cs typeface="Arial" panose="020B0604020202020204"/>
              </a:rPr>
              <a:t>Utilizamos como refêrencia grandes empresas do mercado de varejo, que trabalham </a:t>
            </a:r>
            <a:r>
              <a:rPr lang="en-US" altLang="pt-BR" sz="1575" b="0">
                <a:solidFill>
                  <a:srgbClr val="232323"/>
                </a:solidFill>
                <a:latin typeface="Arial" panose="020B0604020202020204"/>
                <a:ea typeface="Arial" panose="020B0604020202020204"/>
                <a:cs typeface="Arial" panose="020B0604020202020204"/>
              </a:rPr>
              <a:t>especificamente no segmento de com</a:t>
            </a:r>
            <a:r>
              <a:rPr lang="en-US" altLang="en-US" sz="1575" b="0">
                <a:solidFill>
                  <a:srgbClr val="232323"/>
                </a:solidFill>
                <a:latin typeface="Arial" panose="020B0604020202020204"/>
                <a:ea typeface="Arial" panose="020B0604020202020204"/>
                <a:cs typeface="Arial" panose="020B0604020202020204"/>
              </a:rPr>
              <a:t>é</a:t>
            </a:r>
            <a:r>
              <a:rPr lang="en-US" altLang="pt-BR" sz="1575" b="0">
                <a:solidFill>
                  <a:srgbClr val="232323"/>
                </a:solidFill>
                <a:latin typeface="Arial" panose="020B0604020202020204"/>
                <a:ea typeface="Arial" panose="020B0604020202020204"/>
                <a:cs typeface="Arial" panose="020B0604020202020204"/>
              </a:rPr>
              <a:t>rcio eletrônico</a:t>
            </a:r>
            <a:r>
              <a:rPr lang="pt-BR" altLang="en-US" sz="1575" b="0">
                <a:solidFill>
                  <a:srgbClr val="232323"/>
                </a:solidFill>
                <a:latin typeface="Arial" panose="020B0604020202020204"/>
                <a:ea typeface="Arial" panose="020B0604020202020204"/>
                <a:cs typeface="Arial" panose="020B0604020202020204"/>
              </a:rPr>
              <a:t> como a</a:t>
            </a:r>
            <a:r>
              <a:rPr lang="pt-BR" sz="1575" b="0">
                <a:solidFill>
                  <a:srgbClr val="232323"/>
                </a:solidFill>
                <a:latin typeface="Arial" panose="020B0604020202020204"/>
                <a:ea typeface="Arial" panose="020B0604020202020204"/>
                <a:cs typeface="Arial" panose="020B0604020202020204"/>
              </a:rPr>
              <a:t> Amazon (amazon.com.br) e o Mercado Livre (mercadolivre.com.br)</a:t>
            </a:r>
            <a:endParaRPr lang="pt-B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endParaRPr lang="pt-B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lang="en-US" altLang="pt-BR" sz="1575" b="0">
                <a:solidFill>
                  <a:srgbClr val="232323"/>
                </a:solidFill>
                <a:latin typeface="Arial" panose="020B0604020202020204"/>
                <a:ea typeface="Arial" panose="020B0604020202020204"/>
                <a:cs typeface="Arial" panose="020B0604020202020204"/>
              </a:rPr>
              <a:t>A Amazon e o Mercado Livre funcionam como gigantescos shoppings virtuais que conectam compradores a milhares de vendedores.</a:t>
            </a:r>
            <a:endParaRPr lang="en-US" altLang="pt-BR" sz="157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2761</Words>
  <Application>WPS Presentation</Application>
  <PresentationFormat>Apresentação na tela (4:3)</PresentationFormat>
  <Paragraphs>162</Paragraphs>
  <Slides>10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Arial</vt:lpstr>
      <vt:lpstr>Microsoft YaHei</vt:lpstr>
      <vt:lpstr>Arial Unicode MS</vt:lpstr>
      <vt:lpstr>Calibri</vt:lpstr>
      <vt:lpstr>Tema do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CONCLUSÃO DE CURSO</dc:title>
  <dc:creator>Usuário do Windows</dc:creator>
  <cp:lastModifiedBy>moise</cp:lastModifiedBy>
  <cp:revision>28</cp:revision>
  <dcterms:created xsi:type="dcterms:W3CDTF">2019-05-13T18:49:00Z</dcterms:created>
  <dcterms:modified xsi:type="dcterms:W3CDTF">2026-09-29T19:40:10Z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1046-12.1.0.28485</vt:lpwstr>
  </property>
  <property fmtid="{D5CDD505-2E9C-101B-9397-08002B2CF9AE}" pid="3" name="ICV">
    <vt:lpwstr>80F65CEF8DF94DF087608295FF3AA80F_12</vt:lpwstr>
  </property>
</Properties>
</file>